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JetBrains Mono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144000" cy="13335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Tinh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LLM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30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0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hơn?</a:t>
            </a:r>
            <a:endParaRPr lang="en-US" sz="3000" dirty="0"/>
          </a:p>
        </p:txBody>
      </p:sp>
      <p:sp>
        <p:nvSpPr>
          <p:cNvPr id="5" name="Connector line-1792490269342-691703594"/>
          <p:cNvSpPr/>
          <p:nvPr/>
        </p:nvSpPr>
        <p:spPr>
          <a:xfrm>
            <a:off x="914400" y="7524750"/>
            <a:ext cx="82296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62875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Huấn</a:t>
            </a:r>
            <a:r>
              <a:rPr lang="en-US" sz="2100" dirty="0" spc="-1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1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-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5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77500" y="209550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01350" y="25146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1650" b="1" spc="22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706350" y="245745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ba:</a:t>
            </a:r>
            <a:r>
              <a:rPr lang="en-US" sz="24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477500" y="352425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01350" y="39433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1650" b="1" spc="21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706350" y="388620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0" y="495300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01350" y="53721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650" b="1" spc="22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706350" y="531495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477500" y="638175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01350" y="68008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FOUNDRY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706350" y="6743700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thuật,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tầng,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09981923-669f-47fc-ba42-6f18f5c923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5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6459200" cy="24765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Tinh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huấn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luyện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 chính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1800" b="1" spc="21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XONG,</a:t>
            </a:r>
            <a:r>
              <a:rPr lang="en-US" sz="180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80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5524500"/>
            <a:ext cx="3886200" cy="2286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5762625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38250" y="6524625"/>
            <a:ext cx="32385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105400" y="5524500"/>
            <a:ext cx="3886200" cy="2286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5429250" y="5762625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429250" y="6524625"/>
            <a:ext cx="32385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chỉnh?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296400" y="5524500"/>
            <a:ext cx="3886200" cy="2286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9620250" y="5762625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9620250" y="6524625"/>
            <a:ext cx="32385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3487400" y="5524500"/>
            <a:ext cx="3886200" cy="2286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3811250" y="5762625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3811250" y="6524625"/>
            <a:ext cx="32385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gì?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102bb2d6-126b-4ec2-b40b-4ff826cd37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nâng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0480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571750" y="314325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8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2571750" y="371475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1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0" y="3238500"/>
            <a:ext cx="85725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dụ.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Hạn: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hạn,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457200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8250" y="47625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2571750" y="485775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RAG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2571750" y="542925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1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382000" y="4953000"/>
            <a:ext cx="85725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tìm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62865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0" y="657225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2571750" y="666750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2571750" y="723900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0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100" dirty="0" spc="0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-3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0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82000" y="6667500"/>
            <a:ext cx="85725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lọc,</a:t>
            </a:r>
            <a:r>
              <a:rPr lang="en-US" sz="22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Đỡ</a:t>
            </a:r>
            <a:r>
              <a:rPr lang="en-US" sz="22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token,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 03/10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aa59fd83-5e0e-4297-86d5-e9d0c185e7b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1800" b="1" spc="28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Lợi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ích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 hơn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28950"/>
            <a:ext cx="158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4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trước: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</a:t>
            </a:r>
            <a:r>
              <a:rPr lang="en-US" sz="24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4095750"/>
            <a:ext cx="80010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4429125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1800" b="1" spc="226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1800" dirty="0"/>
          </a:p>
        </p:txBody>
      </p:sp>
      <p:sp>
        <p:nvSpPr>
          <p:cNvPr id="8" name="Text richtext-1792490379662-6216044"/>
          <p:cNvSpPr/>
          <p:nvPr/>
        </p:nvSpPr>
        <p:spPr>
          <a:xfrm>
            <a:off x="1333500" y="49530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400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 có cho tinh chỉnh không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4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400" dirty="0" spc="-7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372600" y="4095750"/>
            <a:ext cx="80010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1700" y="4429125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endParaRPr lang="en-US" sz="1800" dirty="0"/>
          </a:p>
        </p:txBody>
      </p:sp>
      <p:sp>
        <p:nvSpPr>
          <p:cNvPr id="11" name="Text richtext-1792490379691-431080487"/>
          <p:cNvSpPr/>
          <p:nvPr/>
        </p:nvSpPr>
        <p:spPr>
          <a:xfrm>
            <a:off x="9791700" y="49530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Hơn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Bớt</a:t>
            </a:r>
            <a:r>
              <a:rPr lang="en-US" sz="24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lĩnh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4abf20d4-04da-43a1-9c9f-361e4ad0b3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 TINH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 tự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3657600" cy="2857500"/>
          </a:xfrm>
          <a:prstGeom prst="roundRect">
            <a:avLst>
              <a:gd name="adj" fmla="val 93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905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38250" y="4857750"/>
            <a:ext cx="3048000" cy="1428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huấn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550" dirty="0"/>
          </a:p>
        </p:txBody>
      </p:sp>
      <p:sp>
        <p:nvSpPr>
          <p:cNvPr id="7" name="Connector line-1792490396417-48295682"/>
          <p:cNvSpPr/>
          <p:nvPr/>
        </p:nvSpPr>
        <p:spPr>
          <a:xfrm>
            <a:off x="4629150" y="5048250"/>
            <a:ext cx="5143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81600" y="3619500"/>
            <a:ext cx="3657600" cy="2857500"/>
          </a:xfrm>
          <a:prstGeom prst="roundRect">
            <a:avLst>
              <a:gd name="adj" fmla="val 93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05450" y="3905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505450" y="4857750"/>
            <a:ext cx="3048000" cy="1428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 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endParaRPr lang="en-US" sz="2550" dirty="0"/>
          </a:p>
        </p:txBody>
      </p:sp>
      <p:sp>
        <p:nvSpPr>
          <p:cNvPr id="11" name="Connector line-1792490396421-719659063"/>
          <p:cNvSpPr/>
          <p:nvPr/>
        </p:nvSpPr>
        <p:spPr>
          <a:xfrm>
            <a:off x="8896350" y="5048250"/>
            <a:ext cx="5143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448800" y="3619500"/>
            <a:ext cx="3657600" cy="2857500"/>
          </a:xfrm>
          <a:prstGeom prst="roundRect">
            <a:avLst>
              <a:gd name="adj" fmla="val 93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72650" y="3905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9772650" y="4857750"/>
            <a:ext cx="3048000" cy="1428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huấn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endParaRPr lang="en-US" sz="2550" dirty="0"/>
          </a:p>
        </p:txBody>
      </p:sp>
      <p:sp>
        <p:nvSpPr>
          <p:cNvPr id="15" name="Connector line-1792490396424-90413329"/>
          <p:cNvSpPr/>
          <p:nvPr/>
        </p:nvSpPr>
        <p:spPr>
          <a:xfrm>
            <a:off x="13163550" y="5048250"/>
            <a:ext cx="5143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716000" y="3619500"/>
            <a:ext cx="3657600" cy="2857500"/>
          </a:xfrm>
          <a:prstGeom prst="roundRect">
            <a:avLst>
              <a:gd name="adj" fmla="val 9333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4039850" y="39052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4039850" y="4857750"/>
            <a:ext cx="3048000" cy="1428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4400" y="7239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môn: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r>
              <a:rPr lang="en-US" sz="2400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79cd1c5c-ed06-4ccf-8dcd-8c04d071ac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FOUNDRY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thuật: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SFT</a:t>
            </a:r>
            <a:endParaRPr lang="en-US" sz="6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57500"/>
          <a:ext cx="137160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6912864"/>
                <a:gridCol w="6912864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Kỹ</a:t>
                      </a:r>
                      <a:r>
                        <a:rPr lang="en-US" sz="22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thuật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Làm</a:t>
                      </a:r>
                      <a:r>
                        <a:rPr lang="en-US" sz="22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Khi</a:t>
                      </a:r>
                      <a:r>
                        <a:rPr lang="en-US" sz="225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nào</a:t>
                      </a:r>
                      <a:r>
                        <a:rPr lang="en-US" sz="22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45309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SFT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Học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cặp</a:t>
                      </a:r>
                      <a:r>
                        <a:rPr lang="en-US" sz="2250" dirty="0" spc="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đầu</a:t>
                      </a:r>
                      <a:r>
                        <a:rPr lang="en-US" sz="22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vào</a:t>
                      </a:r>
                      <a:r>
                        <a:rPr lang="en-US" sz="22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250" dirty="0" spc="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đầu</a:t>
                      </a:r>
                      <a:r>
                        <a:rPr lang="en-US" sz="2250" dirty="0" spc="-3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mẫu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Mặc</a:t>
                      </a:r>
                      <a:r>
                        <a:rPr lang="en-US" sz="2250" dirty="0" spc="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hầu</a:t>
                      </a:r>
                      <a:r>
                        <a:rPr lang="en-US" sz="225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hết</a:t>
                      </a:r>
                      <a:r>
                        <a:rPr lang="en-US" sz="22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việc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DPO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Học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cặp</a:t>
                      </a:r>
                      <a:r>
                        <a:rPr lang="en-US" sz="22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chọn,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2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chọn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Nâng</a:t>
                      </a:r>
                      <a:r>
                        <a:rPr lang="en-US" sz="22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chất</a:t>
                      </a: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lượng,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an</a:t>
                      </a:r>
                      <a:r>
                        <a:rPr lang="en-US" sz="225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toàn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RFT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Tối</a:t>
                      </a:r>
                      <a:r>
                        <a:rPr lang="en-US" sz="2250" dirty="0" spc="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ưu</a:t>
                      </a: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250" dirty="0" spc="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điểm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thưởng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 chấm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Toán,</a:t>
                      </a: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hóa,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lý: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đúng</a:t>
                      </a:r>
                      <a:r>
                        <a:rPr lang="en-US" sz="22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sai</a:t>
                      </a:r>
                      <a:r>
                        <a:rPr lang="en-US" sz="2250" dirty="0" spc="-2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rõ</a:t>
                      </a:r>
                      <a:r>
                        <a:rPr lang="en-US" sz="22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ràng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905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dưới,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LoRA: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huấn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980b138-6f53-47e3-b631-fc35806191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FOUNDRY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2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tầng,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86375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9087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STANDARD</a:t>
            </a:r>
            <a:endParaRPr lang="en-US" sz="1800" dirty="0"/>
          </a:p>
        </p:txBody>
      </p:sp>
      <p:sp>
        <p:nvSpPr>
          <p:cNvPr id="6" name="Text richtext-1792490434002-847016747"/>
          <p:cNvSpPr/>
          <p:nvPr/>
        </p:nvSpPr>
        <p:spPr>
          <a:xfrm>
            <a:off x="1295400" y="3714750"/>
            <a:ext cx="4572000" cy="2762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96050" y="2857500"/>
            <a:ext cx="5286375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77050" y="319087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GLOBAL</a:t>
            </a:r>
            <a:endParaRPr lang="en-US" sz="1800" dirty="0"/>
          </a:p>
        </p:txBody>
      </p:sp>
      <p:sp>
        <p:nvSpPr>
          <p:cNvPr id="9" name="Text richtext-1792490434016-988288449"/>
          <p:cNvSpPr/>
          <p:nvPr/>
        </p:nvSpPr>
        <p:spPr>
          <a:xfrm>
            <a:off x="6877050" y="3714750"/>
            <a:ext cx="4572000" cy="2762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5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Rẻ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vùng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77700" y="2857500"/>
            <a:ext cx="52959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58700" y="319087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DEVELOPER</a:t>
            </a:r>
            <a:endParaRPr lang="en-US" sz="1800" dirty="0"/>
          </a:p>
        </p:txBody>
      </p:sp>
      <p:sp>
        <p:nvSpPr>
          <p:cNvPr id="12" name="Text richtext-1792490434024-628253518"/>
          <p:cNvSpPr/>
          <p:nvPr/>
        </p:nvSpPr>
        <p:spPr>
          <a:xfrm>
            <a:off x="12458700" y="3714750"/>
            <a:ext cx="4572000" cy="2762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5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Rẻ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rảnh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258050"/>
            <a:ext cx="1581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00" b="1" spc="227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25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1800" b="1" spc="227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800" b="1" spc="228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95400" y="7715250"/>
            <a:ext cx="1581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gpt-4.1-mini · gpt-4o · Llama-3.3-70B-Instruct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</a:t>
            </a:r>
            <a:r>
              <a:rPr lang="en-US" sz="1650" dirty="0" spc="-1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dd664c5-99e3-4dac-929d-323e36030df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FOUNDRY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800" b="1" spc="25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Bắt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572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0" dirty="0" spc="-16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50–100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5715000"/>
            <a:ext cx="83820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30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6953250"/>
            <a:ext cx="8382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500+ khi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0096500" y="2857500"/>
            <a:ext cx="7277100" cy="5524500"/>
          </a:xfrm>
          <a:prstGeom prst="roundRect">
            <a:avLst>
              <a:gd name="adj" fmla="val 4828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0" y="3190875"/>
            <a:ext cx="6572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endParaRPr lang="en-US" sz="1800" dirty="0"/>
          </a:p>
        </p:txBody>
      </p:sp>
      <p:sp>
        <p:nvSpPr>
          <p:cNvPr id="9" name="Text richtext-1792490436236-859410756"/>
          <p:cNvSpPr/>
          <p:nvPr/>
        </p:nvSpPr>
        <p:spPr>
          <a:xfrm>
            <a:off x="10477500" y="3714750"/>
            <a:ext cx="6572250" cy="4476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JSONL,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UTF-8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BOM,</a:t>
            </a:r>
            <a:r>
              <a:rPr lang="en-US" sz="22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512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MB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(lời dặn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checkpoint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chừng)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8fee276-1141-433d-bafc-320c11c3bf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6459200" cy="276225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Mới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4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60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r>
              <a:rPr lang="en-US" sz="54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tốt</a:t>
            </a:r>
            <a:r>
              <a:rPr lang="en-US" sz="54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4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54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RAG.</a:t>
            </a:r>
            <a:r>
              <a:rPr lang="en-US" sz="54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4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 là</a:t>
            </a:r>
            <a:r>
              <a:rPr lang="en-US" sz="54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4953000"/>
            <a:ext cx="16459200" cy="2857500"/>
          </a:xfrm>
          <a:prstGeom prst="roundRect">
            <a:avLst>
              <a:gd name="adj" fmla="val 9333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95300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5286375"/>
            <a:ext cx="1543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28750" y="5762625"/>
            <a:ext cx="1543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36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36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RAG</a:t>
            </a:r>
            <a:r>
              <a:rPr lang="en-US" sz="36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6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6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6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36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36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28750" y="6572250"/>
            <a:ext cx="154305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 chỉnh khi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de479889-504d-417b-82ac-cce7f96833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6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1657350"/>
                <a:gridCol w="4419600"/>
                <a:gridCol w="4972050"/>
              </a:tblGrid>
              <a:tr h="78581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195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6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Tên</a:t>
                      </a:r>
                      <a:r>
                        <a:rPr lang="en-US" sz="19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 đủ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240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3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Large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19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19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2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RAG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Retrieval</a:t>
                      </a:r>
                      <a:r>
                        <a:rPr lang="en-US" sz="19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Augmented</a:t>
                      </a:r>
                      <a:r>
                        <a:rPr lang="en-US" sz="195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Generation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Tìm</a:t>
                      </a:r>
                      <a:r>
                        <a:rPr lang="en-US" sz="19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tài</a:t>
                      </a: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1950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1950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đưa</a:t>
                      </a:r>
                      <a:r>
                        <a:rPr lang="en-US" sz="19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vào</a:t>
                      </a:r>
                      <a:r>
                        <a:rPr lang="en-US" sz="19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prompt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SFT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Supervised</a:t>
                      </a:r>
                      <a:r>
                        <a:rPr lang="en-US" sz="195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Fine-Tuning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Tinh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chỉnh</a:t>
                      </a:r>
                      <a:r>
                        <a:rPr lang="en-US" sz="19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giám</a:t>
                      </a:r>
                      <a:r>
                        <a:rPr lang="en-US" sz="195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sát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DPO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Direct</a:t>
                      </a:r>
                      <a:r>
                        <a:rPr lang="en-US" sz="19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Preference</a:t>
                      </a:r>
                      <a:r>
                        <a:rPr lang="en-US" sz="195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Optimization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Học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19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cặp</a:t>
                      </a:r>
                      <a:r>
                        <a:rPr lang="en-US" sz="195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chọn,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 chọn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RFT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Reinforcement</a:t>
                      </a:r>
                      <a:r>
                        <a:rPr lang="en-US" sz="19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Fine-Tuning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Tinh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chỉnh</a:t>
                      </a:r>
                      <a:r>
                        <a:rPr lang="en-US" sz="19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bằng</a:t>
                      </a:r>
                      <a:r>
                        <a:rPr lang="en-US" sz="195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học</a:t>
                      </a:r>
                      <a:r>
                        <a:rPr lang="en-US" sz="19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tăng</a:t>
                      </a:r>
                      <a:r>
                        <a:rPr lang="en-US" sz="195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cường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LoRA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2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Low-Rank</a:t>
                      </a:r>
                      <a:r>
                        <a:rPr lang="en-US" sz="195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Adaptation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Tinh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chỉnh</a:t>
                      </a:r>
                      <a:r>
                        <a:rPr lang="en-US" sz="195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tiết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kiệm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JSONL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JSON</a:t>
                      </a: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Lines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Mỗi dòng</a:t>
                      </a:r>
                      <a:r>
                        <a:rPr lang="en-US" sz="19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19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r>
                        <a:rPr lang="en-US" sz="19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JSON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Connector line-1792490461617-225986305"/>
          <p:cNvSpPr/>
          <p:nvPr/>
        </p:nvSpPr>
        <p:spPr>
          <a:xfrm>
            <a:off x="12477750" y="2762250"/>
            <a:ext cx="0" cy="581025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2858750" y="2762250"/>
            <a:ext cx="4514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58750" y="3286125"/>
            <a:ext cx="4514850" cy="1905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của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generative-ai-for-beginners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2858750" y="4953000"/>
            <a:ext cx="4514850" cy="11430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MIT License,</a:t>
            </a:r>
            <a:r>
              <a:rPr lang="en-US" sz="18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1800" dirty="0" spc="-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800" dirty="0" spc="-7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Corporation.</a:t>
            </a:r>
            <a:r>
              <a:rPr lang="en-US" sz="18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18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c35bc19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·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81d929b8-9bb4-41f0-a98b-0815bd499c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2026-10-20T10:04:12Z</dcterms:created>
  <dcterms:modified xsi:type="dcterms:W3CDTF">2026-10-20T10:04:12Z</dcterms:modified>
</cp:coreProperties>
</file>