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Be Vietnam Pro Medium"/>
      <p:regular r:id="rId21"/>
    </p:embeddedFont>
    <p:embeddedFont>
      <p:font typeface="Be Vietnam Pro SemiBold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152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150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15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150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146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5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152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1144250" cy="2505075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Vòng</a:t>
            </a:r>
            <a:r>
              <a:rPr lang="en-US" sz="81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</a:t>
            </a:r>
            <a:r>
              <a:rPr lang="en-US" sz="81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3815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39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850" dirty="0" spc="-4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27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 luôn</a:t>
            </a:r>
            <a:r>
              <a:rPr lang="en-US" sz="2850" dirty="0" spc="2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8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850" dirty="0" spc="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15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4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85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210300"/>
            <a:ext cx="190500" cy="190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0769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Từ</a:t>
            </a:r>
            <a:r>
              <a:rPr lang="en-US" sz="2550" dirty="0" spc="-2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MLOps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LLMOps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68008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6675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Năm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2550" dirty="0" spc="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7391400"/>
            <a:ext cx="190500" cy="190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72580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Ba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vòng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quản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lý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7981950"/>
            <a:ext cx="190500" cy="190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8486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Công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cụ: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Foundry, PromptFlow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573000" y="2667000"/>
            <a:ext cx="4572000" cy="457200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9A9890"/>
            </a:solidFill>
            <a:prstDash val="lgDash"/>
          </a:ln>
        </p:spPr>
      </p:sp>
      <p:sp>
        <p:nvSpPr>
          <p:cNvPr id="14" name="Shape 12"/>
          <p:cNvSpPr/>
          <p:nvPr/>
        </p:nvSpPr>
        <p:spPr>
          <a:xfrm>
            <a:off x="13239750" y="3333750"/>
            <a:ext cx="3238500" cy="3238500"/>
          </a:xfrm>
          <a:prstGeom prst="ellipse">
            <a:avLst/>
          </a:prstGeom>
          <a:solidFill>
            <a:srgbClr val="14161C"/>
          </a:solidFill>
          <a:ln w="57150">
            <a:solidFill>
              <a:srgbClr val="7C93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11350" y="30861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6" name="Text 14"/>
          <p:cNvSpPr/>
          <p:nvPr/>
        </p:nvSpPr>
        <p:spPr>
          <a:xfrm>
            <a:off x="13620750" y="3762375"/>
            <a:ext cx="2476500" cy="4191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Khám</a:t>
            </a: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6011525" y="5514975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14811375" y="5219700"/>
            <a:ext cx="1381125" cy="4191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r" indent="0" marL="0">
              <a:lnSpc>
                <a:spcPts val="2535"/>
              </a:lnSpc>
              <a:buNone/>
            </a:pPr>
            <a:r>
              <a:rPr lang="en-US" sz="195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Xây</a:t>
            </a:r>
            <a:r>
              <a:rPr lang="en-US" sz="19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211175" y="5514975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525500" y="5219700"/>
            <a:ext cx="1381125" cy="4191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573000" y="7620000"/>
            <a:ext cx="45720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17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vòng</a:t>
            </a:r>
            <a:r>
              <a:rPr lang="en-US" sz="2100" dirty="0" spc="-8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ngoài:</a:t>
            </a:r>
            <a:r>
              <a:rPr lang="en-US" sz="2100" dirty="0" spc="-1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quản lý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7d5c109e-a1ae-404c-9d82-f10c8eb34a5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72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2479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dõi,</a:t>
            </a:r>
            <a:r>
              <a:rPr lang="en-US" sz="27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r>
              <a:rPr lang="en-US" sz="270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219200"/>
          </a:xfrm>
          <a:prstGeom prst="roundRect">
            <a:avLst>
              <a:gd name="adj" fmla="val 1875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48000"/>
            <a:ext cx="1143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667000" y="3048000"/>
            <a:ext cx="14287500" cy="12192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Sự</a:t>
            </a:r>
            <a:r>
              <a:rPr lang="en-US" sz="30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MLOps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LLMOps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219200"/>
          </a:xfrm>
          <a:prstGeom prst="roundRect">
            <a:avLst>
              <a:gd name="adj" fmla="val 1875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476750"/>
            <a:ext cx="1143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667000" y="4476750"/>
            <a:ext cx="14287500" cy="12192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4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Vòng</a:t>
            </a:r>
            <a:r>
              <a:rPr lang="en-US" sz="300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đời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LLM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1219200"/>
          </a:xfrm>
          <a:prstGeom prst="roundRect">
            <a:avLst>
              <a:gd name="adj" fmla="val 1875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905500"/>
            <a:ext cx="1143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2667000" y="5905500"/>
            <a:ext cx="14287500" cy="12192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 hỗ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trợ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300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đời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7334250"/>
            <a:ext cx="16459200" cy="1219200"/>
          </a:xfrm>
          <a:prstGeom prst="roundRect">
            <a:avLst>
              <a:gd name="adj" fmla="val 18750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334250"/>
            <a:ext cx="1143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2667000" y="7334250"/>
            <a:ext cx="14287500" cy="12192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</a:t>
            </a:r>
            <a:r>
              <a:rPr lang="en-US" sz="30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đánh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30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Text 25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14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02/11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4f485eb-093e-4f64-b05d-e176d22538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5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2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MLOps</a:t>
            </a:r>
            <a:r>
              <a:rPr lang="en-US" sz="72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72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LLMOps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7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6667500" cy="5334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47800" y="352425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TRƯỚC:</a:t>
            </a:r>
            <a:r>
              <a:rPr lang="en-US" sz="2100" b="1" spc="17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ML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47800" y="4191000"/>
            <a:ext cx="5715000" cy="952500"/>
          </a:xfrm>
          <a:prstGeom prst="rect">
            <a:avLst/>
          </a:prstGeom>
          <a:noFill/>
          <a:ln/>
        </p:spPr>
        <p:txBody>
          <a:bodyPr wrap="square" lIns="0" tIns="3429" rIns="0" bIns="-3429" rtlCol="0" anchor="t"/>
          <a:lstStyle/>
          <a:p>
            <a:pPr algn="l" indent="0" marL="0">
              <a:lnSpc>
                <a:spcPts val="7020"/>
              </a:lnSpc>
              <a:buNone/>
            </a:pPr>
            <a:r>
              <a:rPr lang="en-US" sz="54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MLOps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447800" y="533400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vòng</a:t>
            </a:r>
            <a:r>
              <a:rPr lang="en-US" sz="2700" dirty="0" spc="1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đời</a:t>
            </a:r>
            <a:r>
              <a:rPr lang="en-US" sz="2700" dirty="0" spc="-3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MLOps</a:t>
            </a:r>
            <a:r>
              <a:rPr lang="en-US" sz="27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quen thuộc</a:t>
            </a:r>
            <a:endParaRPr lang="en-US" sz="2700" dirty="0"/>
          </a:p>
        </p:txBody>
      </p:sp>
      <p:sp>
        <p:nvSpPr>
          <p:cNvPr id="8" name="Connector line-1792491466169-188567686"/>
          <p:cNvSpPr/>
          <p:nvPr/>
        </p:nvSpPr>
        <p:spPr>
          <a:xfrm>
            <a:off x="7696200" y="5715000"/>
            <a:ext cx="5715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382000" y="3048000"/>
            <a:ext cx="8991600" cy="5334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15400" y="35242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NAY:</a:t>
            </a:r>
            <a:r>
              <a:rPr lang="en-US" sz="2100" b="1" spc="17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AI</a:t>
            </a:r>
            <a:r>
              <a:rPr lang="en-US" sz="2100" b="1" spc="8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100" b="1" spc="14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15400" y="4191000"/>
            <a:ext cx="5715000" cy="952500"/>
          </a:xfrm>
          <a:prstGeom prst="rect">
            <a:avLst/>
          </a:prstGeom>
          <a:noFill/>
          <a:ln/>
        </p:spPr>
        <p:txBody>
          <a:bodyPr wrap="square" lIns="0" tIns="3429" rIns="0" bIns="-3429" rtlCol="0" anchor="t"/>
          <a:lstStyle/>
          <a:p>
            <a:pPr algn="l" indent="0" marL="0">
              <a:lnSpc>
                <a:spcPts val="7020"/>
              </a:lnSpc>
              <a:buNone/>
            </a:pPr>
            <a:r>
              <a:rPr lang="en-US" sz="54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LLMOps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8915400" y="5600700"/>
            <a:ext cx="190500" cy="1905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9296400" y="5448300"/>
            <a:ext cx="7810500" cy="514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Viết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prompt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915400" y="6248400"/>
            <a:ext cx="190500" cy="1905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9296400" y="6096000"/>
            <a:ext cx="7810500" cy="514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Tinh chỉnh,</a:t>
            </a:r>
            <a:r>
              <a:rPr lang="en-US" sz="27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RAG,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metaprompt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8915400" y="6896100"/>
            <a:ext cx="190500" cy="1905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9296400" y="6743700"/>
            <a:ext cx="7810500" cy="514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Đánh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trách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nhiệm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8915400" y="7543800"/>
            <a:ext cx="190500" cy="1905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9296400" y="7391400"/>
            <a:ext cx="7810500" cy="514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Shape 26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Shape 27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Shape 28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Text 29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14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c781b1fa-8db9-4529-885c-47e1fd58d3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TRỌNG</a:t>
            </a:r>
            <a:r>
              <a:rPr lang="en-US" sz="1950" b="1" spc="1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1950" b="1" spc="13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LLMOPS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5621000" cy="400050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Trọng</a:t>
            </a:r>
            <a:r>
              <a:rPr lang="en-US" sz="75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</a:t>
            </a:r>
            <a:pPr algn="l" indent="0" marL="0">
              <a:lnSpc>
                <a:spcPts val="8250"/>
              </a:lnSpc>
              <a:buNone/>
            </a:pPr>
            <a:r>
              <a:rPr lang="en-US" sz="75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nhà</a:t>
            </a:r>
            <a:r>
              <a:rPr lang="en-US" sz="75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75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triển</a:t>
            </a:r>
            <a:r>
              <a:rPr lang="en-US" sz="7500" dirty="0" spc="1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75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pPr algn="l" indent="0" marL="0">
              <a:lnSpc>
                <a:spcPts val="8250"/>
              </a:lnSpc>
              <a:buNone/>
            </a:pP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</a:t>
            </a:r>
            <a:r>
              <a:rPr lang="en-US" sz="75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hợp,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5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75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75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vụ.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66675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700" dirty="0" spc="-3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7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vụ:</a:t>
            </a:r>
            <a:r>
              <a:rPr lang="en-US" sz="270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Models-as-a-Service.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6" name="Shape 4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7" name="Shape 5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8" name="Shape 6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0" name="Shape 8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1" name="Shape 9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2" name="Shape 10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3" name="Shape 11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4" name="Shape 12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6" name="Text 14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14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04/11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9f42918-9202-4a7e-bdeb-33550be5cd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2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2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200" dirty="0" spc="1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295400" y="22860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800" b="1" spc="15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0" y="22860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18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8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762250"/>
            <a:ext cx="16459200" cy="1028700"/>
          </a:xfrm>
          <a:prstGeom prst="roundRect">
            <a:avLst>
              <a:gd name="adj" fmla="val 185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2762250"/>
            <a:ext cx="4572000" cy="1028700"/>
          </a:xfrm>
          <a:prstGeom prst="rect">
            <a:avLst/>
          </a:prstGeom>
          <a:noFill/>
          <a:ln/>
        </p:spPr>
        <p:txBody>
          <a:bodyPr wrap="square" lIns="0" tIns="2000" rIns="0" bIns="-2000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Chất</a:t>
            </a:r>
            <a:r>
              <a:rPr lang="en-US" sz="3150" dirty="0" spc="-3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6096000" y="2762250"/>
            <a:ext cx="10858500" cy="10287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câu</a:t>
            </a:r>
            <a:r>
              <a:rPr lang="en-US" sz="27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</a:t>
            </a: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lời</a:t>
            </a:r>
            <a:r>
              <a:rPr lang="en-US" sz="27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tốt</a:t>
            </a:r>
            <a:r>
              <a:rPr lang="en-US" sz="27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7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đâu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3962400"/>
            <a:ext cx="16459200" cy="1028700"/>
          </a:xfrm>
          <a:prstGeom prst="roundRect">
            <a:avLst>
              <a:gd name="adj" fmla="val 185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3962400"/>
            <a:ext cx="4572000" cy="1028700"/>
          </a:xfrm>
          <a:prstGeom prst="rect">
            <a:avLst/>
          </a:prstGeom>
          <a:noFill/>
          <a:ln/>
        </p:spPr>
        <p:txBody>
          <a:bodyPr wrap="square" lIns="0" tIns="2000" rIns="0" bIns="-2000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7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</a:t>
            </a:r>
            <a:r>
              <a:rPr lang="en-US" sz="315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hại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6096000" y="3962400"/>
            <a:ext cx="10858500" cy="10287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trách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nhiệm,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70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gây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hại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162550"/>
            <a:ext cx="16459200" cy="1028700"/>
          </a:xfrm>
          <a:prstGeom prst="roundRect">
            <a:avLst>
              <a:gd name="adj" fmla="val 185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5162550"/>
            <a:ext cx="4572000" cy="1028700"/>
          </a:xfrm>
          <a:prstGeom prst="rect">
            <a:avLst/>
          </a:prstGeom>
          <a:noFill/>
          <a:ln/>
        </p:spPr>
        <p:txBody>
          <a:bodyPr wrap="square" lIns="0" tIns="2000" rIns="0" bIns="-2000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Trung</a:t>
            </a:r>
            <a:r>
              <a:rPr lang="en-US" sz="3150" dirty="0" spc="-2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6096000" y="5162550"/>
            <a:ext cx="10858500" cy="10287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câu</a:t>
            </a:r>
            <a:r>
              <a:rPr lang="en-US" sz="27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</a:t>
            </a: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lời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căn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cứ: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hợp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lý,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đúng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6362700"/>
            <a:ext cx="16459200" cy="1028700"/>
          </a:xfrm>
          <a:prstGeom prst="roundRect">
            <a:avLst>
              <a:gd name="adj" fmla="val 185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5400" y="6362700"/>
            <a:ext cx="4572000" cy="1028700"/>
          </a:xfrm>
          <a:prstGeom prst="rect">
            <a:avLst/>
          </a:prstGeom>
          <a:noFill/>
          <a:ln/>
        </p:spPr>
        <p:txBody>
          <a:bodyPr wrap="square" lIns="0" tIns="2000" rIns="0" bIns="-2000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 phí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6096000" y="6362700"/>
            <a:ext cx="10858500" cy="10287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ngân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sách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giải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pháp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14400" y="7562850"/>
            <a:ext cx="16459200" cy="1028700"/>
          </a:xfrm>
          <a:prstGeom prst="roundRect">
            <a:avLst>
              <a:gd name="adj" fmla="val 185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5400" y="7562850"/>
            <a:ext cx="4572000" cy="1028700"/>
          </a:xfrm>
          <a:prstGeom prst="rect">
            <a:avLst/>
          </a:prstGeom>
          <a:noFill/>
          <a:ln/>
        </p:spPr>
        <p:txBody>
          <a:bodyPr wrap="square" lIns="0" tIns="2000" rIns="0" bIns="-2000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</a:t>
            </a:r>
            <a:r>
              <a:rPr lang="en-US" sz="3150" dirty="0" spc="-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trễ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6096000" y="7562850"/>
            <a:ext cx="10858500" cy="10287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thời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gian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trung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bình</a:t>
            </a:r>
            <a:r>
              <a:rPr lang="en-US" sz="270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7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</a:t>
            </a:r>
            <a:r>
              <a:rPr lang="en-US" sz="270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câu</a:t>
            </a:r>
            <a:r>
              <a:rPr lang="en-US" sz="27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</a:t>
            </a: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lời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Shape 26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Shape 27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Shape 28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Text 29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14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6ba63bc0-605f-474b-bccb-3f4e3bb944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1950" b="1" spc="15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195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-9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72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1054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9090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3865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Khám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95400" y="5334000"/>
            <a:ext cx="4438650" cy="476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thử</a:t>
            </a:r>
            <a:r>
              <a:rPr lang="en-US" sz="2400" dirty="0" spc="-1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prompt,</a:t>
            </a:r>
            <a:r>
              <a:rPr lang="en-US" sz="24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4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4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mẫu</a:t>
            </a:r>
            <a:endParaRPr lang="en-US" sz="2400" dirty="0"/>
          </a:p>
        </p:txBody>
      </p:sp>
      <p:sp>
        <p:nvSpPr>
          <p:cNvPr id="8" name="Connector line-1792491541665-620383028"/>
          <p:cNvSpPr/>
          <p:nvPr/>
        </p:nvSpPr>
        <p:spPr>
          <a:xfrm>
            <a:off x="6076950" y="4572000"/>
            <a:ext cx="4572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91300" y="3143250"/>
            <a:ext cx="51054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72300" y="339090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972300" y="4286250"/>
            <a:ext cx="443865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Xây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33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</a:t>
            </a:r>
            <a:r>
              <a:rPr lang="en-US" sz="33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cường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972300" y="5334000"/>
            <a:ext cx="4438650" cy="476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dữ</a:t>
            </a:r>
            <a:r>
              <a:rPr lang="en-US" sz="24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4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lớn,</a:t>
            </a:r>
            <a:r>
              <a:rPr lang="en-US" sz="24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tinh</a:t>
            </a:r>
            <a:r>
              <a:rPr lang="en-US" sz="24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chỉnh,</a:t>
            </a:r>
            <a:r>
              <a:rPr lang="en-US" sz="2400" dirty="0" spc="-2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RAG</a:t>
            </a:r>
            <a:endParaRPr lang="en-US" sz="2400" dirty="0"/>
          </a:p>
        </p:txBody>
      </p:sp>
      <p:sp>
        <p:nvSpPr>
          <p:cNvPr id="13" name="Connector line-1792491541673-875044122"/>
          <p:cNvSpPr/>
          <p:nvPr/>
        </p:nvSpPr>
        <p:spPr>
          <a:xfrm>
            <a:off x="11753850" y="4572000"/>
            <a:ext cx="4572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268200" y="3143250"/>
            <a:ext cx="51054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49200" y="339090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2649200" y="4286250"/>
            <a:ext cx="443865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Vận</a:t>
            </a: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2649200" y="5334000"/>
            <a:ext cx="4438650" cy="476250"/>
          </a:xfrm>
          <a:prstGeom prst="rect">
            <a:avLst/>
          </a:prstGeom>
          <a:noFill/>
          <a:ln/>
        </p:spPr>
        <p:txBody>
          <a:bodyPr wrap="square" lIns="0" tIns="12829" rIns="0" bIns="-12829" rtlCol="0" anchor="t"/>
          <a:lstStyle/>
          <a:p>
            <a:pPr algn="l" indent="0" marL="0">
              <a:lnSpc>
                <a:spcPts val="3096"/>
              </a:lnSpc>
              <a:buNone/>
            </a:pPr>
            <a:r>
              <a:rPr lang="en-US" sz="2381" dirty="0" spc="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giám</a:t>
            </a:r>
            <a:r>
              <a:rPr lang="en-US" sz="2381" dirty="0" spc="-1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sát,</a:t>
            </a:r>
            <a:r>
              <a:rPr lang="en-US" sz="2381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cảnh</a:t>
            </a:r>
            <a:r>
              <a:rPr lang="en-US" sz="2381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báo,</a:t>
            </a:r>
            <a:r>
              <a:rPr lang="en-US" sz="2381" dirty="0" spc="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triển</a:t>
            </a:r>
            <a:r>
              <a:rPr lang="en-US" sz="2381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khai</a:t>
            </a:r>
            <a:endParaRPr lang="en-US" sz="2381" dirty="0"/>
          </a:p>
        </p:txBody>
      </p:sp>
      <p:sp>
        <p:nvSpPr>
          <p:cNvPr id="18" name="Shape 16"/>
          <p:cNvSpPr/>
          <p:nvPr/>
        </p:nvSpPr>
        <p:spPr>
          <a:xfrm>
            <a:off x="914400" y="64770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19050">
            <a:solidFill>
              <a:srgbClr val="9A98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33500" y="6477000"/>
            <a:ext cx="156210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Bao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trùm: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lý,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gồm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mật,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tuân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thủ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quản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trị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14400" y="8001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3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</a:t>
            </a:r>
            <a:r>
              <a:rPr lang="en-US" sz="2550" dirty="0" spc="6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đường</a:t>
            </a:r>
            <a:r>
              <a:rPr lang="en-US" sz="255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thẳng: nhiều</a:t>
            </a:r>
            <a:r>
              <a:rPr lang="en-US" sz="2550" dirty="0" spc="-1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vòng</a:t>
            </a:r>
            <a:r>
              <a:rPr lang="en-US" sz="255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lặp,</a:t>
            </a:r>
            <a:r>
              <a:rPr lang="en-US" sz="255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550" dirty="0" spc="3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</a:t>
            </a:r>
            <a:r>
              <a:rPr lang="en-US" sz="255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55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lại.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4" name="Shape 22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6" name="Shape 24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8" name="Shape 26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9" name="Shape 27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0" name="Shape 28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1" name="Shape 29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2" name="Text 30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14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06/11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38c0cfcd-a477-4d3d-ba68-5a03ff2e38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200" dirty="0" spc="-9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7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Đạt</a:t>
            </a:r>
            <a:r>
              <a:rPr lang="en-US" sz="27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7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133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57500" y="33528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Khám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2857500" y="3981450"/>
            <a:ext cx="140970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thử</a:t>
            </a:r>
            <a:r>
              <a:rPr lang="en-US" sz="255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prompt</a:t>
            </a:r>
            <a:r>
              <a:rPr lang="en-US" sz="2550" dirty="0" spc="-1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LLM;</a:t>
            </a: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mẫu</a:t>
            </a: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55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PromptFlow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95300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133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857500" y="516255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b="1" dirty="0" spc="-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Xây</a:t>
            </a:r>
            <a:r>
              <a:rPr lang="en-US" sz="3150" b="1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31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31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cường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2857500" y="5791200"/>
            <a:ext cx="140970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đánh</a:t>
            </a: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</a:t>
            </a:r>
            <a:r>
              <a:rPr lang="en-US" sz="2550" dirty="0" spc="-1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 liệu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lớn;</a:t>
            </a:r>
            <a:r>
              <a:rPr lang="en-US" sz="2550" dirty="0" spc="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đạt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 lại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76275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762750"/>
            <a:ext cx="133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2857500" y="69723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b="1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2857500" y="7600950"/>
            <a:ext cx="140970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thêm</a:t>
            </a:r>
            <a:r>
              <a:rPr lang="en-US" sz="25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giám</a:t>
            </a:r>
            <a:r>
              <a:rPr lang="en-US" sz="2550" dirty="0" spc="-1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sát,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cảnh báo;</a:t>
            </a:r>
            <a:r>
              <a:rPr lang="en-US" sz="2550" dirty="0" spc="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triển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khai, tích hợp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8" name="Shape 16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Text 25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14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852f19c-b632-428b-9f02-f09341f9cb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1950" b="1" spc="14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578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619500"/>
            <a:ext cx="4495800" cy="1333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7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Microsoft Foundry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1295400" y="51435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cổng</a:t>
            </a:r>
            <a:r>
              <a:rPr lang="en-US" sz="2550" dirty="0" spc="-1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web:</a:t>
            </a:r>
            <a:r>
              <a:rPr lang="en-US" sz="2550" dirty="0" spc="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hình,</a:t>
            </a:r>
            <a:r>
              <a:rPr lang="en-US" sz="255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mẫu,</a:t>
            </a:r>
            <a:r>
              <a:rPr lang="en-US" sz="255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55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cụ;</a:t>
            </a:r>
            <a:r>
              <a:rPr lang="en-US" sz="2550" dirty="0" spc="-3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kéo</a:t>
            </a:r>
            <a:r>
              <a:rPr lang="en-US" sz="2550" dirty="0" spc="-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thả hoặc code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619500"/>
            <a:ext cx="4495800" cy="1333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75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Azure</a:t>
            </a:r>
            <a:r>
              <a:rPr lang="en-US" sz="37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endParaRPr lang="en-US" sz="3750" dirty="0"/>
          </a:p>
        </p:txBody>
      </p:sp>
      <p:sp>
        <p:nvSpPr>
          <p:cNvPr id="11" name="Text 9"/>
          <p:cNvSpPr/>
          <p:nvPr/>
        </p:nvSpPr>
        <p:spPr>
          <a:xfrm>
            <a:off x="6896100" y="51435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dịch vụ,</a:t>
            </a:r>
            <a:r>
              <a:rPr lang="en-US" sz="255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dự</a:t>
            </a:r>
            <a:r>
              <a:rPr lang="en-US" sz="255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án,</a:t>
            </a:r>
            <a:r>
              <a:rPr lang="en-US" sz="2550" dirty="0" spc="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tìm</a:t>
            </a:r>
            <a:r>
              <a:rPr lang="en-US" sz="255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kiếm</a:t>
            </a:r>
            <a:r>
              <a:rPr lang="en-US" sz="2550" dirty="0" spc="-1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vector,</a:t>
            </a:r>
            <a:r>
              <a:rPr lang="en-US" sz="255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</a:t>
            </a:r>
            <a:r>
              <a:rPr lang="en-US" sz="2550" dirty="0" spc="-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sở</a:t>
            </a:r>
            <a:r>
              <a:rPr lang="en-US" sz="255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55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115800" y="3048000"/>
            <a:ext cx="52578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12496800" y="3619500"/>
            <a:ext cx="4495800" cy="1333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75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PromptFlow</a:t>
            </a:r>
            <a:endParaRPr lang="en-US" sz="3750" dirty="0"/>
          </a:p>
        </p:txBody>
      </p:sp>
      <p:sp>
        <p:nvSpPr>
          <p:cNvPr id="15" name="Text 13"/>
          <p:cNvSpPr/>
          <p:nvPr/>
        </p:nvSpPr>
        <p:spPr>
          <a:xfrm>
            <a:off x="12496800" y="51435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từ</a:t>
            </a:r>
            <a:r>
              <a:rPr lang="en-US" sz="2550" dirty="0" spc="-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55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</a:t>
            </a:r>
            <a:r>
              <a:rPr lang="en-US" sz="255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POC</a:t>
            </a:r>
            <a:r>
              <a:rPr lang="en-US" sz="2550" dirty="0" spc="-8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550" dirty="0" spc="2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55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r>
              <a:rPr lang="en-US" sz="255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</a:t>
            </a:r>
            <a:r>
              <a:rPr lang="en-US" sz="255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6" name="Shape 24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7" name="Text 25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14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ddc4f9ac-27a9-477a-8bf3-fa04ec6708d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PromptFlow:</a:t>
            </a:r>
            <a:r>
              <a:rPr lang="en-US" sz="69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POC</a:t>
            </a:r>
            <a:r>
              <a:rPr lang="en-US" sz="6900" dirty="0" spc="-6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 mô</a:t>
            </a:r>
            <a:r>
              <a:rPr lang="en-US" sz="6900" dirty="0" spc="-4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3143250" y="4476750"/>
            <a:ext cx="12001500" cy="95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2762250" y="4143375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2762250" y="414337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38250" y="2857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2476" rIns="0" bIns="-2476" rtlCol="0" anchor="t"/>
          <a:lstStyle/>
          <a:p>
            <a:pPr algn="ctr" indent="0" marL="0">
              <a:lnSpc>
                <a:spcPts val="5070"/>
              </a:lnSpc>
              <a:buNone/>
            </a:pP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3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52500" y="5429250"/>
            <a:ext cx="43815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5429250"/>
            <a:ext cx="381000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ctr" indent="0" marL="0">
              <a:lnSpc>
                <a:spcPts val="3510"/>
              </a:lnSpc>
              <a:buNone/>
            </a:pP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Thiết</a:t>
            </a:r>
            <a:r>
              <a:rPr lang="en-US" sz="270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kế,</a:t>
            </a:r>
            <a:r>
              <a:rPr lang="en-US" sz="2700" dirty="0" spc="-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xây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VS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Code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763000" y="4143375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8763000" y="414337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239000" y="2857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2476" rIns="0" bIns="-2476" rtlCol="0" anchor="t"/>
          <a:lstStyle/>
          <a:p>
            <a:pPr algn="ctr" indent="0" marL="0">
              <a:lnSpc>
                <a:spcPts val="5070"/>
              </a:lnSpc>
              <a:buNone/>
            </a:pPr>
            <a:r>
              <a:rPr lang="en-US" sz="39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6953250" y="5429250"/>
            <a:ext cx="43815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39000" y="5429250"/>
            <a:ext cx="381000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ctr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Thử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tinh chỉnh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4763750" y="4143375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4763750" y="414337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239750" y="2857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2476" rIns="0" bIns="-2476" rtlCol="0" anchor="t"/>
          <a:lstStyle/>
          <a:p>
            <a:pPr algn="ctr" indent="0" marL="0">
              <a:lnSpc>
                <a:spcPts val="5070"/>
              </a:lnSpc>
              <a:buNone/>
            </a:pPr>
            <a:r>
              <a:rPr lang="en-US" sz="3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Triển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endParaRPr lang="en-US" sz="3900" dirty="0"/>
          </a:p>
        </p:txBody>
      </p:sp>
      <p:sp>
        <p:nvSpPr>
          <p:cNvPr id="17" name="Shape 15"/>
          <p:cNvSpPr/>
          <p:nvPr/>
        </p:nvSpPr>
        <p:spPr>
          <a:xfrm>
            <a:off x="12954000" y="5429250"/>
            <a:ext cx="43815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39750" y="5429250"/>
            <a:ext cx="381000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ctr" indent="0" marL="0">
              <a:lnSpc>
                <a:spcPts val="3510"/>
              </a:lnSpc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Tích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đám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mây,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triển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001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Bước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 dùng</a:t>
            </a:r>
            <a:r>
              <a:rPr lang="en-US" sz="2550" dirty="0" spc="-1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</a:t>
            </a:r>
            <a:r>
              <a:rPr lang="en-US" sz="2550" dirty="0" spc="-1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Foundry</a:t>
            </a:r>
            <a:r>
              <a:rPr lang="en-US" sz="2550" dirty="0" spc="1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5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đẩy</a:t>
            </a: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</a:t>
            </a:r>
            <a:r>
              <a:rPr lang="en-US" sz="2550" dirty="0" spc="-2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triển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khai.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Shape 26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Shape 28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Text 29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14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68c8368e-ad89-4d4f-9763-186ec4e93e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Bạn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</a:t>
            </a:r>
            <a:r>
              <a:rPr lang="en-US" sz="27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prompt</a:t>
            </a: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vài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LLM,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mẫu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7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PromptFlow.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85750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43150" y="285750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Khám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285750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0801350" y="285750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Xây</a:t>
            </a:r>
            <a:r>
              <a:rPr lang="en-US" sz="270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dựng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cường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04825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04825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2343150" y="504825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Vận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72600" y="504825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3600" y="504825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1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0801350" y="504825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Quản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524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7524750"/>
            <a:ext cx="156210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A.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5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prompt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mẫu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khám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Text 27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14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10/11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cc9c3d49-c28d-45d4-a8ce-f092a16469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095500"/>
            <a:ext cx="8001000" cy="1104900"/>
          </a:xfrm>
          <a:prstGeom prst="roundRect">
            <a:avLst>
              <a:gd name="adj" fmla="val 15517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2095500"/>
            <a:ext cx="1905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143250" y="2095500"/>
            <a:ext cx="5524500" cy="11049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Artificial</a:t>
            </a:r>
            <a:r>
              <a:rPr lang="en-US" sz="24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Intelligence:</a:t>
            </a:r>
            <a:r>
              <a:rPr lang="en-US" sz="240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trí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tuệ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4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372600" y="2095500"/>
            <a:ext cx="8001000" cy="1104900"/>
          </a:xfrm>
          <a:prstGeom prst="roundRect">
            <a:avLst>
              <a:gd name="adj" fmla="val 15517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9658350" y="2095500"/>
            <a:ext cx="1905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601450" y="2095500"/>
            <a:ext cx="5524500" cy="11049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Machine</a:t>
            </a:r>
            <a:r>
              <a:rPr lang="en-US" sz="240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Learning:</a:t>
            </a:r>
            <a:r>
              <a:rPr lang="en-US" sz="24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4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3352800"/>
            <a:ext cx="8001000" cy="1104900"/>
          </a:xfrm>
          <a:prstGeom prst="roundRect">
            <a:avLst>
              <a:gd name="adj" fmla="val 15517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00150" y="3352800"/>
            <a:ext cx="1905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143250" y="3352800"/>
            <a:ext cx="5524500" cy="11049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4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Large</a:t>
            </a:r>
            <a:r>
              <a:rPr lang="en-US" sz="24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Language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Model: mô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4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ngôn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ngữ</a:t>
            </a: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372600" y="3352800"/>
            <a:ext cx="8001000" cy="1104900"/>
          </a:xfrm>
          <a:prstGeom prst="roundRect">
            <a:avLst>
              <a:gd name="adj" fmla="val 15517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658350" y="3352800"/>
            <a:ext cx="1905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RAG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1601450" y="3352800"/>
            <a:ext cx="5524500" cy="11049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Retrieval</a:t>
            </a:r>
            <a:r>
              <a:rPr lang="en-US" sz="240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Augmented</a:t>
            </a:r>
            <a:r>
              <a:rPr lang="en-US" sz="24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Generation: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sinh</a:t>
            </a:r>
            <a:r>
              <a:rPr lang="en-US" sz="24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40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</a:t>
            </a:r>
            <a:r>
              <a:rPr lang="en-US" sz="2400" dirty="0" spc="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cứu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4610100"/>
            <a:ext cx="8001000" cy="1104900"/>
          </a:xfrm>
          <a:prstGeom prst="roundRect">
            <a:avLst>
              <a:gd name="adj" fmla="val 15517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00150" y="4610100"/>
            <a:ext cx="1905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MLOps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143250" y="4610100"/>
            <a:ext cx="5524500" cy="11049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Machine</a:t>
            </a:r>
            <a:r>
              <a:rPr lang="en-US" sz="24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Learning Operations:</a:t>
            </a:r>
            <a:r>
              <a:rPr lang="en-US" sz="240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vận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400" dirty="0" spc="2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ML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372600" y="4610100"/>
            <a:ext cx="8001000" cy="1104900"/>
          </a:xfrm>
          <a:prstGeom prst="roundRect">
            <a:avLst>
              <a:gd name="adj" fmla="val 15517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9658350" y="4610100"/>
            <a:ext cx="1905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LLMOps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1601450" y="4610100"/>
            <a:ext cx="5524500" cy="11049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4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Large</a:t>
            </a:r>
            <a:r>
              <a:rPr lang="en-US" sz="24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Language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Model</a:t>
            </a:r>
            <a:r>
              <a:rPr lang="en-US" sz="24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Operations:</a:t>
            </a:r>
            <a:r>
              <a:rPr lang="en-US" sz="24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vận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400" dirty="0" spc="2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LLM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14400" y="5867400"/>
            <a:ext cx="8001000" cy="1104900"/>
          </a:xfrm>
          <a:prstGeom prst="roundRect">
            <a:avLst>
              <a:gd name="adj" fmla="val 15517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200150" y="5867400"/>
            <a:ext cx="1905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POC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143250" y="5867400"/>
            <a:ext cx="5524500" cy="11049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Proof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of</a:t>
            </a:r>
            <a:r>
              <a:rPr lang="en-US" sz="24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Concept: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</a:t>
            </a:r>
            <a:r>
              <a:rPr lang="en-US" sz="240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minh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r>
              <a:rPr lang="en-US" sz="240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tưởng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372600" y="5867400"/>
            <a:ext cx="8001000" cy="1104900"/>
          </a:xfrm>
          <a:prstGeom prst="roundRect">
            <a:avLst>
              <a:gd name="adj" fmla="val 15517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9658350" y="5867400"/>
            <a:ext cx="1905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SDK,</a:t>
            </a:r>
            <a:r>
              <a:rPr lang="en-US" sz="2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1601450" y="5867400"/>
            <a:ext cx="5524500" cy="11049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Software</a:t>
            </a:r>
            <a:r>
              <a:rPr lang="en-US" sz="240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Development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Kit,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Command-Line</a:t>
            </a:r>
            <a:r>
              <a:rPr lang="en-US" sz="240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Interface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4400" y="7524750"/>
            <a:ext cx="16459200" cy="4381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8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2100" dirty="0" spc="-1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1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10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14</a:t>
            </a:r>
            <a:r>
              <a:rPr lang="en-US" sz="21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-1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microsoft/generative-ai-for-beginners</a:t>
            </a:r>
            <a:r>
              <a:rPr lang="en-US" sz="2100" dirty="0" spc="-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</a:t>
            </a:r>
            <a:r>
              <a:rPr lang="en-US" sz="2100" dirty="0" spc="-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License,</a:t>
            </a:r>
            <a:r>
              <a:rPr lang="en-US" sz="2100" dirty="0" spc="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©</a:t>
            </a:r>
            <a:r>
              <a:rPr lang="en-US" sz="2100" dirty="0" spc="-1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</a:t>
            </a:r>
            <a:r>
              <a:rPr lang="en-US" sz="2100" dirty="0" spc="-1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Corporation).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4400" y="8048625"/>
            <a:ext cx="16459200" cy="4381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8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github.com/microsoft/generative-ai-for-beginners</a:t>
            </a:r>
            <a:r>
              <a:rPr lang="en-US" sz="19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9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commit</a:t>
            </a:r>
            <a:r>
              <a:rPr lang="en-US" sz="19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c35bc19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0" name="Shape 28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1" name="Shape 29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2" name="Shape 30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4" name="Shape 32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5" name="Shape 33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6" name="Shape 34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7" name="Shape 35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8" name="Shape 36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9" name="Shape 37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Text 38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14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11/11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e653abf6-bb34-4cbf-bab1-29012b4a3c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2026-10-20T10:23:18Z</dcterms:created>
  <dcterms:modified xsi:type="dcterms:W3CDTF">2026-10-20T10:23:18Z</dcterms:modified>
</cp:coreProperties>
</file>