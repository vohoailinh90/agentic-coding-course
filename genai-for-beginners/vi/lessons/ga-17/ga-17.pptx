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JetBrains Mono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47750"/>
            <a:ext cx="914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8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1950" b="1" spc="29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144000" cy="13335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8748"/>
              </a:lnSpc>
              <a:buNone/>
            </a:pP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r>
              <a:rPr lang="en-US" sz="81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6096000"/>
            <a:ext cx="8572500" cy="1047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Chatbot</a:t>
            </a:r>
            <a:r>
              <a:rPr lang="en-US" sz="30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3000" dirty="0" spc="-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lời.</a:t>
            </a:r>
            <a:r>
              <a:rPr lang="en-US" sz="3000" dirty="0" spc="-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300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3000" dirty="0"/>
          </a:p>
        </p:txBody>
      </p:sp>
      <p:sp>
        <p:nvSpPr>
          <p:cNvPr id="5" name="Connector line-1792489960588-714416141"/>
          <p:cNvSpPr/>
          <p:nvPr/>
        </p:nvSpPr>
        <p:spPr>
          <a:xfrm>
            <a:off x="914400" y="7524750"/>
            <a:ext cx="822960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762875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6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Lên</a:t>
            </a:r>
            <a:r>
              <a:rPr lang="en-US" sz="2100" dirty="0" spc="-3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100" dirty="0" spc="-3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hoạch,</a:t>
            </a:r>
            <a:r>
              <a:rPr lang="en-US" sz="2100" dirty="0" spc="-1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100" dirty="0" spc="-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10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cụ,</a:t>
            </a:r>
            <a:r>
              <a:rPr lang="en-US" sz="2100" dirty="0" spc="-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100" dirty="0" spc="-23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100" dirty="0" spc="-3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10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0477500" y="2095500"/>
            <a:ext cx="689610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01350" y="2514600"/>
            <a:ext cx="209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</a:t>
            </a:r>
            <a:r>
              <a:rPr lang="en-US" sz="165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2896850" y="2457450"/>
            <a:ext cx="4286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LLM,</a:t>
            </a:r>
            <a:r>
              <a:rPr lang="en-US" sz="22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thái,</a:t>
            </a:r>
            <a:r>
              <a:rPr lang="en-US" sz="22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0477500" y="3524250"/>
            <a:ext cx="689610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01350" y="3943350"/>
            <a:ext cx="209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FRAMEWORK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2896850" y="3886200"/>
            <a:ext cx="4286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cái,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2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0477500" y="4953000"/>
            <a:ext cx="689610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01350" y="5372100"/>
            <a:ext cx="209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GỌI</a:t>
            </a:r>
            <a:r>
              <a:rPr lang="en-US" sz="16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650" b="1" spc="22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2896850" y="5314950"/>
            <a:ext cx="4286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AutoGen</a:t>
            </a: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2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get_weather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0477500" y="6381750"/>
            <a:ext cx="689610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801350" y="6800850"/>
            <a:ext cx="209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1650" b="1" spc="21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2896850" y="6743700"/>
            <a:ext cx="4286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</a:t>
            </a:r>
            <a:r>
              <a:rPr lang="en-US" sz="22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2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 song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ee370f36-b063-448a-98a0-92243b81ac7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b="1" spc="25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1800" b="1" spc="29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80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Học</a:t>
            </a:r>
            <a:r>
              <a:rPr lang="en-US" sz="69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xong,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sẽ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1333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2476500" y="3333750"/>
            <a:ext cx="952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Giải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 AI</a:t>
            </a:r>
            <a:r>
              <a:rPr lang="en-US" sz="30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gì,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30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3000" dirty="0"/>
          </a:p>
        </p:txBody>
      </p:sp>
      <p:sp>
        <p:nvSpPr>
          <p:cNvPr id="6" name="Connector line-1792489976151-112791510"/>
          <p:cNvSpPr/>
          <p:nvPr/>
        </p:nvSpPr>
        <p:spPr>
          <a:xfrm>
            <a:off x="914400" y="4572000"/>
            <a:ext cx="110871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914400" y="4762500"/>
            <a:ext cx="1333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8400" dirty="0"/>
          </a:p>
        </p:txBody>
      </p:sp>
      <p:sp>
        <p:nvSpPr>
          <p:cNvPr id="8" name="Text 6"/>
          <p:cNvSpPr/>
          <p:nvPr/>
        </p:nvSpPr>
        <p:spPr>
          <a:xfrm>
            <a:off x="2476500" y="5048250"/>
            <a:ext cx="952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Thấy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30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30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30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30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framework</a:t>
            </a:r>
            <a:r>
              <a:rPr lang="en-US" sz="30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endParaRPr lang="en-US" sz="3000" dirty="0"/>
          </a:p>
        </p:txBody>
      </p:sp>
      <p:sp>
        <p:nvSpPr>
          <p:cNvPr id="9" name="Connector line-1792489976157-521562715"/>
          <p:cNvSpPr/>
          <p:nvPr/>
        </p:nvSpPr>
        <p:spPr>
          <a:xfrm>
            <a:off x="914400" y="6286500"/>
            <a:ext cx="110871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914400" y="6477000"/>
            <a:ext cx="1333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8400" dirty="0"/>
          </a:p>
        </p:txBody>
      </p:sp>
      <p:sp>
        <p:nvSpPr>
          <p:cNvPr id="11" name="Text 9"/>
          <p:cNvSpPr/>
          <p:nvPr/>
        </p:nvSpPr>
        <p:spPr>
          <a:xfrm>
            <a:off x="2476500" y="6762750"/>
            <a:ext cx="952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Hiểu</a:t>
            </a:r>
            <a:r>
              <a:rPr lang="en-US" sz="30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30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30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3000" dirty="0" spc="-3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30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300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3000" dirty="0" spc="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3000" dirty="0" spc="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2763500" y="3048000"/>
            <a:ext cx="4610100" cy="4762500"/>
          </a:xfrm>
          <a:prstGeom prst="roundRect">
            <a:avLst>
              <a:gd name="adj" fmla="val 5785"/>
            </a:avLst>
          </a:prstGeom>
          <a:solidFill>
            <a:srgbClr val="14161C"/>
          </a:solidFill>
          <a:ln/>
        </p:spPr>
      </p:sp>
      <p:sp>
        <p:nvSpPr>
          <p:cNvPr id="13" name="Text 11"/>
          <p:cNvSpPr/>
          <p:nvPr/>
        </p:nvSpPr>
        <p:spPr>
          <a:xfrm>
            <a:off x="13144500" y="3381375"/>
            <a:ext cx="3905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0" kern="0" dirty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FRAMEWORK</a:t>
            </a:r>
            <a:r>
              <a:rPr lang="en-US" sz="1800" b="1" spc="214" kern="0" dirty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endParaRPr lang="en-US" sz="1800" dirty="0"/>
          </a:p>
        </p:txBody>
      </p:sp>
      <p:sp>
        <p:nvSpPr>
          <p:cNvPr id="14" name="Text richtext-1792489976172-596890301"/>
          <p:cNvSpPr/>
          <p:nvPr/>
        </p:nvSpPr>
        <p:spPr>
          <a:xfrm>
            <a:off x="13144500" y="3905250"/>
            <a:ext cx="3905250" cy="3714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spcAft>
                <a:spcPts val="1800"/>
              </a:spcAft>
              <a:buSzPct val="100000"/>
              <a:buFont typeface="Arial"/>
              <a:buChar char="•"/>
            </a:pP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LLM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spcAft>
                <a:spcPts val="1800"/>
              </a:spcAft>
              <a:buSzPct val="100000"/>
              <a:buFont typeface="Arial"/>
              <a:buChar char="•"/>
            </a:pP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4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Giúp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</a:t>
            </a:r>
            <a:r>
              <a:rPr lang="en-US" sz="24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4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40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c4fa1cf3-f1a9-47d9-a6a7-4990ccceabd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8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</a:t>
            </a:r>
            <a:r>
              <a:rPr lang="en-US" sz="1800" b="1" spc="29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LLM có</a:t>
            </a:r>
            <a:r>
              <a:rPr lang="en-US" sz="69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trạng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thái</a:t>
            </a:r>
            <a:r>
              <a:rPr lang="en-US" sz="6900" dirty="0" spc="-7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 cụ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5286375" cy="4476750"/>
          </a:xfrm>
          <a:prstGeom prst="roundRect">
            <a:avLst>
              <a:gd name="adj" fmla="val 5957"/>
            </a:avLst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286125"/>
            <a:ext cx="4572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1800" b="1" spc="21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3810000"/>
            <a:ext cx="4572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63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LLM</a:t>
            </a:r>
            <a:endParaRPr lang="en-US" sz="4363" dirty="0"/>
          </a:p>
        </p:txBody>
      </p:sp>
      <p:sp>
        <p:nvSpPr>
          <p:cNvPr id="7" name="Text richtext-1792490043184-160471812"/>
          <p:cNvSpPr/>
          <p:nvPr/>
        </p:nvSpPr>
        <p:spPr>
          <a:xfrm>
            <a:off x="1295400" y="4762500"/>
            <a:ext cx="4572000" cy="2476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GPT-5,</a:t>
            </a:r>
            <a:r>
              <a:rPr lang="en-US" sz="24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GPT-4o,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Llama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3.3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Lên</a:t>
            </a:r>
            <a:r>
              <a:rPr lang="en-US" sz="2400" dirty="0" spc="-3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hoạch cho</a:t>
            </a:r>
            <a:r>
              <a:rPr lang="en-US" sz="24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96050" y="2952750"/>
            <a:ext cx="5286375" cy="4476750"/>
          </a:xfrm>
          <a:prstGeom prst="roundRect">
            <a:avLst>
              <a:gd name="adj" fmla="val 5957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77050" y="3286125"/>
            <a:ext cx="4572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TRÍ</a:t>
            </a:r>
            <a:r>
              <a:rPr lang="en-US" sz="180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77050" y="3810000"/>
            <a:ext cx="4572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63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Trạng</a:t>
            </a:r>
            <a:r>
              <a:rPr lang="en-US" sz="4363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thái</a:t>
            </a:r>
            <a:endParaRPr lang="en-US" sz="4363" dirty="0"/>
          </a:p>
        </p:txBody>
      </p:sp>
      <p:sp>
        <p:nvSpPr>
          <p:cNvPr id="11" name="Text richtext-1792490043201-33129693"/>
          <p:cNvSpPr/>
          <p:nvPr/>
        </p:nvSpPr>
        <p:spPr>
          <a:xfrm>
            <a:off x="6877050" y="4762500"/>
            <a:ext cx="4572000" cy="2476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Ngữ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LLM</a:t>
            </a:r>
            <a:r>
              <a:rPr lang="en-US" sz="24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240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40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2077700" y="2952750"/>
            <a:ext cx="5295900" cy="4476750"/>
          </a:xfrm>
          <a:prstGeom prst="roundRect">
            <a:avLst>
              <a:gd name="adj" fmla="val 5957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58700" y="3286125"/>
            <a:ext cx="4572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ĐÔI</a:t>
            </a:r>
            <a:r>
              <a:rPr lang="en-US" sz="1800" b="1" spc="13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458700" y="3810000"/>
            <a:ext cx="4572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63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Công</a:t>
            </a:r>
            <a:r>
              <a:rPr lang="en-US" sz="4363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</a:t>
            </a:r>
            <a:endParaRPr lang="en-US" sz="4363" dirty="0"/>
          </a:p>
        </p:txBody>
      </p:sp>
      <p:sp>
        <p:nvSpPr>
          <p:cNvPr id="15" name="Text richtext-1792490043215-259227645"/>
          <p:cNvSpPr/>
          <p:nvPr/>
        </p:nvSpPr>
        <p:spPr>
          <a:xfrm>
            <a:off x="12458700" y="4762500"/>
            <a:ext cx="4572000" cy="2476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liệu, API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khác,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thậm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 LLM khác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14400" y="800100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Lên kế hoạch → gọi công cụ → cập nhật trạng thái → lặp lại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35f5ce58-11f0-4283-a0db-4800c40013f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1800" b="1" spc="29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FRAMEWORK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Giữ</a:t>
            </a:r>
            <a:r>
              <a:rPr lang="en-US" sz="690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trạng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thái,</a:t>
            </a:r>
            <a:r>
              <a:rPr lang="en-US" sz="6900" dirty="0" spc="-4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đưa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</a:t>
            </a:r>
            <a:endParaRPr lang="en-US" sz="6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857500"/>
          <a:ext cx="1371600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6254496"/>
                <a:gridCol w="5266944"/>
              </a:tblGrid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2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Framework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Giữ</a:t>
                      </a:r>
                      <a:r>
                        <a:rPr lang="en-US" sz="2250" b="1" dirty="0" spc="-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trạng</a:t>
                      </a:r>
                      <a:r>
                        <a:rPr lang="en-US" sz="2250" b="1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thái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Công</a:t>
                      </a:r>
                      <a:r>
                        <a:rPr lang="en-US" sz="2250" b="1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cụ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766E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LangChain</a:t>
                      </a:r>
                      <a:r>
                        <a:rPr lang="en-US" sz="2250" dirty="0" spc="-1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Agents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AgentExecutor</a:t>
                      </a:r>
                      <a:r>
                        <a:rPr lang="en-US" sz="2250" dirty="0" spc="1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lưu</a:t>
                      </a: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lịch</a:t>
                      </a:r>
                      <a:r>
                        <a:rPr lang="en-US" sz="2250" dirty="0" spc="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sử</a:t>
                      </a:r>
                      <a:r>
                        <a:rPr lang="en-US" sz="2250" dirty="0" spc="-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chat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Danh</a:t>
                      </a:r>
                      <a:r>
                        <a:rPr lang="en-US" sz="225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mục</a:t>
                      </a: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của cộng</a:t>
                      </a:r>
                      <a:r>
                        <a:rPr lang="en-US" sz="2250" dirty="0" spc="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đồng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AutoGen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Agent</a:t>
                      </a:r>
                      <a:r>
                        <a:rPr lang="en-US" sz="2250" dirty="0" spc="-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viết</a:t>
                      </a:r>
                      <a:r>
                        <a:rPr lang="en-US" sz="22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mã</a:t>
                      </a:r>
                      <a:r>
                        <a:rPr lang="en-US" sz="2250" dirty="0" spc="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Python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Hàm,</a:t>
                      </a:r>
                      <a:r>
                        <a:rPr lang="en-US" sz="2250" dirty="0" spc="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có</a:t>
                      </a: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thể</a:t>
                      </a:r>
                      <a:r>
                        <a:rPr lang="en-US" sz="225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chờ</a:t>
                      </a:r>
                      <a:r>
                        <a:rPr lang="en-US" sz="2250" dirty="0" spc="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người</a:t>
                      </a:r>
                      <a:r>
                        <a:rPr lang="en-US" sz="2250" dirty="0" spc="-1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duyệt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Microsoft</a:t>
                      </a:r>
                      <a:r>
                        <a:rPr lang="en-US" sz="2250" dirty="0" spc="-2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Agent</a:t>
                      </a:r>
                      <a:r>
                        <a:rPr lang="en-US" sz="2250" dirty="0" spc="-3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Framework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Luồng</a:t>
                      </a: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hội</a:t>
                      </a:r>
                      <a:r>
                        <a:rPr lang="en-US" sz="2250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thoại,</a:t>
                      </a:r>
                      <a:r>
                        <a:rPr lang="en-US" sz="2250" dirty="0" spc="1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lưu</a:t>
                      </a:r>
                      <a:r>
                        <a:rPr lang="en-US" sz="22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lại</a:t>
                      </a:r>
                      <a:r>
                        <a:rPr lang="en-US" sz="2250" dirty="0" spc="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được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Hàm</a:t>
                      </a:r>
                      <a:r>
                        <a:rPr lang="en-US" sz="2250" dirty="0" spc="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Python,</a:t>
                      </a:r>
                      <a:r>
                        <a:rPr lang="en-US" sz="2250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máy</a:t>
                      </a:r>
                      <a:r>
                        <a:rPr lang="en-US" sz="2250" dirty="0" spc="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chủ</a:t>
                      </a:r>
                      <a:r>
                        <a:rPr lang="en-US" sz="22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MCP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4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TaskWeaver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Planner</a:t>
                      </a: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chia</a:t>
                      </a:r>
                      <a:r>
                        <a:rPr lang="en-US" sz="2250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việc, experience</a:t>
                      </a:r>
                      <a:r>
                        <a:rPr lang="en-US" sz="225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nhớ</a:t>
                      </a:r>
                      <a:r>
                        <a:rPr lang="en-US" sz="22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lâu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Plugins:</a:t>
                      </a:r>
                      <a:r>
                        <a:rPr lang="en-US" sz="225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lớp</a:t>
                      </a:r>
                      <a:r>
                        <a:rPr lang="en-US" sz="2250" dirty="0" spc="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Python,</a:t>
                      </a:r>
                      <a:r>
                        <a:rPr lang="en-US" sz="2250" dirty="0" spc="-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chạy</a:t>
                      </a:r>
                      <a:r>
                        <a:rPr lang="en-US" sz="22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mã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JARVIS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Một</a:t>
                      </a: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LLM</a:t>
                      </a:r>
                      <a:r>
                        <a:rPr lang="en-US" sz="2250" dirty="0" spc="1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điều</a:t>
                      </a:r>
                      <a:r>
                        <a:rPr lang="en-US" sz="22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phối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Mô</a:t>
                      </a: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hình</a:t>
                      </a:r>
                      <a:r>
                        <a:rPr lang="en-US" sz="2250" dirty="0" spc="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AI</a:t>
                      </a:r>
                      <a:r>
                        <a:rPr lang="en-US" sz="225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chuyên</a:t>
                      </a:r>
                      <a:r>
                        <a:rPr lang="en-US" sz="2250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biệt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43204d36-1711-4203-a27b-af09aeb1a34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AUTOGEN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80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1800" b="1" spc="28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Hỏi mặc</a:t>
            </a:r>
            <a:r>
              <a:rPr lang="en-US" sz="69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900" dirty="0" spc="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69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New</a:t>
            </a:r>
            <a:r>
              <a:rPr lang="en-US" sz="6900" dirty="0" spc="-1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York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2190750" y="2762250"/>
            <a:ext cx="3238500" cy="7239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34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user_proxy</a:t>
            </a:r>
            <a:r>
              <a:rPr lang="en-US" sz="1934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(người</a:t>
            </a:r>
            <a:r>
              <a:rPr lang="en-US" sz="1934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dùng)</a:t>
            </a:r>
            <a:endParaRPr lang="en-US" sz="1934" dirty="0"/>
          </a:p>
        </p:txBody>
      </p:sp>
      <p:sp>
        <p:nvSpPr>
          <p:cNvPr id="5" name="Text 3"/>
          <p:cNvSpPr/>
          <p:nvPr/>
        </p:nvSpPr>
        <p:spPr>
          <a:xfrm>
            <a:off x="7810500" y="2762250"/>
            <a:ext cx="2667000" cy="7239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chatbot</a:t>
            </a:r>
            <a:r>
              <a:rPr lang="en-US" sz="21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(LLM)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0" y="2762250"/>
            <a:ext cx="3238500" cy="7239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get_weather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(hàm)</a:t>
            </a:r>
            <a:endParaRPr lang="en-US" sz="2100" dirty="0"/>
          </a:p>
        </p:txBody>
      </p:sp>
      <p:sp>
        <p:nvSpPr>
          <p:cNvPr id="7" name="Connector line-1792490072905-31157096"/>
          <p:cNvSpPr/>
          <p:nvPr/>
        </p:nvSpPr>
        <p:spPr>
          <a:xfrm>
            <a:off x="3810000" y="3486150"/>
            <a:ext cx="0" cy="4895850"/>
          </a:xfrm>
          <a:prstGeom prst="line">
            <a:avLst/>
          </a:prstGeom>
          <a:noFill/>
          <a:ln w="3810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8" name="Connector line-1792490072905-692756928"/>
          <p:cNvSpPr/>
          <p:nvPr/>
        </p:nvSpPr>
        <p:spPr>
          <a:xfrm>
            <a:off x="9144000" y="3486150"/>
            <a:ext cx="0" cy="4895850"/>
          </a:xfrm>
          <a:prstGeom prst="line">
            <a:avLst/>
          </a:prstGeom>
          <a:noFill/>
          <a:ln w="3810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9" name="Connector line-1792490072906-633699784"/>
          <p:cNvSpPr/>
          <p:nvPr/>
        </p:nvSpPr>
        <p:spPr>
          <a:xfrm>
            <a:off x="14573250" y="3486150"/>
            <a:ext cx="0" cy="4895850"/>
          </a:xfrm>
          <a:prstGeom prst="line">
            <a:avLst/>
          </a:prstGeom>
          <a:noFill/>
          <a:ln w="3810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6096000" y="3714750"/>
            <a:ext cx="6096000" cy="609600"/>
          </a:xfrm>
          <a:prstGeom prst="roundRect">
            <a:avLst>
              <a:gd name="adj" fmla="val 40625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message: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21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905250" y="4572000"/>
            <a:ext cx="514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cuộc</a:t>
            </a:r>
            <a:r>
              <a:rPr lang="en-US" sz="21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r>
              <a:rPr lang="en-US" sz="21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endParaRPr lang="en-US" sz="2100" dirty="0"/>
          </a:p>
        </p:txBody>
      </p:sp>
      <p:sp>
        <p:nvSpPr>
          <p:cNvPr id="12" name="Connector line-1792490072912-984600108"/>
          <p:cNvSpPr/>
          <p:nvPr/>
        </p:nvSpPr>
        <p:spPr>
          <a:xfrm>
            <a:off x="3905250" y="5048250"/>
            <a:ext cx="5143500" cy="0"/>
          </a:xfrm>
          <a:prstGeom prst="line">
            <a:avLst/>
          </a:prstGeom>
          <a:noFill/>
          <a:ln w="57150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3905250" y="5381625"/>
            <a:ext cx="514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1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1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get_weather</a:t>
            </a:r>
            <a:endParaRPr lang="en-US" sz="2100" dirty="0"/>
          </a:p>
        </p:txBody>
      </p:sp>
      <p:sp>
        <p:nvSpPr>
          <p:cNvPr id="14" name="Connector line-1792490072915-423750784"/>
          <p:cNvSpPr/>
          <p:nvPr/>
        </p:nvSpPr>
        <p:spPr>
          <a:xfrm flipH="1">
            <a:off x="3905250" y="5857875"/>
            <a:ext cx="51435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905250" y="6191250"/>
            <a:ext cx="10572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1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endParaRPr lang="en-US" sz="2100" dirty="0"/>
          </a:p>
        </p:txBody>
      </p:sp>
      <p:sp>
        <p:nvSpPr>
          <p:cNvPr id="16" name="Connector line-1792490072918-610254987"/>
          <p:cNvSpPr/>
          <p:nvPr/>
        </p:nvSpPr>
        <p:spPr>
          <a:xfrm>
            <a:off x="3905250" y="6667500"/>
            <a:ext cx="10572750" cy="0"/>
          </a:xfrm>
          <a:prstGeom prst="line">
            <a:avLst/>
          </a:prstGeom>
          <a:noFill/>
          <a:ln w="57150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9239250" y="7048500"/>
            <a:ext cx="514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quay</a:t>
            </a:r>
            <a:r>
              <a:rPr lang="en-US" sz="210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1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chatbot</a:t>
            </a:r>
            <a:endParaRPr lang="en-US" sz="2100" dirty="0"/>
          </a:p>
        </p:txBody>
      </p:sp>
      <p:sp>
        <p:nvSpPr>
          <p:cNvPr id="18" name="Connector line-1792490072921-580540628"/>
          <p:cNvSpPr/>
          <p:nvPr/>
        </p:nvSpPr>
        <p:spPr>
          <a:xfrm flipH="1">
            <a:off x="9239250" y="7524750"/>
            <a:ext cx="523875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1ffc2955-5591-474e-8a97-b3af6ee26ab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1800" b="1" spc="28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 HỢP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Lần</a:t>
            </a:r>
            <a:r>
              <a:rPr lang="en-US" sz="6900" dirty="0" spc="-7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lượt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song song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5334000"/>
          </a:xfrm>
          <a:prstGeom prst="roundRect">
            <a:avLst>
              <a:gd name="adj" fmla="val 5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190875"/>
            <a:ext cx="7239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</a:t>
            </a:r>
            <a:r>
              <a:rPr lang="en-US" sz="1800" b="1" spc="20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33500" y="4000500"/>
            <a:ext cx="2095500" cy="952500"/>
          </a:xfrm>
          <a:prstGeom prst="roundRect">
            <a:avLst>
              <a:gd name="adj" fmla="val 20000"/>
            </a:avLst>
          </a:prstGeom>
          <a:solidFill>
            <a:srgbClr val="DDE3FA"/>
          </a:solidFill>
          <a:ln w="19050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Nghiên</a:t>
            </a:r>
            <a:r>
              <a:rPr lang="en-US" sz="2100" b="1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endParaRPr lang="en-US" sz="2100" dirty="0"/>
          </a:p>
        </p:txBody>
      </p:sp>
      <p:sp>
        <p:nvSpPr>
          <p:cNvPr id="7" name="Connector line-1792490091845-389826581"/>
          <p:cNvSpPr/>
          <p:nvPr/>
        </p:nvSpPr>
        <p:spPr>
          <a:xfrm>
            <a:off x="3467100" y="4476750"/>
            <a:ext cx="4191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924300" y="4000500"/>
            <a:ext cx="2095500" cy="952500"/>
          </a:xfrm>
          <a:prstGeom prst="roundRect">
            <a:avLst>
              <a:gd name="adj" fmla="val 20000"/>
            </a:avLst>
          </a:prstGeom>
          <a:solidFill>
            <a:srgbClr val="DDE3FA"/>
          </a:solidFill>
          <a:ln w="19050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Viết</a:t>
            </a:r>
            <a:endParaRPr lang="en-US" sz="2100" dirty="0"/>
          </a:p>
        </p:txBody>
      </p:sp>
      <p:sp>
        <p:nvSpPr>
          <p:cNvPr id="9" name="Connector line-1792490091847-709033787"/>
          <p:cNvSpPr/>
          <p:nvPr/>
        </p:nvSpPr>
        <p:spPr>
          <a:xfrm>
            <a:off x="6057900" y="4476750"/>
            <a:ext cx="4191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515100" y="4000500"/>
            <a:ext cx="2095500" cy="952500"/>
          </a:xfrm>
          <a:prstGeom prst="roundRect">
            <a:avLst>
              <a:gd name="adj" fmla="val 20000"/>
            </a:avLst>
          </a:prstGeom>
          <a:solidFill>
            <a:srgbClr val="DDE3FA"/>
          </a:solidFill>
          <a:ln w="19050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Biên tập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33500" y="5715000"/>
            <a:ext cx="72390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 cho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372600" y="2857500"/>
            <a:ext cx="8001000" cy="5334000"/>
          </a:xfrm>
          <a:prstGeom prst="roundRect">
            <a:avLst>
              <a:gd name="adj" fmla="val 5000"/>
            </a:avLst>
          </a:prstGeom>
          <a:solidFill>
            <a:srgbClr val="14161C"/>
          </a:solidFill>
          <a:ln/>
        </p:spPr>
      </p:sp>
      <p:sp>
        <p:nvSpPr>
          <p:cNvPr id="13" name="Text 11"/>
          <p:cNvSpPr/>
          <p:nvPr/>
        </p:nvSpPr>
        <p:spPr>
          <a:xfrm>
            <a:off x="9791700" y="3190875"/>
            <a:ext cx="7239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3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SONG</a:t>
            </a:r>
            <a:r>
              <a:rPr lang="en-US" sz="1800" b="1" spc="22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791700" y="3810000"/>
            <a:ext cx="2286000" cy="7620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 w="19050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</a:t>
            </a:r>
            <a:r>
              <a:rPr lang="en-US" sz="21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791700" y="4762500"/>
            <a:ext cx="2286000" cy="7620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 w="19050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791700" y="5715000"/>
            <a:ext cx="2286000" cy="7620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 w="19050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</a:t>
            </a:r>
            <a:endParaRPr lang="en-US" sz="2100" dirty="0"/>
          </a:p>
        </p:txBody>
      </p:sp>
      <p:sp>
        <p:nvSpPr>
          <p:cNvPr id="17" name="Connector line-1792490091863-570671735"/>
          <p:cNvSpPr/>
          <p:nvPr/>
        </p:nvSpPr>
        <p:spPr>
          <a:xfrm>
            <a:off x="12115800" y="4191000"/>
            <a:ext cx="2171700" cy="85725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8" name="Connector line-1792490091863-847155898"/>
          <p:cNvSpPr/>
          <p:nvPr/>
        </p:nvSpPr>
        <p:spPr>
          <a:xfrm>
            <a:off x="12115800" y="5143500"/>
            <a:ext cx="2171700" cy="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9" name="Connector line-1792490091864-993575061"/>
          <p:cNvSpPr/>
          <p:nvPr/>
        </p:nvSpPr>
        <p:spPr>
          <a:xfrm flipV="1">
            <a:off x="12115800" y="5238750"/>
            <a:ext cx="2171700" cy="85725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4363700" y="4667250"/>
            <a:ext cx="2628900" cy="952500"/>
          </a:xfrm>
          <a:prstGeom prst="roundRect">
            <a:avLst>
              <a:gd name="adj" fmla="val 2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Gom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1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791700" y="6858000"/>
            <a:ext cx="7239000" cy="1143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 lúc</a:t>
            </a:r>
            <a:r>
              <a:rPr lang="en-US" sz="255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gom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0fe634dd-6f1a-4975-b4cf-bec0e22a315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800" b="1" spc="264" kern="0" dirty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agent,</a:t>
            </a:r>
            <a:r>
              <a:rPr lang="en-US" sz="69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3619500"/>
          </a:xfrm>
          <a:prstGeom prst="roundRect">
            <a:avLst>
              <a:gd name="adj" fmla="val 6316"/>
            </a:avLst>
          </a:prstGeom>
          <a:solidFill>
            <a:srgbClr val="1E212B"/>
          </a:solidFill>
          <a:ln w="19050">
            <a:solidFill>
              <a:srgbClr val="2E32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048000"/>
            <a:ext cx="1524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PYTHON, MICROSOFT</a:t>
            </a:r>
            <a:r>
              <a:rPr lang="en-US" sz="1650" b="1" spc="214" kern="0" dirty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b="1" spc="221" kern="0" dirty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FRAMEWORK,</a:t>
            </a:r>
            <a:r>
              <a:rPr lang="en-US" sz="1650" b="1" spc="215" kern="0" dirty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RÚT</a:t>
            </a:r>
            <a:r>
              <a:rPr lang="en-US" sz="1650" b="1" spc="228" kern="0" dirty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95400" y="3571875"/>
            <a:ext cx="15811500" cy="2667000"/>
          </a:xfrm>
          <a:prstGeom prst="rect">
            <a:avLst/>
          </a:prstGeom>
          <a:noFill/>
          <a:ln/>
        </p:spPr>
        <p:txBody>
          <a:bodyPr wrap="square" lIns="0" tIns="-9906" rIns="0" bIns="9906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950" dirty="0" spc="-5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 get_weather(location: str) -&gt; str:</a:t>
            </a:r>
            <a:endParaRPr lang="en-US" sz="195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1950" dirty="0" spc="-5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 f"The weather in {location} is sunny."</a:t>
            </a:r>
            <a:endParaRPr lang="en-US" sz="195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1950" dirty="0" spc="-5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 = Agent(client=OpenAIChatClient(), tools=[get_weather],</a:t>
            </a:r>
            <a:endParaRPr lang="en-US" sz="195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1950" dirty="0" spc="-5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instructions="You are a helpful assistant that can answer weather questions.")</a:t>
            </a:r>
            <a:endParaRPr lang="en-US" sz="195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1950" dirty="0" spc="-5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response = await agent.run("What's the weather in Amsterdam?")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14400" y="6762750"/>
            <a:ext cx="5286375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6953250"/>
            <a:ext cx="4667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2" kern="0" dirty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CÀI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238250" y="7381875"/>
            <a:ext cx="4667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5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pip install agent-framework-core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96050" y="6762750"/>
            <a:ext cx="5286375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6819900" y="6953250"/>
            <a:ext cx="4667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1650" b="1" spc="229" kern="0" dirty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819900" y="7381875"/>
            <a:ext cx="4667250" cy="8572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210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</a:t>
            </a:r>
            <a:r>
              <a:rPr lang="en-US" sz="21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2077700" y="6762750"/>
            <a:ext cx="52959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2401550" y="6953250"/>
            <a:ext cx="4667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6" kern="0" dirty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FUNCTION</a:t>
            </a:r>
            <a:r>
              <a:rPr lang="en-US" sz="1650" b="1" spc="217" kern="0" dirty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CALLING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2401550" y="7381875"/>
            <a:ext cx="4667250" cy="8572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320f3561-a5d1-4656-bbf7-9657871d9cc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b="1" spc="2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Mô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phỏng</a:t>
            </a:r>
            <a:r>
              <a:rPr lang="en-US" sz="69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cuộc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họp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4476750"/>
            <a:ext cx="4000500" cy="1524000"/>
          </a:xfrm>
          <a:prstGeom prst="roundRect">
            <a:avLst>
              <a:gd name="adj" fmla="val 17500"/>
            </a:avLst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4714875"/>
            <a:ext cx="3429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1800" b="1" spc="226" kern="0" dirty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8250" y="5143500"/>
            <a:ext cx="342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24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bày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4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tưởng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810500" y="2857500"/>
            <a:ext cx="4381500" cy="11430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Phòng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ban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7810500" y="4667250"/>
            <a:ext cx="4381500" cy="11430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Phòng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ban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7810500" y="6477000"/>
            <a:ext cx="4381500" cy="11430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Phòng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ban</a:t>
            </a:r>
            <a:r>
              <a:rPr lang="en-US" sz="22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2250" dirty="0"/>
          </a:p>
        </p:txBody>
      </p:sp>
      <p:sp>
        <p:nvSpPr>
          <p:cNvPr id="10" name="Connector line-1792490130479-219634036"/>
          <p:cNvSpPr/>
          <p:nvPr/>
        </p:nvSpPr>
        <p:spPr>
          <a:xfrm flipV="1">
            <a:off x="4953000" y="3429000"/>
            <a:ext cx="2781300" cy="180975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1" name="Connector line-1792490130479-881137390"/>
          <p:cNvSpPr/>
          <p:nvPr/>
        </p:nvSpPr>
        <p:spPr>
          <a:xfrm>
            <a:off x="4953000" y="5238750"/>
            <a:ext cx="27813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2" name="Connector line-1792490130479-713904671"/>
          <p:cNvSpPr/>
          <p:nvPr/>
        </p:nvSpPr>
        <p:spPr>
          <a:xfrm>
            <a:off x="4953000" y="5238750"/>
            <a:ext cx="2781300" cy="180975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3" name="Connector line-1792490130479-217591807"/>
          <p:cNvSpPr/>
          <p:nvPr/>
        </p:nvSpPr>
        <p:spPr>
          <a:xfrm>
            <a:off x="12230100" y="3429000"/>
            <a:ext cx="1676400" cy="171450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4" name="Connector line-1792490130480-405585634"/>
          <p:cNvSpPr/>
          <p:nvPr/>
        </p:nvSpPr>
        <p:spPr>
          <a:xfrm>
            <a:off x="12230100" y="5238750"/>
            <a:ext cx="16764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5" name="Connector line-1792490130480-376116059"/>
          <p:cNvSpPr/>
          <p:nvPr/>
        </p:nvSpPr>
        <p:spPr>
          <a:xfrm flipV="1">
            <a:off x="12230100" y="5334000"/>
            <a:ext cx="1676400" cy="171450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6" name="Text 14"/>
          <p:cNvSpPr/>
          <p:nvPr/>
        </p:nvSpPr>
        <p:spPr>
          <a:xfrm>
            <a:off x="13982700" y="4381500"/>
            <a:ext cx="3390900" cy="1714500"/>
          </a:xfrm>
          <a:prstGeom prst="roundRect">
            <a:avLst>
              <a:gd name="adj" fmla="val 15556"/>
            </a:avLst>
          </a:prstGeom>
          <a:solidFill>
            <a:srgbClr val="E8E0CF"/>
          </a:solidFill>
          <a:ln w="28575">
            <a:solidFill>
              <a:srgbClr val="14161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theo,</a:t>
            </a:r>
            <a:r>
              <a:rPr lang="en-US" sz="22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tưởng</a:t>
            </a:r>
            <a:r>
              <a:rPr lang="en-US" sz="22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14400" y="8429625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ty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nghiệp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dục,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</a:t>
            </a:r>
            <a:r>
              <a:rPr lang="en-US" sz="24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40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Framework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7810500" y="7762875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1950" b="1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</a:t>
            </a:r>
            <a:r>
              <a:rPr lang="en-US" sz="1950" b="1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ban:</a:t>
            </a:r>
            <a:r>
              <a:rPr lang="en-US" sz="1950" b="1" dirty="0" spc="-2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950" b="1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message</a:t>
            </a:r>
            <a:r>
              <a:rPr lang="en-US" sz="1950" b="1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1950" b="1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(vai</a:t>
            </a:r>
            <a:r>
              <a:rPr lang="en-US" sz="1950" b="1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trò,</a:t>
            </a:r>
            <a:r>
              <a:rPr lang="en-US" sz="1950" b="1" dirty="0" spc="3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1950" b="1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tiên)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ec1268f5-c0d4-46fb-aac5-bd1e433c597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16459200" cy="2762250"/>
          </a:xfrm>
          <a:prstGeom prst="rect">
            <a:avLst/>
          </a:prstGeom>
          <a:noFill/>
          <a:ln/>
        </p:spPr>
        <p:txBody>
          <a:bodyPr wrap="square" lIns="0" tIns="17145" rIns="0" bIns="-17145" rtlCol="0" anchor="t"/>
          <a:lstStyle/>
          <a:p>
            <a:pPr algn="l" indent="0" marL="0">
              <a:lnSpc>
                <a:spcPts val="6210"/>
              </a:lnSpc>
              <a:buNone/>
            </a:pP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Muốn</a:t>
            </a:r>
            <a:r>
              <a:rPr lang="en-US" sz="54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r>
              <a:rPr lang="en-US" sz="54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r>
              <a:rPr lang="en-US" sz="5400" dirty="0" spc="-5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5400" dirty="0" spc="-6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 chạy</a:t>
            </a:r>
            <a:r>
              <a:rPr lang="en-US" sz="5400" dirty="0" spc="-5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get_weather.</a:t>
            </a:r>
            <a:r>
              <a:rPr lang="en-US" sz="5400" dirty="0" spc="-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54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AutoGen,</a:t>
            </a: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r>
              <a:rPr lang="en-US" sz="54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 việc</a:t>
            </a:r>
            <a:r>
              <a:rPr lang="en-US" sz="5400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đó?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14400" y="4953000"/>
            <a:ext cx="16459200" cy="2857500"/>
          </a:xfrm>
          <a:prstGeom prst="roundRect">
            <a:avLst>
              <a:gd name="adj" fmla="val 9333"/>
            </a:avLst>
          </a:prstGeom>
          <a:solidFill>
            <a:srgbClr val="F8D9D0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4953000"/>
            <a:ext cx="133350" cy="2857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6" name="Text 4"/>
          <p:cNvSpPr/>
          <p:nvPr/>
        </p:nvSpPr>
        <p:spPr>
          <a:xfrm>
            <a:off x="1428750" y="5286375"/>
            <a:ext cx="15430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80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28750" y="5762625"/>
            <a:ext cx="15430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UserProxyAgent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428750" y="6572250"/>
            <a:ext cx="15430500" cy="1047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</a:t>
            </a:r>
            <a:r>
              <a:rPr lang="en-US" sz="25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dùng,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tiếp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2fca5c1a-729d-45aa-9ed0-df6cbdfcfeb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endParaRPr lang="en-US" sz="6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762250"/>
          <a:ext cx="13716000" cy="914400"/>
        </p:xfrm>
        <a:graphic>
          <a:graphicData uri="http://schemas.openxmlformats.org/drawingml/2006/table">
            <a:tbl>
              <a:tblPr/>
              <a:tblGrid>
                <a:gridCol w="1546860"/>
                <a:gridCol w="4419600"/>
                <a:gridCol w="5082540"/>
              </a:tblGrid>
              <a:tr h="8572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Viết</a:t>
                      </a:r>
                      <a:r>
                        <a:rPr lang="en-US" sz="1950" b="1" dirty="0" spc="-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tắt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3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 spc="-6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Tên</a:t>
                      </a:r>
                      <a:r>
                        <a:rPr lang="en-US" sz="1950" b="1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đầy đủ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3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Nghĩa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3240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AI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Artificial</a:t>
                      </a:r>
                      <a:r>
                        <a:rPr lang="en-US" sz="1950" dirty="0" spc="-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Intelligence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-3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Trí</a:t>
                      </a:r>
                      <a:r>
                        <a:rPr lang="en-US" sz="19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tuệ</a:t>
                      </a:r>
                      <a:r>
                        <a:rPr lang="en-US" sz="19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nhân</a:t>
                      </a:r>
                      <a:r>
                        <a:rPr lang="en-US" sz="195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tạo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LLM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-3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Large</a:t>
                      </a:r>
                      <a:r>
                        <a:rPr lang="en-US" sz="1950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Language</a:t>
                      </a:r>
                      <a:r>
                        <a:rPr lang="en-US" sz="19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Model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Mô</a:t>
                      </a:r>
                      <a:r>
                        <a:rPr lang="en-US" sz="19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hình</a:t>
                      </a:r>
                      <a:r>
                        <a:rPr lang="en-US" sz="1950" dirty="0" spc="-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ngôn</a:t>
                      </a:r>
                      <a:r>
                        <a:rPr lang="en-US" sz="195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ngữ</a:t>
                      </a:r>
                      <a:r>
                        <a:rPr lang="en-US" sz="19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lớn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API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Application</a:t>
                      </a:r>
                      <a:r>
                        <a:rPr lang="en-US" sz="195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Programming</a:t>
                      </a:r>
                      <a:r>
                        <a:rPr lang="en-US" sz="1950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Interface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Cổng</a:t>
                      </a:r>
                      <a:r>
                        <a:rPr lang="en-US" sz="1950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gọi</a:t>
                      </a:r>
                      <a:r>
                        <a:rPr lang="en-US" sz="1950" dirty="0" spc="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chương</a:t>
                      </a:r>
                      <a:r>
                        <a:rPr lang="en-US" sz="1950" dirty="0" spc="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trình</a:t>
                      </a:r>
                      <a:r>
                        <a:rPr lang="en-US" sz="195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khác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SDK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-1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Software</a:t>
                      </a:r>
                      <a:r>
                        <a:rPr lang="en-US" sz="1950" dirty="0" spc="-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Development</a:t>
                      </a:r>
                      <a:r>
                        <a:rPr lang="en-US" sz="19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Kit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Bộ</a:t>
                      </a:r>
                      <a:r>
                        <a:rPr lang="en-US" sz="19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công</a:t>
                      </a:r>
                      <a:r>
                        <a:rPr lang="en-US" sz="19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cụ lập</a:t>
                      </a:r>
                      <a:r>
                        <a:rPr lang="en-US" sz="1950" dirty="0" spc="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trình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MCP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Model</a:t>
                      </a:r>
                      <a:r>
                        <a:rPr lang="en-US" sz="1950" dirty="0" spc="-1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Context Protocol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Nối mô</a:t>
                      </a:r>
                      <a:r>
                        <a:rPr lang="en-US" sz="19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hình</a:t>
                      </a:r>
                      <a:r>
                        <a:rPr lang="en-US" sz="1950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với</a:t>
                      </a:r>
                      <a:r>
                        <a:rPr lang="en-US" sz="19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công</a:t>
                      </a:r>
                      <a:r>
                        <a:rPr lang="en-US" sz="19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cụ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JSON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-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JavaScript</a:t>
                      </a:r>
                      <a:r>
                        <a:rPr lang="en-US" sz="1950" dirty="0" spc="-1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Object</a:t>
                      </a:r>
                      <a:r>
                        <a:rPr lang="en-US" sz="1950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Notation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Định</a:t>
                      </a:r>
                      <a:r>
                        <a:rPr lang="en-US" sz="19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dạng dữ liệu</a:t>
                      </a:r>
                      <a:r>
                        <a:rPr lang="en-US" sz="195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có</a:t>
                      </a:r>
                      <a:r>
                        <a:rPr lang="en-US" sz="19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cấu trúc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</a:tbl>
          </a:graphicData>
        </a:graphic>
      </p:graphicFrame>
      <p:sp>
        <p:nvSpPr>
          <p:cNvPr id="5" name="Connector line-1792490163281-348682025"/>
          <p:cNvSpPr/>
          <p:nvPr/>
        </p:nvSpPr>
        <p:spPr>
          <a:xfrm>
            <a:off x="12477750" y="2762250"/>
            <a:ext cx="0" cy="581025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6" name="Text 3"/>
          <p:cNvSpPr/>
          <p:nvPr/>
        </p:nvSpPr>
        <p:spPr>
          <a:xfrm>
            <a:off x="12858750" y="2762250"/>
            <a:ext cx="4514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2858750" y="3286125"/>
            <a:ext cx="4514850" cy="1905000"/>
          </a:xfrm>
          <a:prstGeom prst="rect">
            <a:avLst/>
          </a:prstGeom>
          <a:noFill/>
          <a:ln/>
        </p:spPr>
        <p:txBody>
          <a:bodyPr wrap="square" lIns="0" tIns="4334" rIns="0" bIns="-4334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Dựa</a:t>
            </a:r>
            <a:r>
              <a:rPr lang="en-US" sz="19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microsoft/</a:t>
            </a:r>
            <a:r>
              <a:rPr lang="en-US" sz="19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generative-ai-for-beginners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2858750" y="4953000"/>
            <a:ext cx="4514850" cy="1143000"/>
          </a:xfrm>
          <a:prstGeom prst="rect">
            <a:avLst/>
          </a:prstGeom>
          <a:noFill/>
          <a:ln/>
        </p:spPr>
        <p:txBody>
          <a:bodyPr wrap="square" lIns="0" tIns="4001" rIns="0" bIns="-4001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 spc="-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MIT License,</a:t>
            </a:r>
            <a:r>
              <a:rPr lang="en-US" sz="1800" dirty="0" spc="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©</a:t>
            </a:r>
            <a:r>
              <a:rPr lang="en-US" sz="1800" dirty="0" spc="-8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</a:t>
            </a:r>
            <a:r>
              <a:rPr lang="en-US" sz="1800" dirty="0" spc="-7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Corporation.</a:t>
            </a:r>
            <a:r>
              <a:rPr lang="en-US" sz="1800" dirty="0" spc="-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Ghim</a:t>
            </a:r>
            <a:r>
              <a:rPr lang="en-US" sz="180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800" dirty="0" spc="-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800" dirty="0" spc="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c35bc19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fe49c214-6bba-4ee8-ae36-b7ddde11264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2026-10-20T09:59:11Z</dcterms:created>
  <dcterms:modified xsi:type="dcterms:W3CDTF">2026-10-20T09:59:11Z</dcterms:modified>
</cp:coreProperties>
</file>