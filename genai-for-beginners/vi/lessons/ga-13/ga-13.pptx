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Be Vietnam Pro SemiBold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1144250" cy="2505075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 mật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95250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1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Ngoài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 hàng,</a:t>
            </a:r>
            <a:r>
              <a:rPr lang="en-US" sz="2850" dirty="0" spc="-1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85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01980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58864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5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Vì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khai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nguy hiểm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661035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477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Đầu</a:t>
            </a:r>
            <a:r>
              <a:rPr lang="en-US" sz="2550" dirty="0" spc="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rủi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</a:t>
            </a:r>
            <a:r>
              <a:rPr lang="en-US" sz="2550" dirty="0" spc="-5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OWASP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72009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0675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Kiểm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 bảo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vệ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77914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658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Đội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đỏ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AI: giả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858750" y="2667000"/>
            <a:ext cx="447675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28575">
            <a:solidFill>
              <a:srgbClr val="3A3D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19212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1385887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16" name="Shape 14"/>
          <p:cNvSpPr/>
          <p:nvPr/>
        </p:nvSpPr>
        <p:spPr>
          <a:xfrm>
            <a:off x="1452562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519237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585912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25875" y="3000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319212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385887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452562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519237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24" name="Shape 22"/>
          <p:cNvSpPr/>
          <p:nvPr/>
        </p:nvSpPr>
        <p:spPr>
          <a:xfrm>
            <a:off x="1585912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6525875" y="36671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319212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1385887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1452562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1519237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1585912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25875" y="43338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1319212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3" name="Shape 31"/>
          <p:cNvSpPr/>
          <p:nvPr/>
        </p:nvSpPr>
        <p:spPr>
          <a:xfrm>
            <a:off x="1385887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4" name="Shape 32"/>
          <p:cNvSpPr/>
          <p:nvPr/>
        </p:nvSpPr>
        <p:spPr>
          <a:xfrm>
            <a:off x="1452562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5" name="Shape 33"/>
          <p:cNvSpPr/>
          <p:nvPr/>
        </p:nvSpPr>
        <p:spPr>
          <a:xfrm>
            <a:off x="1519237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6" name="Shape 34"/>
          <p:cNvSpPr/>
          <p:nvPr/>
        </p:nvSpPr>
        <p:spPr>
          <a:xfrm>
            <a:off x="1585912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7" name="Shape 35"/>
          <p:cNvSpPr/>
          <p:nvPr/>
        </p:nvSpPr>
        <p:spPr>
          <a:xfrm>
            <a:off x="16525875" y="500062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8" name="Shape 36"/>
          <p:cNvSpPr/>
          <p:nvPr/>
        </p:nvSpPr>
        <p:spPr>
          <a:xfrm>
            <a:off x="1319212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39" name="Shape 37"/>
          <p:cNvSpPr/>
          <p:nvPr/>
        </p:nvSpPr>
        <p:spPr>
          <a:xfrm>
            <a:off x="1385887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FFB454"/>
          </a:solidFill>
          <a:ln/>
        </p:spPr>
      </p:sp>
      <p:sp>
        <p:nvSpPr>
          <p:cNvPr id="40" name="Shape 38"/>
          <p:cNvSpPr/>
          <p:nvPr/>
        </p:nvSpPr>
        <p:spPr>
          <a:xfrm>
            <a:off x="1452562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41" name="Shape 39"/>
          <p:cNvSpPr/>
          <p:nvPr/>
        </p:nvSpPr>
        <p:spPr>
          <a:xfrm>
            <a:off x="1519237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42" name="Shape 40"/>
          <p:cNvSpPr/>
          <p:nvPr/>
        </p:nvSpPr>
        <p:spPr>
          <a:xfrm>
            <a:off x="1585912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43" name="Shape 41"/>
          <p:cNvSpPr/>
          <p:nvPr/>
        </p:nvSpPr>
        <p:spPr>
          <a:xfrm>
            <a:off x="16525875" y="5667375"/>
            <a:ext cx="476250" cy="476250"/>
          </a:xfrm>
          <a:prstGeom prst="roundRect">
            <a:avLst>
              <a:gd name="adj" fmla="val 20000"/>
            </a:avLst>
          </a:prstGeom>
          <a:solidFill>
            <a:srgbClr val="3A3D48"/>
          </a:solidFill>
          <a:ln/>
        </p:spPr>
      </p:sp>
      <p:sp>
        <p:nvSpPr>
          <p:cNvPr id="44" name="Text 42"/>
          <p:cNvSpPr/>
          <p:nvPr/>
        </p:nvSpPr>
        <p:spPr>
          <a:xfrm>
            <a:off x="12858750" y="6858000"/>
            <a:ext cx="4476750" cy="476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rác</a:t>
            </a:r>
            <a:r>
              <a:rPr lang="en-US" sz="2250" b="1" dirty="0" spc="-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vào,</a:t>
            </a:r>
            <a:r>
              <a:rPr lang="en-US" sz="22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2250" b="1" dirty="0" spc="-1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2250" dirty="0"/>
          </a:p>
        </p:txBody>
      </p:sp>
      <p:sp>
        <p:nvSpPr>
          <p:cNvPr id="45" name="Shape 4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6" name="Moda image moda-export-watermark-460ce100-efab-4795-b1f6-97a4e0b442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7200" dirty="0" spc="-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27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1432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mối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dọa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rủi</a:t>
            </a:r>
            <a:r>
              <a:rPr lang="en-US" sz="300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ro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9530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4953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Các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 thống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7627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7627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857500" y="67627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5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Vì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3000" dirty="0" spc="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niềm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80e651fe-f376-4dcc-8964-9442218522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 nguy</a:t>
            </a:r>
            <a:r>
              <a:rPr lang="en-US" sz="69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hiểm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phân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7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 lạ mà</a:t>
            </a:r>
            <a:r>
              <a:rPr lang="en-US" sz="27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vô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429000"/>
            <a:ext cx="37719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7147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57300" y="47625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khai,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endParaRPr lang="en-US" sz="2700" dirty="0"/>
          </a:p>
        </p:txBody>
      </p:sp>
      <p:sp>
        <p:nvSpPr>
          <p:cNvPr id="7" name="Connector line-1792491006324-135676219"/>
          <p:cNvSpPr/>
          <p:nvPr/>
        </p:nvSpPr>
        <p:spPr>
          <a:xfrm>
            <a:off x="4743450" y="4857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43500" y="3429000"/>
            <a:ext cx="37719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0" y="37147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5486400" y="47625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5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7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endParaRPr lang="en-US" sz="2700" dirty="0"/>
          </a:p>
        </p:txBody>
      </p:sp>
      <p:sp>
        <p:nvSpPr>
          <p:cNvPr id="11" name="Connector line-1792491006329-43990626"/>
          <p:cNvSpPr/>
          <p:nvPr/>
        </p:nvSpPr>
        <p:spPr>
          <a:xfrm>
            <a:off x="8972550" y="4857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372600" y="3429000"/>
            <a:ext cx="3771900" cy="2857500"/>
          </a:xfrm>
          <a:prstGeom prst="roundRect">
            <a:avLst>
              <a:gd name="adj" fmla="val 93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37147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9715500" y="47625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Dần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endParaRPr lang="en-US" sz="2700" dirty="0"/>
          </a:p>
        </p:txBody>
      </p:sp>
      <p:sp>
        <p:nvSpPr>
          <p:cNvPr id="15" name="Connector line-1792491006335-963653951"/>
          <p:cNvSpPr/>
          <p:nvPr/>
        </p:nvSpPr>
        <p:spPr>
          <a:xfrm>
            <a:off x="13201650" y="4857750"/>
            <a:ext cx="342900" cy="0"/>
          </a:xfrm>
          <a:prstGeom prst="line">
            <a:avLst/>
          </a:prstGeom>
          <a:noFill/>
          <a:ln w="47625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601700" y="3429000"/>
            <a:ext cx="3771900" cy="2857500"/>
          </a:xfrm>
          <a:prstGeom prst="roundRect">
            <a:avLst>
              <a:gd name="adj" fmla="val 9333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3944600" y="3714750"/>
            <a:ext cx="114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13944600" y="4762500"/>
            <a:ext cx="3143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333500" y="7048500"/>
            <a:ext cx="15621000" cy="1238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7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hình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toàn</a:t>
            </a:r>
            <a:r>
              <a:rPr lang="en-US" sz="27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vẹn</a:t>
            </a:r>
            <a:r>
              <a:rPr lang="en-US" sz="27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7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vệ.</a:t>
            </a:r>
            <a:endParaRPr lang="en-US" sz="2700" dirty="0"/>
          </a:p>
        </p:txBody>
      </p:sp>
      <p:sp>
        <p:nvSpPr>
          <p:cNvPr id="21" name="Shape 1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Text 3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4104db5-7f7d-4c71-b77e-43229b2910e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952750"/>
            <a:ext cx="152400" cy="2571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581150" y="33337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Lật nhãn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581150" y="4286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</a:t>
            </a:r>
            <a:r>
              <a:rPr lang="en-US" sz="2700" dirty="0" spc="-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-2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xếp</a:t>
            </a:r>
            <a:r>
              <a:rPr lang="en-US" sz="27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</a:t>
            </a:r>
            <a:r>
              <a:rPr lang="en-US" sz="2700" dirty="0" spc="-2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rác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29527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72600" y="2952750"/>
            <a:ext cx="152400" cy="2571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10039350" y="33337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-4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Sửa</a:t>
            </a:r>
            <a:r>
              <a:rPr lang="en-US" sz="42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đặc</a:t>
            </a:r>
            <a:r>
              <a:rPr lang="en-US" sz="4200" dirty="0" spc="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10039350" y="42862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từ</a:t>
            </a:r>
            <a:r>
              <a:rPr lang="en-US" sz="27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70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 lái</a:t>
            </a:r>
            <a:r>
              <a:rPr lang="en-US" sz="270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gợi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5810250"/>
            <a:ext cx="152400" cy="2571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4" name="Text 12"/>
          <p:cNvSpPr/>
          <p:nvPr/>
        </p:nvSpPr>
        <p:spPr>
          <a:xfrm>
            <a:off x="1581150" y="6191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Chèn</a:t>
            </a:r>
            <a:r>
              <a:rPr lang="en-US" sz="4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581150" y="7143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đánh</a:t>
            </a: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 làm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lệch</a:t>
            </a:r>
            <a:r>
              <a:rPr lang="en-US" sz="2700" dirty="0" spc="-3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72600" y="581025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5810250"/>
            <a:ext cx="152400" cy="25717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10039350" y="6191250"/>
            <a:ext cx="7048500" cy="762000"/>
          </a:xfrm>
          <a:prstGeom prst="rect">
            <a:avLst/>
          </a:prstGeom>
          <a:noFill/>
          <a:ln/>
        </p:spPr>
        <p:txBody>
          <a:bodyPr wrap="square" lIns="0" tIns="2667" rIns="0" bIns="-2667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42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Cửa</a:t>
            </a:r>
            <a:r>
              <a:rPr lang="en-US" sz="4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hậu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0039350" y="7143750"/>
            <a:ext cx="7048500" cy="857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nhận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nhầm</a:t>
            </a:r>
            <a:r>
              <a:rPr lang="en-US" sz="270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700" dirty="0" spc="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endParaRPr lang="en-US" sz="270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 04/11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badcdc3e-8029-4eab-9ab7-9d144ce55a2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Rủi</a:t>
            </a:r>
            <a:r>
              <a:rPr lang="en-US" sz="6900" dirty="0" spc="-2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ro</a:t>
            </a:r>
            <a:r>
              <a:rPr lang="en-US" sz="6900" dirty="0" spc="-1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danh sách</a:t>
            </a:r>
            <a:r>
              <a:rPr lang="en-US" sz="6900" dirty="0" spc="-13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OWASP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1295400" y="23812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3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</a:t>
            </a:r>
            <a:r>
              <a:rPr lang="en-US" sz="1800" b="1" spc="13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67500" y="23812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NGHĨA</a:t>
            </a:r>
            <a:r>
              <a:rPr lang="en-US" sz="1800" b="1" spc="14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1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Đầu</a:t>
            </a:r>
            <a:r>
              <a:rPr lang="en-US" sz="3000" dirty="0" spc="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độc</a:t>
            </a:r>
            <a:r>
              <a:rPr lang="en-US" sz="30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0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67500" y="2857500"/>
            <a:ext cx="10287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cố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70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sửa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huấn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luyện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191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191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Chèn</a:t>
            </a:r>
            <a:r>
              <a:rPr lang="en-US" sz="30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667500" y="4191000"/>
            <a:ext cx="10287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đầu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khéo léo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khiến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LLM làm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sai</a:t>
            </a: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524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5245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Chuỗi</a:t>
            </a:r>
            <a:r>
              <a:rPr lang="en-US" sz="3000" dirty="0" spc="-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cung</a:t>
            </a:r>
            <a:r>
              <a:rPr lang="en-US" sz="30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67500" y="5524500"/>
            <a:ext cx="10287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thư viện,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ngoài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68580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858000"/>
            <a:ext cx="5143500" cy="1143000"/>
          </a:xfrm>
          <a:prstGeom prst="rect">
            <a:avLst/>
          </a:prstGeom>
          <a:noFill/>
          <a:ln/>
        </p:spPr>
        <p:txBody>
          <a:bodyPr wrap="square" lIns="0" tIns="1905" rIns="0" bIns="-1905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Quá</a:t>
            </a:r>
            <a:r>
              <a:rPr lang="en-US" sz="30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tin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667500" y="6858000"/>
            <a:ext cx="102870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LLM “bịa”,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7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ngay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Text 2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 05/11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d2a49d1-0287-4886-aeb2-310cd4354a1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1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b="1" spc="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Tìm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 thác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lỗ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hổng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048000"/>
            <a:ext cx="38100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3619500"/>
            <a:ext cx="3190875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Làm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sạch dữ</a:t>
            </a:r>
            <a:r>
              <a:rPr lang="en-US" sz="36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257300" y="5048250"/>
            <a:ext cx="3190875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xóa,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ẩn danh thông</a:t>
            </a:r>
            <a:r>
              <a:rPr lang="en-US" sz="255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55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2445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24450" y="3048000"/>
            <a:ext cx="38100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5467350" y="3619500"/>
            <a:ext cx="3190875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 thử</a:t>
            </a:r>
            <a:r>
              <a:rPr lang="en-US" sz="36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kháng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467350" y="5048250"/>
            <a:ext cx="3190875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đưa</a:t>
            </a:r>
            <a:r>
              <a:rPr lang="en-US" sz="255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ví dụ</a:t>
            </a:r>
            <a:r>
              <a:rPr lang="en-US" sz="2550" dirty="0" spc="-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“gài bẫy”</a:t>
            </a:r>
            <a:r>
              <a:rPr lang="en-US" sz="2550" dirty="0" spc="-1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thử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34500" y="3048000"/>
            <a:ext cx="38100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3619500"/>
            <a:ext cx="3190875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-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minh mô</a:t>
            </a:r>
            <a:r>
              <a:rPr lang="en-US" sz="36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677400" y="5048250"/>
            <a:ext cx="3190875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chống</a:t>
            </a:r>
            <a:r>
              <a:rPr lang="en-US" sz="2550" dirty="0" spc="-1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trộm</a:t>
            </a:r>
            <a:r>
              <a:rPr lang="en-US" sz="255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3544550" y="3048000"/>
            <a:ext cx="3810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44550" y="3048000"/>
            <a:ext cx="38100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3887450" y="3619500"/>
            <a:ext cx="3190875" cy="1428750"/>
          </a:xfrm>
          <a:prstGeom prst="rect">
            <a:avLst/>
          </a:prstGeom>
          <a:noFill/>
          <a:ln/>
        </p:spPr>
        <p:txBody>
          <a:bodyPr wrap="square" lIns="0" tIns="18288" rIns="0" bIns="-18288" rtlCol="0" anchor="t"/>
          <a:lstStyle/>
          <a:p>
            <a:pPr algn="l" indent="0" marL="0">
              <a:lnSpc>
                <a:spcPts val="4032"/>
              </a:lnSpc>
              <a:buNone/>
            </a:pP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Kiểm</a:t>
            </a:r>
            <a:r>
              <a:rPr lang="en-US" sz="36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36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6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887450" y="5048250"/>
            <a:ext cx="3190875" cy="1714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255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550" dirty="0" spc="-1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nhất</a:t>
            </a:r>
            <a:r>
              <a:rPr lang="en-US" sz="255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quán,</a:t>
            </a:r>
            <a:r>
              <a:rPr lang="en-US" sz="255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550" dirty="0" spc="-1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Text 29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3e450e71-dae0-4463-ad34-726298ac5fc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Bảo</a:t>
            </a:r>
            <a:r>
              <a:rPr lang="en-US" sz="7200" dirty="0" spc="-7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72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72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270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chỉ,</a:t>
            </a: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3528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sẻ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1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31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2857500" y="398145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tránh</a:t>
            </a:r>
            <a:r>
              <a:rPr lang="en-US" sz="25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1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cảm,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953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9530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516255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31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1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150" b="1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857500" y="579120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luôn</a:t>
            </a:r>
            <a:r>
              <a:rPr lang="en-US" sz="2550" dirty="0" spc="-18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</a:t>
            </a:r>
            <a:r>
              <a:rPr lang="en-US" sz="2550" dirty="0" spc="17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</a:t>
            </a: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chính</a:t>
            </a:r>
            <a:r>
              <a:rPr lang="en-US" sz="2550" dirty="0" spc="-1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67627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67627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6972300"/>
            <a:ext cx="14097000" cy="5715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Báo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31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1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2857500" y="7600950"/>
            <a:ext cx="140970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nội dung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lạc</a:t>
            </a:r>
            <a:r>
              <a:rPr lang="en-US" sz="2550" dirty="0" spc="1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đề,</a:t>
            </a: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sai,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hại: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550" dirty="0" spc="-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550" dirty="0" spc="-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d534c23-f810-4888-ac41-efd48610dc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1950" b="1" spc="15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 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Giả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5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kẻ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7800" y="34290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8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 ĐỎ</a:t>
            </a:r>
            <a:r>
              <a:rPr lang="en-US" sz="2100" b="1" spc="144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100" b="1" spc="149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47800" y="4400550"/>
            <a:ext cx="209550" cy="209550"/>
          </a:xfrm>
          <a:prstGeom prst="ellipse">
            <a:avLst/>
          </a:prstGeom>
          <a:solidFill>
            <a:srgbClr val="9A9890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41910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8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1447800" y="5543550"/>
            <a:ext cx="209550" cy="209550"/>
          </a:xfrm>
          <a:prstGeom prst="ellipse">
            <a:avLst/>
          </a:prstGeom>
          <a:solidFill>
            <a:srgbClr val="9A9890"/>
          </a:solidFill>
          <a:ln/>
        </p:spPr>
      </p:sp>
      <p:sp>
        <p:nvSpPr>
          <p:cNvPr id="9" name="Text 7"/>
          <p:cNvSpPr/>
          <p:nvPr/>
        </p:nvSpPr>
        <p:spPr>
          <a:xfrm>
            <a:off x="1866900" y="53340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Chủ</a:t>
            </a:r>
            <a:r>
              <a:rPr lang="en-US" sz="285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28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kẻ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372600" y="2952750"/>
            <a:ext cx="80010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34290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 ĐỎ AI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0" y="4400550"/>
            <a:ext cx="209550" cy="2095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0325100" y="41910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Bảo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AI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trách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nhiệm</a:t>
            </a:r>
            <a:endParaRPr lang="en-US" sz="2850" dirty="0"/>
          </a:p>
        </p:txBody>
      </p:sp>
      <p:sp>
        <p:nvSpPr>
          <p:cNvPr id="14" name="Shape 12"/>
          <p:cNvSpPr/>
          <p:nvPr/>
        </p:nvSpPr>
        <p:spPr>
          <a:xfrm>
            <a:off x="9906000" y="5543550"/>
            <a:ext cx="209550" cy="2095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25100" y="53340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3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kẻ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xấu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lẫn</a:t>
            </a:r>
            <a:r>
              <a:rPr lang="en-US" sz="285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906000" y="6686550"/>
            <a:ext cx="209550" cy="20955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325100" y="6477000"/>
            <a:ext cx="6667500" cy="666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Làm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liên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 08/11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9b4e483-0193-4f51-9051-82b5d04efb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1950" b="1" spc="15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ĐỎ AI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5621000" cy="4000500"/>
          </a:xfrm>
          <a:prstGeom prst="rect">
            <a:avLst/>
          </a:prstGeom>
          <a:noFill/>
          <a:ln/>
        </p:spPr>
        <p:txBody>
          <a:bodyPr wrap="square" lIns="0" tIns="47625" rIns="0" bIns="-47625" rtlCol="0" anchor="t"/>
          <a:lstStyle/>
          <a:p>
            <a:pPr algn="l" indent="0" marL="0">
              <a:lnSpc>
                <a:spcPts val="8250"/>
              </a:lnSpc>
              <a:buNone/>
            </a:pP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Đội</a:t>
            </a:r>
            <a:r>
              <a:rPr lang="en-US" sz="75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đỏ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75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bổ</a:t>
            </a:r>
            <a:r>
              <a:rPr lang="en-US" sz="75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sung</a:t>
            </a:r>
            <a:pPr algn="l" indent="0" marL="0">
              <a:lnSpc>
                <a:spcPts val="8250"/>
              </a:lnSpc>
              <a:buNone/>
            </a:pPr>
            <a:r>
              <a:rPr lang="en-US" sz="75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thay thế</a:t>
            </a:r>
            <a:r>
              <a:rPr lang="en-US" sz="7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75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r>
              <a:rPr lang="en-US" sz="75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bảo</a:t>
            </a:r>
            <a:r>
              <a:rPr lang="en-US" sz="7500" dirty="0" spc="-7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vệ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khác.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700" dirty="0" spc="-2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(RBAC)</a:t>
            </a:r>
            <a:r>
              <a:rPr lang="en-US" sz="270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6" name="Shape 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8" name="Shape 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9" name="Shape 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0" name="Shape 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2" name="Shape 1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5" name="Shape 1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Text 1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735294c-1ac7-4ac2-8c9f-305c7c6169b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Cách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7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tốt</a:t>
            </a:r>
            <a:r>
              <a:rPr lang="en-US" sz="270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toàn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vẹn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7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tránh</a:t>
            </a:r>
            <a:r>
              <a:rPr lang="en-US" sz="27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bị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lạm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762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300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chẽ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30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15100" y="2857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96100" y="3143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3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896100" y="4762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30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30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3000" b="1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30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2115800" y="2857500"/>
            <a:ext cx="5257800" cy="419100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96800" y="314325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6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12496800" y="476250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30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A. Cấp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đúng</a:t>
            </a:r>
            <a:r>
              <a:rPr lang="en-US" sz="25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 đúng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55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ngăn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lớn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55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sửa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Text 2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e53b37e-371b-4952-bafc-21134290d3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914400" y="20955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0955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000500" y="20955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Artificial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Intelligence: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trí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tuệ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30480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0480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ML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000500" y="30480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Machine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Learning: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máy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0005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0005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000500" y="40005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49530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49530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5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ATLAS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000500" y="49530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kho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chiến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thuật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 của MITRE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9055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95400" y="59055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OWASP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000500" y="59055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Open</a:t>
            </a:r>
            <a:r>
              <a:rPr lang="en-US" sz="2550" dirty="0" spc="-3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Application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Security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Project: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bảo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mật</a:t>
            </a:r>
            <a:r>
              <a:rPr lang="en-US" sz="255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web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6858000"/>
            <a:ext cx="16459200" cy="819150"/>
          </a:xfrm>
          <a:prstGeom prst="roundRect">
            <a:avLst>
              <a:gd name="adj" fmla="val 2093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858000"/>
            <a:ext cx="24765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RBAC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000500" y="6858000"/>
            <a:ext cx="1295400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Role-Based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Access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Control: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phân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quyền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vai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trò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09625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21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 License,</a:t>
            </a:r>
            <a:r>
              <a:rPr lang="en-US" sz="21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14400" y="8572500"/>
            <a:ext cx="16459200" cy="4381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8" name="Shape 26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9" name="Shape 27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0" name="Shape 28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1" name="Shape 29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2" name="Shape 30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33" name="Shape 31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Text 32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13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cb47362-847f-491a-ae95-3f5495625c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2026-10-20T10:16:45Z</dcterms:created>
  <dcterms:modified xsi:type="dcterms:W3CDTF">2026-10-20T10:16:45Z</dcterms:modified>
</cp:coreProperties>
</file>