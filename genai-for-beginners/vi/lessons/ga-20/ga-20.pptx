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JetBrains Mono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914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144000" cy="2476500"/>
          </a:xfrm>
          <a:prstGeom prst="rect">
            <a:avLst/>
          </a:prstGeom>
          <a:noFill/>
          <a:ln/>
        </p:spPr>
        <p:txBody>
          <a:bodyPr wrap="square" lIns="0" tIns="54864" rIns="0" bIns="-54864" rtlCol="0" anchor="t"/>
          <a:lstStyle/>
          <a:p>
            <a:pPr algn="l" indent="0" marL="0">
              <a:lnSpc>
                <a:spcPts val="7776"/>
              </a:lnSpc>
              <a:buNone/>
            </a:pPr>
            <a:r>
              <a:rPr lang="en-US" sz="7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7200" dirty="0" spc="-8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72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Mistral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30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endParaRPr lang="en-US" sz="3000" dirty="0"/>
          </a:p>
        </p:txBody>
      </p:sp>
      <p:sp>
        <p:nvSpPr>
          <p:cNvPr id="5" name="Connector line-1792491011456-775121997"/>
          <p:cNvSpPr/>
          <p:nvPr/>
        </p:nvSpPr>
        <p:spPr>
          <a:xfrm>
            <a:off x="914400" y="7524750"/>
            <a:ext cx="8229600" cy="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762875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10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miễn</a:t>
            </a:r>
            <a:r>
              <a:rPr lang="en-US" sz="21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100" dirty="0" spc="-1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1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100" dirty="0" spc="-1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Foundry</a:t>
            </a:r>
            <a:r>
              <a:rPr lang="en-US" sz="2100" dirty="0" spc="-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0" y="20955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01350" y="25146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650" b="1" spc="22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6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2706350" y="24574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Large,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Small,</a:t>
            </a: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NeMo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0" y="35242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801350" y="39433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1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706350" y="38862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22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0" y="495300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01350" y="53721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SMALL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706350" y="531495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SLM:</a:t>
            </a:r>
            <a:r>
              <a:rPr lang="en-US" sz="22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</a:t>
            </a:r>
            <a:r>
              <a:rPr lang="en-US" sz="22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0477500" y="6381750"/>
            <a:ext cx="68961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01350" y="680085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NEMO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706350" y="67437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Miễn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phí,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8c81510f-e4f5-464f-9b6f-9c2f5cf1e43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5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1800" b="1" spc="29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2382500" cy="2476500"/>
          </a:xfrm>
          <a:prstGeom prst="rect">
            <a:avLst/>
          </a:prstGeom>
          <a:noFill/>
          <a:ln/>
        </p:spPr>
        <p:txBody>
          <a:bodyPr wrap="square" lIns="0" tIns="45720" rIns="0" bIns="-45720" rtlCol="0" anchor="t"/>
          <a:lstStyle/>
          <a:p>
            <a:pPr algn="l" indent="0" marL="0">
              <a:lnSpc>
                <a:spcPts val="7920"/>
              </a:lnSpc>
              <a:buNone/>
            </a:pPr>
            <a:r>
              <a:rPr lang="en-US" sz="72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Mistral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hình,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</a:t>
            </a:r>
            <a:r>
              <a:rPr lang="en-US" sz="72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953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XONG,</a:t>
            </a:r>
            <a:r>
              <a:rPr lang="en-US" sz="180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5524500"/>
            <a:ext cx="5286375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7626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238250" y="652462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96050" y="5524500"/>
            <a:ext cx="5286375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6819900" y="57626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19900" y="652462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2077700" y="5524500"/>
            <a:ext cx="5295900" cy="2286000"/>
          </a:xfrm>
          <a:prstGeom prst="roundRect">
            <a:avLst>
              <a:gd name="adj" fmla="val 10000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401550" y="5762625"/>
            <a:ext cx="457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12401550" y="652462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223eab19-d80e-43be-9e47-e6e6957a9e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miễn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714500"/>
          </a:xfrm>
          <a:prstGeom prst="roundRect">
            <a:avLst>
              <a:gd name="adj" fmla="val 13333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143250"/>
            <a:ext cx="5334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Mistral</a:t>
            </a:r>
            <a:r>
              <a:rPr lang="en-US" sz="3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Large</a:t>
            </a:r>
            <a:r>
              <a:rPr lang="en-US" sz="3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33500" y="3810000"/>
            <a:ext cx="533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100" dirty="0" spc="8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100" dirty="0" spc="-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doanh</a:t>
            </a:r>
            <a:r>
              <a:rPr lang="en-US" sz="210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20000" y="3381375"/>
            <a:ext cx="933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với:</a:t>
            </a:r>
            <a:r>
              <a:rPr lang="en-US" sz="2400" b="1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RAG,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hàm,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676400" y="4762500"/>
            <a:ext cx="14935200" cy="1714500"/>
          </a:xfrm>
          <a:prstGeom prst="roundRect">
            <a:avLst>
              <a:gd name="adj" fmla="val 13333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95500" y="5048250"/>
            <a:ext cx="495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Mistral</a:t>
            </a:r>
            <a:r>
              <a:rPr lang="en-US" sz="36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Small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95500" y="5715000"/>
            <a:ext cx="4953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 (SLM)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620000" y="5286375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với: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chữ,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nhanh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2438400" y="6667500"/>
            <a:ext cx="13411200" cy="1714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7500" y="695325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Mistral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NeMo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857500" y="7620000"/>
            <a:ext cx="457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Miễn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phí,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Apache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620000" y="7191375"/>
            <a:ext cx="7810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Hợp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với: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chỉnh,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hàm,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22cf343-d020-4964-bb52-4b57ce77920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MISTRAL</a:t>
            </a:r>
            <a:r>
              <a:rPr lang="en-US" sz="1800" b="1" spc="28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LARGE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Hơn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Mistral</a:t>
            </a:r>
            <a:r>
              <a:rPr lang="en-US" sz="69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Large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gốc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9087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1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1800" b="1" spc="227" kern="0" dirty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35" kern="0">
                <a:solidFill>
                  <a:srgbClr val="9A9DA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32k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1295400" y="490537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95400" y="5810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95" kern="0">
                <a:solidFill>
                  <a:srgbClr val="9A9DA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60,4%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1295400" y="690562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9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1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1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-1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1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372600" y="285750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53600" y="3190875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2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(2407)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753600" y="38100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128k</a:t>
            </a:r>
            <a:endParaRPr lang="en-US" sz="6600" dirty="0"/>
          </a:p>
        </p:txBody>
      </p:sp>
      <p:sp>
        <p:nvSpPr>
          <p:cNvPr id="13" name="Text 11"/>
          <p:cNvSpPr/>
          <p:nvPr/>
        </p:nvSpPr>
        <p:spPr>
          <a:xfrm>
            <a:off x="9753600" y="490537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753600" y="581025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5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76,9%</a:t>
            </a:r>
            <a:endParaRPr lang="en-US" sz="6600" dirty="0"/>
          </a:p>
        </p:txBody>
      </p:sp>
      <p:sp>
        <p:nvSpPr>
          <p:cNvPr id="15" name="Text 13"/>
          <p:cNvSpPr/>
          <p:nvPr/>
        </p:nvSpPr>
        <p:spPr>
          <a:xfrm>
            <a:off x="9753600" y="6905625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1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753600" y="752475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4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19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6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950" dirty="0" spc="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1950" dirty="0" spc="-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cả</a:t>
            </a:r>
            <a:r>
              <a:rPr lang="en-US" sz="195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Nhật,</a:t>
            </a:r>
            <a:r>
              <a:rPr lang="en-US" sz="19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5625541-8968-4998-a239-fb85d66f78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MISTRAL</a:t>
            </a:r>
            <a:r>
              <a:rPr lang="en-US" sz="1800" b="1" spc="28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LARGE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F3DFB8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RAG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95400" y="4476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496050" y="2857500"/>
            <a:ext cx="5286375" cy="3810000"/>
          </a:xfrm>
          <a:prstGeom prst="roundRect">
            <a:avLst>
              <a:gd name="adj" fmla="val 7000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687705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7705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 hàm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77050" y="4476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ngoài,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hoặc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077700" y="2857500"/>
            <a:ext cx="5295900" cy="3810000"/>
          </a:xfrm>
          <a:prstGeom prst="roundRect">
            <a:avLst>
              <a:gd name="adj" fmla="val 7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12458700" y="3190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58700" y="3667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Sinh mã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2458700" y="4476750"/>
            <a:ext cx="45720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Giỏi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Java,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TypeScript</a:t>
            </a:r>
            <a:r>
              <a:rPr lang="en-US" sz="22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C++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7048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7258050"/>
            <a:ext cx="1581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800" b="1" spc="21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RAG:</a:t>
            </a:r>
            <a:r>
              <a:rPr lang="en-US" sz="1800" b="1" spc="20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HÀN,</a:t>
            </a:r>
            <a:r>
              <a:rPr lang="en-US" sz="1800" b="1" spc="22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1800" b="1" spc="2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VECTOR</a:t>
            </a:r>
            <a:r>
              <a:rPr lang="en-US" sz="1800" b="1" spc="2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FAISS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95400" y="7734300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D, I = index.search(question_embeddings.reshape(1, -1), k=2)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30dce963-07a3-4bcd-a46d-163667aeb8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MISTRAL</a:t>
            </a:r>
            <a:r>
              <a:rPr lang="en-US" sz="1800" b="1" spc="29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SMALL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SLM:</a:t>
            </a:r>
            <a:r>
              <a:rPr lang="en-US" sz="69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rẻ</a:t>
            </a:r>
            <a:r>
              <a:rPr lang="en-US" sz="6900" dirty="0" spc="-7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9525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spc="-2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80%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914400" y="63817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33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7143750"/>
            <a:ext cx="9525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với</a:t>
            </a:r>
            <a:r>
              <a:rPr lang="en-US" sz="24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LLM</a:t>
            </a:r>
            <a:r>
              <a:rPr lang="en-US" sz="240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</a:t>
            </a:r>
            <a:r>
              <a:rPr lang="en-US" sz="24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3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Large</a:t>
            </a:r>
            <a:r>
              <a:rPr lang="en-US" sz="2400" dirty="0" spc="-15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NeMo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049000" y="3048000"/>
            <a:ext cx="63246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19050">
            <a:solidFill>
              <a:srgbClr val="2E32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3381375"/>
            <a:ext cx="5619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CÒN</a:t>
            </a: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0" y="3905250"/>
            <a:ext cx="56197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Nhanh:</a:t>
            </a:r>
            <a:r>
              <a:rPr lang="en-US" sz="22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các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 của</a:t>
            </a:r>
            <a:r>
              <a:rPr lang="en-US" sz="22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430000" y="4810125"/>
            <a:ext cx="56197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hoạt: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0" y="5476875"/>
            <a:ext cx="5619750" cy="952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Ít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df954bf-f89a-4fc6-b906-613d34c6fd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MISTRAL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SMALL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Small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6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5596128"/>
                <a:gridCol w="10863072"/>
              </a:tblGrid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Loại</a:t>
                      </a: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việc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Ví dụ, lý</a:t>
                      </a:r>
                      <a:r>
                        <a:rPr lang="en-US" sz="2250" b="1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do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766E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</a:t>
                      </a:r>
                      <a:r>
                        <a:rPr lang="en-US" sz="2250" dirty="0" spc="3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chữ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67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Tóm</a:t>
                      </a:r>
                      <a:r>
                        <a:rPr lang="en-US" sz="2250" dirty="0" spc="-19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tắt,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phân tích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cảm</a:t>
                      </a:r>
                      <a:r>
                        <a:rPr lang="en-US" sz="2250" dirty="0" spc="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xúc, dịch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Gọi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mô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2250" dirty="0" spc="6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thường</a:t>
                      </a:r>
                      <a:r>
                        <a:rPr lang="en-US" sz="2250" dirty="0" spc="-1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xuyên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55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Vì</a:t>
                      </a:r>
                      <a:r>
                        <a:rPr lang="en-US" sz="2250" dirty="0" spc="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nó</a:t>
                      </a:r>
                      <a:r>
                        <a:rPr lang="en-US" sz="2250" dirty="0" spc="-3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rẻ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  <a:tr h="10001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Việc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</a:t>
                      </a:r>
                      <a:r>
                        <a:rPr lang="en-US" sz="2250" dirty="0" spc="0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nhanh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34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Xem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lại mã,</a:t>
                      </a:r>
                      <a:r>
                        <a:rPr lang="en-US" sz="2250" dirty="0" spc="-11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gợi</a:t>
                      </a:r>
                      <a:r>
                        <a:rPr lang="en-US" sz="2250" dirty="0" spc="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ý</a:t>
                      </a:r>
                      <a:r>
                        <a:rPr lang="en-US" sz="2250" dirty="0" spc="-2" kern="0">
                          <a:solidFill>
                            <a:srgbClr val="14161C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mã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7143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/>
        </p:spPr>
      </p:sp>
      <p:sp>
        <p:nvSpPr>
          <p:cNvPr id="6" name="Text 3"/>
          <p:cNvSpPr/>
          <p:nvPr/>
        </p:nvSpPr>
        <p:spPr>
          <a:xfrm>
            <a:off x="1295400" y="7353300"/>
            <a:ext cx="1581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SMALL</a:t>
            </a:r>
            <a:r>
              <a:rPr lang="en-US" sz="1800" b="1" spc="21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LARGE,</a:t>
            </a:r>
            <a:r>
              <a:rPr lang="en-US" sz="1800" b="1" spc="22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20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1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95400" y="7810500"/>
            <a:ext cx="1581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chênh nhau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a464a077-d1e2-4ac1-a546-8573ad3969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MISTRAL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NEMO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Miễn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phí, giấy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Apache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 nâng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của</a:t>
            </a:r>
            <a:r>
              <a:rPr lang="en-US" sz="225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Mistral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7B,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25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14400" y="3238500"/>
            <a:ext cx="5286375" cy="2952750"/>
          </a:xfrm>
          <a:prstGeom prst="roundRect">
            <a:avLst>
              <a:gd name="adj" fmla="val 9032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3571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TOKENIZER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TEKKEN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5400" y="4048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33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33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 hơn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295400" y="48577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tiktoken;</a:t>
            </a:r>
            <a:r>
              <a:rPr lang="en-US" sz="22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96050" y="3238500"/>
            <a:ext cx="5286375" cy="2952750"/>
          </a:xfrm>
          <a:prstGeom prst="roundRect">
            <a:avLst>
              <a:gd name="adj" fmla="val 9032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6877050" y="3571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77050" y="4048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Tinh chỉnh</a:t>
            </a:r>
            <a:r>
              <a:rPr lang="en-US" sz="33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877050" y="48577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2077700" y="3238500"/>
            <a:ext cx="5295900" cy="2952750"/>
          </a:xfrm>
          <a:prstGeom prst="roundRect">
            <a:avLst>
              <a:gd name="adj" fmla="val 9032"/>
            </a:avLst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458700" y="3571875"/>
            <a:ext cx="4572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1800" b="1" spc="225" kern="0" dirty="0">
                <a:solidFill>
                  <a:srgbClr val="F8D9D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458700" y="4048125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Có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sẵn,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33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Large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2458700" y="485775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 làm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14400" y="6667500"/>
            <a:ext cx="16459200" cy="1143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5400" y="6858000"/>
            <a:ext cx="15811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800" b="1" spc="21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1800" b="1" spc="17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TOKEN,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1800" b="1" spc="20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1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95400" y="7258050"/>
            <a:ext cx="15811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NeMo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Large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e92a123b-04a0-4025-8be4-38ccaa2133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3238500"/>
          </a:xfrm>
          <a:prstGeom prst="rect">
            <a:avLst/>
          </a:prstGeom>
          <a:noFill/>
          <a:ln/>
        </p:spPr>
        <p:txBody>
          <a:bodyPr wrap="square" lIns="0" tIns="17145" rIns="0" bIns="-17145" rtlCol="0" anchor="t"/>
          <a:lstStyle/>
          <a:p>
            <a:pPr algn="l" indent="0" marL="0">
              <a:lnSpc>
                <a:spcPts val="6210"/>
              </a:lnSpc>
              <a:buNone/>
            </a:pPr>
            <a:r>
              <a:rPr lang="en-US" sz="5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4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5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nghìn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54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ngày</a:t>
            </a:r>
            <a:r>
              <a:rPr lang="en-US" sz="54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4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54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 nhắn</a:t>
            </a:r>
            <a:r>
              <a:rPr lang="en-US" sz="54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ngắn,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4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nhanh.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4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4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6459200" cy="3048000"/>
          </a:xfrm>
          <a:prstGeom prst="roundRect">
            <a:avLst>
              <a:gd name="adj" fmla="val 875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5667375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33500" y="6143625"/>
            <a:ext cx="1562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Mistral</a:t>
            </a:r>
            <a:r>
              <a:rPr lang="en-US" sz="5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Small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333500" y="7191375"/>
            <a:ext cx="15621000" cy="952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5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Rẻ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(giá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80%),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nhanh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0561e42a-6f82-4fe0-92c6-bcd07e1bac6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1657350"/>
                <a:gridCol w="4640580"/>
                <a:gridCol w="4751070"/>
              </a:tblGrid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Viết</a:t>
                      </a:r>
                      <a:r>
                        <a:rPr lang="en-US" sz="195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6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Tên</a:t>
                      </a:r>
                      <a:r>
                        <a:rPr lang="en-US" sz="19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 đủ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E324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LLM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3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Large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1950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lớn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SLM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Small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Language</a:t>
                      </a: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Model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Mô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hình</a:t>
                      </a:r>
                      <a:r>
                        <a:rPr lang="en-US" sz="195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ngôn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r>
                        <a:rPr lang="en-US" sz="19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nhỏ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2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RAG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1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Retrieval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Augmented</a:t>
                      </a:r>
                      <a:r>
                        <a:rPr lang="en-US" sz="1950" dirty="0" spc="-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Generation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tài</a:t>
                      </a: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liệu</a:t>
                      </a:r>
                      <a:r>
                        <a:rPr lang="en-US" sz="1950" dirty="0" spc="-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rồi</a:t>
                      </a:r>
                      <a:r>
                        <a:rPr lang="en-US" sz="1950" dirty="0" spc="8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đưa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vào</a:t>
                      </a:r>
                      <a:r>
                        <a:rPr lang="en-US" sz="1950" dirty="0" spc="-1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prompt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1950" dirty="0" spc="-1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Cổng</a:t>
                      </a:r>
                      <a:r>
                        <a:rPr lang="en-US" sz="195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19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chức</a:t>
                      </a:r>
                      <a:r>
                        <a:rPr lang="en-US" sz="195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năng</a:t>
                      </a:r>
                      <a:r>
                        <a:rPr lang="en-US" sz="195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chương</a:t>
                      </a:r>
                      <a:r>
                        <a:rPr lang="en-US" sz="1950" dirty="0" spc="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195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endParaRPr lang="en-US" sz="1200" dirty="0"/>
                    </a:p>
                  </a:txBody>
                  <a:tcPr marL="76200" marR="76200" marT="76200" marB="76200">
                    <a:lnL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491164885-846895866"/>
          <p:cNvSpPr/>
          <p:nvPr/>
        </p:nvSpPr>
        <p:spPr>
          <a:xfrm>
            <a:off x="12477750" y="2762250"/>
            <a:ext cx="0" cy="5810250"/>
          </a:xfrm>
          <a:prstGeom prst="line">
            <a:avLst/>
          </a:prstGeom>
          <a:noFill/>
          <a:ln w="19050">
            <a:solidFill>
              <a:srgbClr val="2E3240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12858750" y="2762250"/>
            <a:ext cx="4514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858750" y="3286125"/>
            <a:ext cx="4514850" cy="1905000"/>
          </a:xfrm>
          <a:prstGeom prst="rect">
            <a:avLst/>
          </a:prstGeom>
          <a:noFill/>
          <a:ln/>
        </p:spPr>
        <p:txBody>
          <a:bodyPr wrap="square" lIns="0" tIns="4334" rIns="0" bIns="-4334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 generative-ai-for-beginners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2858750" y="4953000"/>
            <a:ext cx="4514850" cy="114300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MIT License,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Corporation.</a:t>
            </a:r>
            <a:r>
              <a:rPr lang="en-US" sz="1800" dirty="0" spc="-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r>
              <a:rPr lang="en-US" sz="180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dirty="0" spc="-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4400" y="971550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1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D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d76d6d89-7586-4c94-b0c1-7d99e52795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2026-10-20T10:16:10Z</dcterms:created>
  <dcterms:modified xsi:type="dcterms:W3CDTF">2026-10-20T10:16:10Z</dcterms:modified>
</cp:coreProperties>
</file>