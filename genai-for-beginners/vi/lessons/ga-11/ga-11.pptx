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8288000" cy="10287000"/>
  <p:notesSz cx="10287000" cy="18288000"/>
  <p:embeddedFontLst>
    <p:embeddedFont>
      <p:font typeface="Be Vietnam Pro"/>
      <p:regular r:id="rId20"/>
      <p:bold r:id="rId18"/>
    </p:embeddedFont>
    <p:embeddedFont>
      <p:font typeface="Bricolage Grotesque ExtraBold"/>
      <p:regular r:id="rId19"/>
    </p:embeddedFont>
    <p:embeddedFont>
      <p:font typeface="Be Vietnam Pro Medium"/>
      <p:regular r:id="rId21"/>
    </p:embeddedFont>
    <p:embeddedFont>
      <p:font typeface="JetBrains Mono"/>
      <p:bold r:id="rId22"/>
    </p:embeddedFont>
    <p:embeddedFont>
      <p:font typeface="JetBrains Mono Medium"/>
      <p:regular r:id="rId23"/>
    </p:embeddedFont>
    <p:embeddedFont>
      <p:font typeface="JetBrains Mono SemiBold"/>
      <p:regular r:id="rId24"/>
    </p:embeddedFont>
    <p:embeddedFont>
      <p:font typeface="Be Vietnam Pro SemiBold"/>
      <p:regular r:id="rId2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Relationship Id="rId24" Type="http://schemas.openxmlformats.org/officeDocument/2006/relationships/font" Target="fonts/font7.fntdata"/><Relationship Id="rId25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47750"/>
            <a:ext cx="11430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31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GENERATIVE</a:t>
            </a:r>
            <a:r>
              <a:rPr lang="en-US" sz="1950" b="1" spc="152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AI</a:t>
            </a:r>
            <a:r>
              <a:rPr lang="en-US" sz="1950" b="1" spc="150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950" b="1" spc="151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1950" b="1" spc="150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1950" b="1" spc="146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145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151" kern="0" dirty="0">
                <a:solidFill>
                  <a:srgbClr val="9A989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619250"/>
            <a:ext cx="10668000" cy="3429000"/>
          </a:xfrm>
          <a:prstGeom prst="rect">
            <a:avLst/>
          </a:prstGeom>
          <a:noFill/>
          <a:ln/>
        </p:spPr>
        <p:txBody>
          <a:bodyPr wrap="square" lIns="0" tIns="69437" rIns="0" bIns="-69437" rtlCol="0" anchor="t"/>
          <a:lstStyle/>
          <a:p>
            <a:pPr algn="l" indent="0" marL="0">
              <a:lnSpc>
                <a:spcPts val="8505"/>
              </a:lnSpc>
              <a:buNone/>
            </a:pP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Gọi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hàm</a:t>
            </a:r>
            <a:r>
              <a:rPr lang="en-US" sz="81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nối</a:t>
            </a:r>
            <a:r>
              <a:rPr lang="en-US" sz="81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81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bên</a:t>
            </a:r>
            <a:r>
              <a:rPr lang="en-US" sz="8100" dirty="0" spc="-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ngoài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5334000"/>
            <a:ext cx="9334500" cy="1047750"/>
          </a:xfrm>
          <a:prstGeom prst="rect">
            <a:avLst/>
          </a:prstGeom>
          <a:noFill/>
          <a:ln/>
        </p:spPr>
        <p:txBody>
          <a:bodyPr wrap="square" lIns="0" tIns="15383" rIns="0" bIns="-15383" rtlCol="0" anchor="t"/>
          <a:lstStyle/>
          <a:p>
            <a:pPr algn="l" indent="0" marL="0">
              <a:lnSpc>
                <a:spcPts val="3705"/>
              </a:lnSpc>
              <a:buNone/>
            </a:pPr>
            <a:r>
              <a:rPr lang="en-US" sz="2850" dirty="0" spc="-39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Làm</a:t>
            </a:r>
            <a:r>
              <a:rPr lang="en-US" sz="2850" dirty="0" spc="-4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850" dirty="0" spc="20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850" dirty="0" spc="5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LLM</a:t>
            </a:r>
            <a:r>
              <a:rPr lang="en-US" sz="2850" dirty="0" spc="-28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850" dirty="0" spc="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850" dirty="0" spc="-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850" dirty="0" spc="-2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khuôn</a:t>
            </a:r>
            <a:r>
              <a:rPr lang="en-US" sz="2850" dirty="0" spc="-16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850" dirty="0" spc="-2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850" dirty="0" spc="-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850" dirty="0" spc="2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850" dirty="0" spc="-1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ngoài?</a:t>
            </a:r>
            <a:endParaRPr lang="en-US" sz="2850" dirty="0"/>
          </a:p>
        </p:txBody>
      </p:sp>
      <p:sp>
        <p:nvSpPr>
          <p:cNvPr id="5" name="Shape 3"/>
          <p:cNvSpPr/>
          <p:nvPr/>
        </p:nvSpPr>
        <p:spPr>
          <a:xfrm>
            <a:off x="914400" y="6781800"/>
            <a:ext cx="190500" cy="1905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6" name="Text 4"/>
          <p:cNvSpPr/>
          <p:nvPr/>
        </p:nvSpPr>
        <p:spPr>
          <a:xfrm>
            <a:off x="1295400" y="6648450"/>
            <a:ext cx="8572500" cy="476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5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Vì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sao</a:t>
            </a: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cần:</a:t>
            </a:r>
            <a:r>
              <a:rPr lang="en-US" sz="2400" dirty="0" spc="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định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dạng</a:t>
            </a:r>
            <a:r>
              <a:rPr lang="en-US" sz="24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lệch,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thiếu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914400" y="7372350"/>
            <a:ext cx="190500" cy="190500"/>
          </a:xfrm>
          <a:prstGeom prst="ellipse">
            <a:avLst/>
          </a:prstGeom>
          <a:solidFill>
            <a:srgbClr val="7C93FF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7239000"/>
            <a:ext cx="8572500" cy="476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LLM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không</a:t>
            </a:r>
            <a:r>
              <a:rPr lang="en-US" sz="240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chạy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hàm,</a:t>
            </a:r>
            <a:r>
              <a:rPr lang="en-US" sz="2400" dirty="0" spc="2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ứng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dụng</a:t>
            </a:r>
            <a:r>
              <a:rPr lang="en-US" sz="2400" dirty="0" spc="-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chạy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914400" y="7962900"/>
            <a:ext cx="190500" cy="190500"/>
          </a:xfrm>
          <a:prstGeom prst="ellipse">
            <a:avLst/>
          </a:prstGeom>
          <a:solidFill>
            <a:srgbClr val="FFB454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7829550"/>
            <a:ext cx="8572500" cy="476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Gọi công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cụ,</a:t>
            </a: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truy</a:t>
            </a:r>
            <a:r>
              <a:rPr lang="en-US" sz="240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vấn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API,</a:t>
            </a:r>
            <a:r>
              <a:rPr lang="en-US" sz="240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tạo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14400" y="8553450"/>
            <a:ext cx="190500" cy="190500"/>
          </a:xfrm>
          <a:prstGeom prst="ellipse">
            <a:avLst/>
          </a:prstGeom>
          <a:solidFill>
            <a:srgbClr val="3DD6A0"/>
          </a:solidFill>
          <a:ln/>
        </p:spPr>
      </p:sp>
      <p:sp>
        <p:nvSpPr>
          <p:cNvPr id="12" name="Text 10"/>
          <p:cNvSpPr/>
          <p:nvPr/>
        </p:nvSpPr>
        <p:spPr>
          <a:xfrm>
            <a:off x="1295400" y="8420100"/>
            <a:ext cx="8572500" cy="476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Ba</a:t>
            </a:r>
            <a:r>
              <a:rPr lang="en-US" sz="2400" dirty="0" spc="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bước</a:t>
            </a:r>
            <a:r>
              <a:rPr lang="en-US" sz="240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tạo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lời</a:t>
            </a:r>
            <a:r>
              <a:rPr lang="en-US" sz="240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gọi</a:t>
            </a:r>
            <a:r>
              <a:rPr lang="en-US" sz="240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hàm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1620500" y="2190750"/>
            <a:ext cx="5715000" cy="4953000"/>
          </a:xfrm>
          <a:prstGeom prst="roundRect">
            <a:avLst>
              <a:gd name="adj" fmla="val 5385"/>
            </a:avLst>
          </a:prstGeom>
          <a:solidFill>
            <a:srgbClr val="1E212B"/>
          </a:solidFill>
          <a:ln w="28575">
            <a:solidFill>
              <a:srgbClr val="3A3D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001500" y="2571750"/>
            <a:ext cx="4953000" cy="476250"/>
          </a:xfrm>
          <a:prstGeom prst="rect">
            <a:avLst/>
          </a:prstGeom>
          <a:noFill/>
          <a:ln/>
        </p:spPr>
        <p:txBody>
          <a:bodyPr wrap="square" lIns="0" tIns="7271" rIns="0" bIns="-7271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b="1" dirty="0" spc="5" kern="0">
                <a:solidFill>
                  <a:srgbClr val="3D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search_courses(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12287250" y="3505200"/>
            <a:ext cx="1905000" cy="476250"/>
          </a:xfrm>
          <a:prstGeom prst="rect">
            <a:avLst/>
          </a:prstGeom>
          <a:noFill/>
          <a:ln/>
        </p:spPr>
        <p:txBody>
          <a:bodyPr wrap="square" lIns="0" tIns="6413" rIns="0" bIns="-6413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kern="0">
                <a:solidFill>
                  <a:srgbClr val="9A989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role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4097000" y="3333750"/>
            <a:ext cx="2762250" cy="7620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325600" y="3333750"/>
            <a:ext cx="2476500" cy="762000"/>
          </a:xfrm>
          <a:prstGeom prst="rect">
            <a:avLst/>
          </a:prstGeom>
          <a:noFill/>
          <a:ln/>
        </p:spPr>
        <p:txBody>
          <a:bodyPr wrap="square" lIns="0" tIns="6413" rIns="0" bIns="-6413" rtlCol="0" anchor="ctr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kern="0">
                <a:solidFill>
                  <a:srgbClr val="F3EEE3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student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2287250" y="4552950"/>
            <a:ext cx="1905000" cy="476250"/>
          </a:xfrm>
          <a:prstGeom prst="rect">
            <a:avLst/>
          </a:prstGeom>
          <a:noFill/>
          <a:ln/>
        </p:spPr>
        <p:txBody>
          <a:bodyPr wrap="square" lIns="0" tIns="6413" rIns="0" bIns="-6413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kern="0">
                <a:solidFill>
                  <a:srgbClr val="9A989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product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14097000" y="4381500"/>
            <a:ext cx="2762250" cy="7620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325600" y="4381500"/>
            <a:ext cx="2476500" cy="762000"/>
          </a:xfrm>
          <a:prstGeom prst="rect">
            <a:avLst/>
          </a:prstGeom>
          <a:noFill/>
          <a:ln/>
        </p:spPr>
        <p:txBody>
          <a:bodyPr wrap="square" lIns="0" tIns="6413" rIns="0" bIns="-6413" rtlCol="0" anchor="ctr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kern="0">
                <a:solidFill>
                  <a:srgbClr val="F3EEE3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Azure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2287250" y="5600700"/>
            <a:ext cx="1905000" cy="476250"/>
          </a:xfrm>
          <a:prstGeom prst="rect">
            <a:avLst/>
          </a:prstGeom>
          <a:noFill/>
          <a:ln/>
        </p:spPr>
        <p:txBody>
          <a:bodyPr wrap="square" lIns="0" tIns="6413" rIns="0" bIns="-6413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kern="0">
                <a:solidFill>
                  <a:srgbClr val="9A9890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level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4097000" y="5429250"/>
            <a:ext cx="2762250" cy="762000"/>
          </a:xfrm>
          <a:prstGeom prst="roundRect">
            <a:avLst>
              <a:gd name="adj" fmla="val 20000"/>
            </a:avLst>
          </a:prstGeom>
          <a:solidFill>
            <a:srgbClr val="14161C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325600" y="5429250"/>
            <a:ext cx="2476500" cy="762000"/>
          </a:xfrm>
          <a:prstGeom prst="rect">
            <a:avLst/>
          </a:prstGeom>
          <a:noFill/>
          <a:ln/>
        </p:spPr>
        <p:txBody>
          <a:bodyPr wrap="square" lIns="0" tIns="6413" rIns="0" bIns="-6413" rtlCol="0" anchor="ctr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kern="0">
                <a:solidFill>
                  <a:srgbClr val="F3EEE3"/>
                </a:solidFill>
                <a:latin typeface="JetBrains Mono SemiBold" pitchFamily="34" charset="0"/>
                <a:ea typeface="JetBrains Mono SemiBold" pitchFamily="34" charset="-122"/>
                <a:cs typeface="JetBrains Mono SemiBold" pitchFamily="34" charset="-120"/>
              </a:rPr>
              <a:t>beginner</a:t>
            </a:r>
            <a:endParaRPr lang="en-US" sz="2250" dirty="0"/>
          </a:p>
        </p:txBody>
      </p:sp>
      <p:sp>
        <p:nvSpPr>
          <p:cNvPr id="24" name="Text 22"/>
          <p:cNvSpPr/>
          <p:nvPr/>
        </p:nvSpPr>
        <p:spPr>
          <a:xfrm>
            <a:off x="12001500" y="6381750"/>
            <a:ext cx="952500" cy="476250"/>
          </a:xfrm>
          <a:prstGeom prst="rect">
            <a:avLst/>
          </a:prstGeom>
          <a:noFill/>
          <a:ln/>
        </p:spPr>
        <p:txBody>
          <a:bodyPr wrap="square" lIns="0" tIns="7271" rIns="0" bIns="-7271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b="1" dirty="0" spc="5" kern="0">
                <a:solidFill>
                  <a:srgbClr val="3D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)</a:t>
            </a:r>
            <a:endParaRPr lang="en-US" sz="25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125bcb60-5c30-4a9d-8429-007921a43da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Bài</a:t>
            </a:r>
            <a:r>
              <a:rPr lang="en-US" sz="72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này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giúp</a:t>
            </a:r>
            <a:r>
              <a:rPr lang="en-US" sz="7200" dirty="0" spc="-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72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làm</a:t>
            </a:r>
            <a:r>
              <a:rPr lang="en-US" sz="72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gì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914400" y="2247900"/>
            <a:ext cx="15240000" cy="571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Chatbot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700" dirty="0" spc="-1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startup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700" dirty="0" spc="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7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7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27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kỹ</a:t>
            </a:r>
            <a:r>
              <a:rPr lang="en-US" sz="2700" dirty="0" spc="-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700" dirty="0" spc="-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</a:t>
            </a:r>
            <a:r>
              <a:rPr lang="en-US" sz="27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16459200" cy="1524000"/>
          </a:xfrm>
          <a:prstGeom prst="roundRect">
            <a:avLst>
              <a:gd name="adj" fmla="val 150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238500"/>
            <a:ext cx="1333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-6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857500" y="3238500"/>
            <a:ext cx="14097000" cy="15240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Giải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thích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vì</a:t>
            </a:r>
            <a:r>
              <a:rPr lang="en-US" sz="30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sao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hàm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914400" y="5048250"/>
            <a:ext cx="16459200" cy="1524000"/>
          </a:xfrm>
          <a:prstGeom prst="roundRect">
            <a:avLst>
              <a:gd name="adj" fmla="val 15000"/>
            </a:avLst>
          </a:prstGeom>
          <a:solidFill>
            <a:srgbClr val="E8E0CF"/>
          </a:solidFill>
          <a:ln/>
        </p:spPr>
      </p:sp>
      <p:sp>
        <p:nvSpPr>
          <p:cNvPr id="8" name="Text 6"/>
          <p:cNvSpPr/>
          <p:nvPr/>
        </p:nvSpPr>
        <p:spPr>
          <a:xfrm>
            <a:off x="1295400" y="5048250"/>
            <a:ext cx="1333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2857500" y="5048250"/>
            <a:ext cx="14097000" cy="15240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Thiết</a:t>
            </a:r>
            <a:r>
              <a:rPr lang="en-US" sz="30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lập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r>
              <a:rPr lang="en-US" sz="30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hàm</a:t>
            </a:r>
            <a:r>
              <a:rPr lang="en-US" sz="30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300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Azure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OpenAI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914400" y="6858000"/>
            <a:ext cx="16459200" cy="1524000"/>
          </a:xfrm>
          <a:prstGeom prst="roundRect">
            <a:avLst>
              <a:gd name="adj" fmla="val 15000"/>
            </a:avLst>
          </a:prstGeom>
          <a:solidFill>
            <a:srgbClr val="E8E0CF"/>
          </a:solidFill>
          <a:ln/>
        </p:spPr>
      </p:sp>
      <p:sp>
        <p:nvSpPr>
          <p:cNvPr id="11" name="Text 9"/>
          <p:cNvSpPr/>
          <p:nvPr/>
        </p:nvSpPr>
        <p:spPr>
          <a:xfrm>
            <a:off x="1295400" y="6858000"/>
            <a:ext cx="13335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2857500" y="6858000"/>
            <a:ext cx="14097000" cy="1524000"/>
          </a:xfrm>
          <a:prstGeom prst="rect">
            <a:avLst/>
          </a:prstGeom>
          <a:noFill/>
          <a:ln/>
        </p:spPr>
        <p:txBody>
          <a:bodyPr wrap="square" lIns="0" tIns="16192" rIns="0" bIns="-16192" rtlCol="0" anchor="ctr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Thiết</a:t>
            </a:r>
            <a:r>
              <a:rPr lang="en-US" sz="3000" dirty="0" spc="-4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</a:t>
            </a:r>
            <a:r>
              <a:rPr lang="en-US" sz="30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r>
              <a:rPr lang="en-US" sz="300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r>
              <a:rPr lang="en-US" sz="30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hàm hợp</a:t>
            </a:r>
            <a:r>
              <a:rPr lang="en-US" sz="3000" dirty="0" spc="-1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3000" dirty="0" spc="3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ứng</a:t>
            </a:r>
            <a:r>
              <a:rPr lang="en-US" sz="30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dụng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4" name="Shape 12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6" name="Shape 14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7" name="Shape 15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8" name="Shape 16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9" name="Shape 17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0" name="Shape 18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1" name="Shape 19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2" name="Shape 20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3" name="Shape 21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4" name="Text 22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 11</a:t>
            </a:r>
            <a:r>
              <a:rPr lang="en-US" sz="16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02/11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cb174ef6-bd48-4445-a344-3fdf841d2ec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047750"/>
            <a:ext cx="11430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VÌ</a:t>
            </a:r>
            <a:r>
              <a:rPr lang="en-US" sz="1950" b="1" spc="12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1950" b="1" spc="12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1950" b="1" spc="15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1950" b="1" spc="14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15240000" cy="4000500"/>
          </a:xfrm>
          <a:prstGeom prst="rect">
            <a:avLst/>
          </a:prstGeom>
          <a:noFill/>
          <a:ln/>
        </p:spPr>
        <p:txBody>
          <a:bodyPr wrap="square" lIns="0" tIns="49530" rIns="0" bIns="-49530" rtlCol="0" anchor="t"/>
          <a:lstStyle/>
          <a:p>
            <a:pPr algn="l" indent="0" marL="0">
              <a:lnSpc>
                <a:spcPts val="8580"/>
              </a:lnSpc>
              <a:buNone/>
            </a:pPr>
            <a:r>
              <a:rPr lang="en-US" sz="78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Câu</a:t>
            </a:r>
            <a:r>
              <a:rPr lang="en-US" sz="7800" dirty="0" spc="-3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 lời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của</a:t>
            </a:r>
            <a:r>
              <a:rPr lang="en-US" sz="78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LLM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là</a:t>
            </a:r>
            <a:r>
              <a:rPr lang="en-US" sz="7800" dirty="0" spc="-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</a:t>
            </a:r>
            <a:pPr algn="l" indent="0" marL="0">
              <a:lnSpc>
                <a:spcPts val="8580"/>
              </a:lnSpc>
              <a:buNone/>
            </a:pPr>
            <a:r>
              <a:rPr lang="en-US" sz="7800" dirty="0" spc="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chữ</a:t>
            </a:r>
            <a:r>
              <a:rPr lang="en-US" sz="7800" dirty="0" spc="-2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7800" dirty="0" spc="0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do</a:t>
            </a:r>
            <a:pPr algn="l" indent="0" marL="0">
              <a:lnSpc>
                <a:spcPts val="8580"/>
              </a:lnSpc>
              <a:buNone/>
            </a:pPr>
            <a:r>
              <a:rPr lang="en-US" sz="78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,</a:t>
            </a:r>
            <a:r>
              <a:rPr lang="en-US" sz="78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nên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lần</a:t>
            </a:r>
            <a:r>
              <a:rPr lang="en-US" sz="7800" dirty="0" spc="-1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kiểu.</a:t>
            </a:r>
            <a:endParaRPr lang="en-US" sz="7800" dirty="0"/>
          </a:p>
        </p:txBody>
      </p:sp>
      <p:sp>
        <p:nvSpPr>
          <p:cNvPr id="4" name="Text 2"/>
          <p:cNvSpPr/>
          <p:nvPr/>
        </p:nvSpPr>
        <p:spPr>
          <a:xfrm>
            <a:off x="914400" y="5905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57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Và</a:t>
            </a:r>
            <a:r>
              <a:rPr lang="en-US" sz="2700" dirty="0" spc="-3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 hình</a:t>
            </a:r>
            <a:r>
              <a:rPr lang="en-US" sz="2700" dirty="0" spc="-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700" dirty="0" spc="-6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700" dirty="0" spc="-4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700" dirty="0" spc="-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700" dirty="0" spc="0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700" dirty="0" spc="9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1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huấn</a:t>
            </a:r>
            <a:r>
              <a:rPr lang="en-US" sz="2700" dirty="0" spc="-15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luyện:</a:t>
            </a:r>
            <a:r>
              <a:rPr lang="en-US" sz="2700" dirty="0" spc="-3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700" dirty="0" spc="-6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700" dirty="0" spc="0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700" dirty="0" spc="-5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2700" dirty="0" spc="-4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700" dirty="0" spc="-7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Stockholm</a:t>
            </a:r>
            <a:r>
              <a:rPr lang="en-US" sz="2700" dirty="0" spc="-15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bây</a:t>
            </a:r>
            <a:r>
              <a:rPr lang="en-US" sz="2700" dirty="0" spc="-2" kern="0">
                <a:solidFill>
                  <a:srgbClr val="C9C4B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giờ.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6" name="Shape 4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7" name="Shape 5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8" name="Shape 6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9" name="Shape 7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0" name="Shape 8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1" name="Shape 9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2" name="Shape 10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3" name="Shape 11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4" name="Shape 12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5" name="Shape 13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6" name="Text 14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 11</a:t>
            </a:r>
            <a:r>
              <a:rPr lang="en-US" sz="165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-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03/11</a:t>
            </a:r>
            <a:endParaRPr lang="en-US" sz="165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c3962a8a-ae10-413f-b105-088805a3abc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459200" cy="1095375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7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Cùng</a:t>
            </a:r>
            <a:r>
              <a:rPr lang="en-US" sz="6900" dirty="0" spc="-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prompt,</a:t>
            </a:r>
            <a:r>
              <a:rPr lang="en-US" sz="6900" dirty="0" spc="2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6900" dirty="0" spc="0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dạng</a:t>
            </a:r>
            <a:r>
              <a:rPr lang="en-US" sz="69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lệch</a:t>
            </a:r>
            <a:r>
              <a:rPr lang="en-US" sz="6900" dirty="0" spc="3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2190750"/>
            <a:ext cx="16192500" cy="571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Nhờ LLM</a:t>
            </a:r>
            <a:r>
              <a:rPr lang="en-US" sz="270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trích</a:t>
            </a: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name,</a:t>
            </a:r>
            <a:r>
              <a:rPr lang="en-US" sz="2700" dirty="0" spc="-9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major,</a:t>
            </a:r>
            <a:r>
              <a:rPr lang="en-US" sz="27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school,</a:t>
            </a:r>
            <a:r>
              <a:rPr lang="en-US" sz="2700" dirty="0" spc="-1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grades,</a:t>
            </a:r>
            <a:r>
              <a:rPr lang="en-US" sz="27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club thành</a:t>
            </a:r>
            <a:r>
              <a:rPr lang="en-US" sz="2700" dirty="0" spc="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JSON.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4572000"/>
          </a:xfrm>
          <a:prstGeom prst="roundRect">
            <a:avLst>
              <a:gd name="adj" fmla="val 58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47800" y="3429000"/>
            <a:ext cx="5715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SINH</a:t>
            </a:r>
            <a:r>
              <a:rPr lang="en-US" sz="195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 1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447800" y="4095750"/>
            <a:ext cx="7239000" cy="571500"/>
          </a:xfrm>
          <a:prstGeom prst="rect">
            <a:avLst/>
          </a:prstGeom>
          <a:noFill/>
          <a:ln/>
        </p:spPr>
        <p:txBody>
          <a:bodyPr wrap="square" lIns="0" tIns="6413" rIns="0" bIns="-6413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kern="0">
                <a:solidFill>
                  <a:srgbClr val="14161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"name": "Emily Johnson",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1447800" y="4762500"/>
            <a:ext cx="7239000" cy="571500"/>
          </a:xfrm>
          <a:prstGeom prst="rect">
            <a:avLst/>
          </a:prstGeom>
          <a:noFill/>
          <a:ln/>
        </p:spPr>
        <p:txBody>
          <a:bodyPr wrap="square" lIns="0" tIns="6413" rIns="0" bIns="-6413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kern="0">
                <a:solidFill>
                  <a:srgbClr val="14161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"school": "Duke University",</a:t>
            </a:r>
            <a:endParaRPr lang="en-US" sz="2250" dirty="0"/>
          </a:p>
        </p:txBody>
      </p:sp>
      <p:sp>
        <p:nvSpPr>
          <p:cNvPr id="8" name="Shape 6"/>
          <p:cNvSpPr/>
          <p:nvPr/>
        </p:nvSpPr>
        <p:spPr>
          <a:xfrm>
            <a:off x="1295400" y="5715000"/>
            <a:ext cx="7239000" cy="1047750"/>
          </a:xfrm>
          <a:prstGeom prst="roundRect">
            <a:avLst>
              <a:gd name="adj" fmla="val 16364"/>
            </a:avLst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1581150" y="5715000"/>
            <a:ext cx="6858000" cy="1047750"/>
          </a:xfrm>
          <a:prstGeom prst="rect">
            <a:avLst/>
          </a:prstGeom>
          <a:noFill/>
          <a:ln/>
        </p:spPr>
        <p:txBody>
          <a:bodyPr wrap="square" lIns="0" tIns="7715" rIns="0" bIns="-7715" rtlCol="0" anchor="ctr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b="1" dirty="0" spc="-5" kern="0">
                <a:solidFill>
                  <a:srgbClr val="14161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"grades": "3.7"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372600" y="3048000"/>
            <a:ext cx="8001000" cy="4572000"/>
          </a:xfrm>
          <a:prstGeom prst="roundRect">
            <a:avLst>
              <a:gd name="adj" fmla="val 5833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906000" y="3429000"/>
            <a:ext cx="5715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SINH</a:t>
            </a:r>
            <a:r>
              <a:rPr lang="en-US" sz="195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r>
              <a:rPr lang="en-US" sz="1950" b="1" spc="14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906000" y="4095750"/>
            <a:ext cx="7239000" cy="571500"/>
          </a:xfrm>
          <a:prstGeom prst="rect">
            <a:avLst/>
          </a:prstGeom>
          <a:noFill/>
          <a:ln/>
        </p:spPr>
        <p:txBody>
          <a:bodyPr wrap="square" lIns="0" tIns="6413" rIns="0" bIns="-6413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kern="0">
                <a:solidFill>
                  <a:srgbClr val="14161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"name": "Michael Lee",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906000" y="4762500"/>
            <a:ext cx="7239000" cy="571500"/>
          </a:xfrm>
          <a:prstGeom prst="rect">
            <a:avLst/>
          </a:prstGeom>
          <a:noFill/>
          <a:ln/>
        </p:spPr>
        <p:txBody>
          <a:bodyPr wrap="square" lIns="0" tIns="6413" rIns="0" bIns="-6413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kern="0">
                <a:solidFill>
                  <a:srgbClr val="14161C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"school": "Stanford University",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9753600" y="5715000"/>
            <a:ext cx="7239000" cy="1047750"/>
          </a:xfrm>
          <a:prstGeom prst="roundRect">
            <a:avLst>
              <a:gd name="adj" fmla="val 16364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39350" y="5715000"/>
            <a:ext cx="6858000" cy="1047750"/>
          </a:xfrm>
          <a:prstGeom prst="rect">
            <a:avLst/>
          </a:prstGeom>
          <a:noFill/>
          <a:ln/>
        </p:spPr>
        <p:txBody>
          <a:bodyPr wrap="square" lIns="0" tIns="7715" rIns="0" bIns="-7715" rtlCol="0" anchor="ctr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b="1" dirty="0" spc="-5" kern="0">
                <a:solidFill>
                  <a:srgbClr val="E8472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"grades": "3.8 GPA"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14400" y="8096250"/>
            <a:ext cx="16192500" cy="4762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t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Muốn</a:t>
            </a:r>
            <a:r>
              <a:rPr lang="en-US" sz="2550" dirty="0" spc="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lưu</a:t>
            </a:r>
            <a:r>
              <a:rPr lang="en-US" sz="25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hay</a:t>
            </a:r>
            <a:r>
              <a:rPr lang="en-US" sz="255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dữ liệu,</a:t>
            </a:r>
            <a:r>
              <a:rPr lang="en-US" sz="2550" dirty="0" spc="-1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ta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cần</a:t>
            </a:r>
            <a:r>
              <a:rPr lang="en-US" sz="2550" dirty="0" spc="1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</a:t>
            </a:r>
            <a:r>
              <a:rPr lang="en-US" sz="25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dạng</a:t>
            </a:r>
            <a:r>
              <a:rPr lang="en-US" sz="25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có cấu</a:t>
            </a:r>
            <a:r>
              <a:rPr lang="en-US" sz="25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trúc.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8" name="Shape 16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9" name="Shape 17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0" name="Shape 18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1" name="Shape 19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2" name="Shape 20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3" name="Shape 21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4" name="Shape 22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5" name="Shape 23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6" name="Shape 24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7" name="Shape 25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8" name="Text 26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 11</a:t>
            </a:r>
            <a:r>
              <a:rPr lang="en-US" sz="16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 04/11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0" name="Moda image moda-export-watermark-65c5fbdb-0007-4512-a110-9bde2121e9e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095375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LLM</a:t>
            </a:r>
            <a:r>
              <a:rPr lang="en-US" sz="6900" dirty="0" spc="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 chạy</a:t>
            </a:r>
            <a:r>
              <a:rPr lang="en-US" sz="69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hàm,</a:t>
            </a:r>
            <a:r>
              <a:rPr lang="en-US" sz="6900" dirty="0" spc="10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ứng</a:t>
            </a:r>
            <a:r>
              <a:rPr lang="en-US" sz="69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dụng</a:t>
            </a:r>
            <a:r>
              <a:rPr lang="en-US" sz="69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</a:t>
            </a:r>
            <a:endParaRPr lang="en-US" sz="6900" dirty="0"/>
          </a:p>
        </p:txBody>
      </p:sp>
      <p:sp>
        <p:nvSpPr>
          <p:cNvPr id="3" name="Shape 1"/>
          <p:cNvSpPr/>
          <p:nvPr/>
        </p:nvSpPr>
        <p:spPr>
          <a:xfrm>
            <a:off x="857250" y="2000250"/>
            <a:ext cx="3238500" cy="762000"/>
          </a:xfrm>
          <a:prstGeom prst="roundRect">
            <a:avLst>
              <a:gd name="adj" fmla="val 2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57250" y="2000250"/>
            <a:ext cx="3238500" cy="762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ctr" indent="0" marL="0">
              <a:lnSpc>
                <a:spcPts val="2925"/>
              </a:lnSpc>
              <a:buNone/>
            </a:pPr>
            <a:r>
              <a:rPr lang="en-US" sz="225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25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endParaRPr lang="en-US" sz="2250" dirty="0"/>
          </a:p>
        </p:txBody>
      </p:sp>
      <p:sp>
        <p:nvSpPr>
          <p:cNvPr id="5" name="Connector line-1792489993972-660573566"/>
          <p:cNvSpPr/>
          <p:nvPr/>
        </p:nvSpPr>
        <p:spPr>
          <a:xfrm>
            <a:off x="2476500" y="2762250"/>
            <a:ext cx="0" cy="6096000"/>
          </a:xfrm>
          <a:prstGeom prst="line">
            <a:avLst/>
          </a:prstGeom>
          <a:noFill/>
          <a:ln w="28575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5429250" y="2000250"/>
            <a:ext cx="3238500" cy="762000"/>
          </a:xfrm>
          <a:prstGeom prst="roundRect">
            <a:avLst>
              <a:gd name="adj" fmla="val 25000"/>
            </a:avLst>
          </a:prstGeom>
          <a:solidFill>
            <a:srgbClr val="1F3FD1"/>
          </a:solidFill>
          <a:ln/>
        </p:spPr>
      </p:sp>
      <p:sp>
        <p:nvSpPr>
          <p:cNvPr id="7" name="Text 5"/>
          <p:cNvSpPr/>
          <p:nvPr/>
        </p:nvSpPr>
        <p:spPr>
          <a:xfrm>
            <a:off x="5429250" y="2000250"/>
            <a:ext cx="3238500" cy="762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ctr" indent="0" marL="0">
              <a:lnSpc>
                <a:spcPts val="2925"/>
              </a:lnSpc>
              <a:buNone/>
            </a:pPr>
            <a:r>
              <a:rPr lang="en-US" sz="22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225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250" dirty="0"/>
          </a:p>
        </p:txBody>
      </p:sp>
      <p:sp>
        <p:nvSpPr>
          <p:cNvPr id="8" name="Connector line-1792489993975-907956204"/>
          <p:cNvSpPr/>
          <p:nvPr/>
        </p:nvSpPr>
        <p:spPr>
          <a:xfrm>
            <a:off x="7048500" y="2762250"/>
            <a:ext cx="0" cy="6096000"/>
          </a:xfrm>
          <a:prstGeom prst="line">
            <a:avLst/>
          </a:prstGeom>
          <a:noFill/>
          <a:ln w="28575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10001250" y="2000250"/>
            <a:ext cx="3238500" cy="762000"/>
          </a:xfrm>
          <a:prstGeom prst="roundRect">
            <a:avLst>
              <a:gd name="adj" fmla="val 2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01250" y="2000250"/>
            <a:ext cx="3238500" cy="762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ctr" indent="0" marL="0">
              <a:lnSpc>
                <a:spcPts val="2925"/>
              </a:lnSpc>
              <a:buNone/>
            </a:pPr>
            <a:r>
              <a:rPr lang="en-US" sz="225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LLM</a:t>
            </a:r>
            <a:endParaRPr lang="en-US" sz="2250" dirty="0"/>
          </a:p>
        </p:txBody>
      </p:sp>
      <p:sp>
        <p:nvSpPr>
          <p:cNvPr id="11" name="Connector line-1792489993977-582765871"/>
          <p:cNvSpPr/>
          <p:nvPr/>
        </p:nvSpPr>
        <p:spPr>
          <a:xfrm>
            <a:off x="11620500" y="2762250"/>
            <a:ext cx="0" cy="6096000"/>
          </a:xfrm>
          <a:prstGeom prst="line">
            <a:avLst/>
          </a:prstGeom>
          <a:noFill/>
          <a:ln w="28575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12" name="Shape 10"/>
          <p:cNvSpPr/>
          <p:nvPr/>
        </p:nvSpPr>
        <p:spPr>
          <a:xfrm>
            <a:off x="14192250" y="2000250"/>
            <a:ext cx="3238500" cy="762000"/>
          </a:xfrm>
          <a:prstGeom prst="roundRect">
            <a:avLst>
              <a:gd name="adj" fmla="val 25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192250" y="2000250"/>
            <a:ext cx="3238500" cy="762000"/>
          </a:xfrm>
          <a:prstGeom prst="rect">
            <a:avLst/>
          </a:prstGeom>
          <a:noFill/>
          <a:ln/>
        </p:spPr>
        <p:txBody>
          <a:bodyPr wrap="square" lIns="0" tIns="12144" rIns="0" bIns="-12144" rtlCol="0" anchor="ctr"/>
          <a:lstStyle/>
          <a:p>
            <a:pPr algn="ctr" indent="0" marL="0">
              <a:lnSpc>
                <a:spcPts val="2925"/>
              </a:lnSpc>
              <a:buNone/>
            </a:pPr>
            <a:r>
              <a:rPr lang="en-US" sz="225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</a:t>
            </a:r>
            <a:r>
              <a:rPr lang="en-US" sz="225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bên</a:t>
            </a:r>
            <a:r>
              <a:rPr lang="en-US" sz="225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ngoài</a:t>
            </a:r>
            <a:endParaRPr lang="en-US" sz="2250" dirty="0"/>
          </a:p>
        </p:txBody>
      </p:sp>
      <p:sp>
        <p:nvSpPr>
          <p:cNvPr id="14" name="Connector line-1792489993981-542215848"/>
          <p:cNvSpPr/>
          <p:nvPr/>
        </p:nvSpPr>
        <p:spPr>
          <a:xfrm>
            <a:off x="15811500" y="2762250"/>
            <a:ext cx="0" cy="6096000"/>
          </a:xfrm>
          <a:prstGeom prst="line">
            <a:avLst/>
          </a:prstGeom>
          <a:noFill/>
          <a:ln w="28575">
            <a:solidFill>
              <a:srgbClr val="DDD5C1"/>
            </a:solidFill>
            <a:prstDash val="lgDash"/>
            <a:headEnd type="none"/>
            <a:tailEnd type="none"/>
          </a:ln>
        </p:spPr>
      </p:sp>
      <p:sp>
        <p:nvSpPr>
          <p:cNvPr id="15" name="Connector line-1792489993981-23214343"/>
          <p:cNvSpPr/>
          <p:nvPr/>
        </p:nvSpPr>
        <p:spPr>
          <a:xfrm>
            <a:off x="2552700" y="3448050"/>
            <a:ext cx="44196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med" len="lg"/>
          </a:ln>
        </p:spPr>
      </p:sp>
      <p:sp>
        <p:nvSpPr>
          <p:cNvPr id="16" name="Text 14"/>
          <p:cNvSpPr/>
          <p:nvPr/>
        </p:nvSpPr>
        <p:spPr>
          <a:xfrm>
            <a:off x="2628900" y="3028950"/>
            <a:ext cx="4267200" cy="381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Hỏi</a:t>
            </a:r>
            <a:r>
              <a:rPr lang="en-US" sz="19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 học</a:t>
            </a:r>
            <a:endParaRPr lang="en-US" sz="1950" dirty="0"/>
          </a:p>
        </p:txBody>
      </p:sp>
      <p:sp>
        <p:nvSpPr>
          <p:cNvPr id="17" name="Connector line-1792489993984-405541483"/>
          <p:cNvSpPr/>
          <p:nvPr/>
        </p:nvSpPr>
        <p:spPr>
          <a:xfrm>
            <a:off x="7124700" y="4267200"/>
            <a:ext cx="44196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med" len="lg"/>
          </a:ln>
        </p:spPr>
      </p:sp>
      <p:sp>
        <p:nvSpPr>
          <p:cNvPr id="18" name="Text 16"/>
          <p:cNvSpPr/>
          <p:nvPr/>
        </p:nvSpPr>
        <p:spPr>
          <a:xfrm>
            <a:off x="7200900" y="3848100"/>
            <a:ext cx="4267200" cy="381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Câu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hỏi</a:t>
            </a:r>
            <a:r>
              <a:rPr lang="en-US" sz="195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+</a:t>
            </a:r>
            <a:r>
              <a:rPr lang="en-US" sz="19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danh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sách</a:t>
            </a:r>
            <a:r>
              <a:rPr lang="en-US" sz="19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hàm</a:t>
            </a:r>
            <a:endParaRPr lang="en-US" sz="1950" dirty="0"/>
          </a:p>
        </p:txBody>
      </p:sp>
      <p:sp>
        <p:nvSpPr>
          <p:cNvPr id="19" name="Connector line-1792489993986-70560983"/>
          <p:cNvSpPr/>
          <p:nvPr/>
        </p:nvSpPr>
        <p:spPr>
          <a:xfrm flipH="1">
            <a:off x="7124700" y="5086350"/>
            <a:ext cx="44196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med" len="lg"/>
          </a:ln>
        </p:spPr>
      </p:sp>
      <p:sp>
        <p:nvSpPr>
          <p:cNvPr id="20" name="Text 18"/>
          <p:cNvSpPr/>
          <p:nvPr/>
        </p:nvSpPr>
        <p:spPr>
          <a:xfrm>
            <a:off x="7200900" y="4667250"/>
            <a:ext cx="4267200" cy="381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Nên</a:t>
            </a:r>
            <a:r>
              <a:rPr lang="en-US" sz="19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r>
              <a:rPr lang="en-US" sz="1950" dirty="0" spc="-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search_courses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+</a:t>
            </a:r>
            <a:r>
              <a:rPr lang="en-US" sz="19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tham</a:t>
            </a:r>
            <a:r>
              <a:rPr lang="en-US" sz="195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endParaRPr lang="en-US" sz="1950" dirty="0"/>
          </a:p>
        </p:txBody>
      </p:sp>
      <p:sp>
        <p:nvSpPr>
          <p:cNvPr id="21" name="Connector line-1792489993997-389229753"/>
          <p:cNvSpPr/>
          <p:nvPr/>
        </p:nvSpPr>
        <p:spPr>
          <a:xfrm>
            <a:off x="7124700" y="5905500"/>
            <a:ext cx="8610600" cy="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triangle" w="med" len="lg"/>
          </a:ln>
        </p:spPr>
      </p:sp>
      <p:sp>
        <p:nvSpPr>
          <p:cNvPr id="22" name="Text 20"/>
          <p:cNvSpPr/>
          <p:nvPr/>
        </p:nvSpPr>
        <p:spPr>
          <a:xfrm>
            <a:off x="7200900" y="5486400"/>
            <a:ext cx="8458200" cy="381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dirty="0" spc="3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Gọi</a:t>
            </a:r>
            <a:r>
              <a:rPr lang="en-US" sz="1950" dirty="0" spc="0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API</a:t>
            </a:r>
            <a:r>
              <a:rPr lang="en-US" sz="1950" dirty="0" spc="-9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thật</a:t>
            </a:r>
            <a:endParaRPr lang="en-US" sz="1950" dirty="0"/>
          </a:p>
        </p:txBody>
      </p:sp>
      <p:sp>
        <p:nvSpPr>
          <p:cNvPr id="23" name="Connector line-1792489994000-463660729"/>
          <p:cNvSpPr/>
          <p:nvPr/>
        </p:nvSpPr>
        <p:spPr>
          <a:xfrm flipH="1">
            <a:off x="7124700" y="6724650"/>
            <a:ext cx="8610600" cy="0"/>
          </a:xfrm>
          <a:prstGeom prst="line">
            <a:avLst/>
          </a:prstGeom>
          <a:noFill/>
          <a:ln w="38100">
            <a:solidFill>
              <a:srgbClr val="1F3FD1"/>
            </a:solidFill>
            <a:prstDash val="solid"/>
            <a:headEnd type="none"/>
            <a:tailEnd type="triangle" w="med" len="lg"/>
          </a:ln>
        </p:spPr>
      </p:sp>
      <p:sp>
        <p:nvSpPr>
          <p:cNvPr id="24" name="Text 22"/>
          <p:cNvSpPr/>
          <p:nvPr/>
        </p:nvSpPr>
        <p:spPr>
          <a:xfrm>
            <a:off x="7200900" y="6305550"/>
            <a:ext cx="8458200" cy="381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dirty="0" spc="-1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Danh sách</a:t>
            </a:r>
            <a:r>
              <a:rPr lang="en-US" sz="1950" dirty="0" spc="-4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khóa</a:t>
            </a:r>
            <a:r>
              <a:rPr lang="en-US" sz="1950" dirty="0" spc="-5" kern="0">
                <a:solidFill>
                  <a:srgbClr val="1F3FD1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học</a:t>
            </a:r>
            <a:endParaRPr lang="en-US" sz="1950" dirty="0"/>
          </a:p>
        </p:txBody>
      </p:sp>
      <p:sp>
        <p:nvSpPr>
          <p:cNvPr id="25" name="Connector line-1792489994004-464922445"/>
          <p:cNvSpPr/>
          <p:nvPr/>
        </p:nvSpPr>
        <p:spPr>
          <a:xfrm>
            <a:off x="7124700" y="7543800"/>
            <a:ext cx="44196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med" len="lg"/>
          </a:ln>
        </p:spPr>
      </p:sp>
      <p:sp>
        <p:nvSpPr>
          <p:cNvPr id="26" name="Text 24"/>
          <p:cNvSpPr/>
          <p:nvPr/>
        </p:nvSpPr>
        <p:spPr>
          <a:xfrm>
            <a:off x="7200900" y="7124700"/>
            <a:ext cx="4267200" cy="381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dirty="0" spc="49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Gửi</a:t>
            </a:r>
            <a:r>
              <a:rPr lang="en-US" sz="1950" dirty="0" spc="-2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19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</a:t>
            </a:r>
            <a:r>
              <a:rPr lang="en-US" sz="19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hàm</a:t>
            </a:r>
            <a:endParaRPr lang="en-US" sz="1950" dirty="0"/>
          </a:p>
        </p:txBody>
      </p:sp>
      <p:sp>
        <p:nvSpPr>
          <p:cNvPr id="27" name="Connector line-1792489994006-823466585"/>
          <p:cNvSpPr/>
          <p:nvPr/>
        </p:nvSpPr>
        <p:spPr>
          <a:xfrm flipH="1">
            <a:off x="2552700" y="8362950"/>
            <a:ext cx="8991600" cy="0"/>
          </a:xfrm>
          <a:prstGeom prst="line">
            <a:avLst/>
          </a:prstGeom>
          <a:noFill/>
          <a:ln w="38100">
            <a:solidFill>
              <a:srgbClr val="14161C"/>
            </a:solidFill>
            <a:prstDash val="solid"/>
            <a:headEnd type="none"/>
            <a:tailEnd type="triangle" w="med" len="lg"/>
          </a:ln>
        </p:spPr>
      </p:sp>
      <p:sp>
        <p:nvSpPr>
          <p:cNvPr id="28" name="Text 26"/>
          <p:cNvSpPr/>
          <p:nvPr/>
        </p:nvSpPr>
        <p:spPr>
          <a:xfrm>
            <a:off x="2628900" y="7943850"/>
            <a:ext cx="8839200" cy="38100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ctr" indent="0" marL="0">
              <a:lnSpc>
                <a:spcPts val="2535"/>
              </a:lnSpc>
              <a:buNone/>
            </a:pPr>
            <a:r>
              <a:rPr lang="en-US" sz="1950" dirty="0" spc="-5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Trả</a:t>
            </a:r>
            <a:r>
              <a:rPr lang="en-US" sz="1950" dirty="0" spc="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</a:t>
            </a:r>
            <a:r>
              <a:rPr lang="en-US" sz="19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bằng</a:t>
            </a:r>
            <a:r>
              <a:rPr lang="en-US" sz="19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lời thường</a:t>
            </a:r>
            <a:endParaRPr lang="en-US" sz="1950" dirty="0"/>
          </a:p>
        </p:txBody>
      </p:sp>
      <p:sp>
        <p:nvSpPr>
          <p:cNvPr id="29" name="Shape 27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0" name="Shape 28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1" name="Shape 29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2" name="Shape 30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3" name="Shape 31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4" name="Shape 32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5" name="Shape 33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6" name="Shape 34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7" name="Shape 35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8" name="Shape 36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9" name="Shape 37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40" name="Text 38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 11</a:t>
            </a:r>
            <a:r>
              <a:rPr lang="en-US" sz="16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 05/11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42" name="Moda image moda-export-watermark-353b3014-2a4f-4286-b11a-66ff6e87ea9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3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Gọi</a:t>
            </a:r>
            <a:r>
              <a:rPr lang="en-US" sz="7200" dirty="0" spc="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hàm</a:t>
            </a:r>
            <a:r>
              <a:rPr lang="en-US" sz="7200" dirty="0" spc="-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dùng</a:t>
            </a:r>
            <a:r>
              <a:rPr lang="en-US" sz="7200" dirty="0" spc="-6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vào</a:t>
            </a:r>
            <a:r>
              <a:rPr lang="en-US" sz="7200" dirty="0" spc="10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đâu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914400" y="2667000"/>
            <a:ext cx="5257800" cy="5334000"/>
          </a:xfrm>
          <a:prstGeom prst="roundRect">
            <a:avLst>
              <a:gd name="adj" fmla="val 507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2667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143250"/>
            <a:ext cx="4495800" cy="1143000"/>
          </a:xfrm>
          <a:prstGeom prst="rect">
            <a:avLst/>
          </a:prstGeom>
          <a:noFill/>
          <a:ln/>
        </p:spPr>
        <p:txBody>
          <a:bodyPr wrap="square" lIns="0" tIns="10477" rIns="0" bIns="-1047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Gọi</a:t>
            </a:r>
            <a:r>
              <a:rPr lang="en-US" sz="33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công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295400" y="4572000"/>
            <a:ext cx="4495800" cy="1143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39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“Gửi</a:t>
            </a:r>
            <a:r>
              <a:rPr lang="en-US" sz="24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email</a:t>
            </a:r>
            <a:r>
              <a:rPr lang="en-US" sz="24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2400" dirty="0" spc="-1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thầy...”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295400" y="6572250"/>
            <a:ext cx="4495800" cy="952500"/>
          </a:xfrm>
          <a:prstGeom prst="roundRect">
            <a:avLst>
              <a:gd name="adj" fmla="val 16000"/>
            </a:avLst>
          </a:prstGeom>
          <a:solidFill>
            <a:srgbClr val="F3DFB8"/>
          </a:solidFill>
          <a:ln/>
        </p:spPr>
      </p:sp>
      <p:sp>
        <p:nvSpPr>
          <p:cNvPr id="8" name="Text 6"/>
          <p:cNvSpPr/>
          <p:nvPr/>
        </p:nvSpPr>
        <p:spPr>
          <a:xfrm>
            <a:off x="1485900" y="6572250"/>
            <a:ext cx="4191000" cy="952500"/>
          </a:xfrm>
          <a:prstGeom prst="rect">
            <a:avLst/>
          </a:prstGeom>
          <a:noFill/>
          <a:ln/>
        </p:spPr>
        <p:txBody>
          <a:bodyPr wrap="square" lIns="0" tIns="5556" rIns="0" bIns="-5556" rtlCol="0" anchor="ctr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b="1" dirty="0" spc="-5" kern="0">
                <a:solidFill>
                  <a:srgbClr val="B453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send_email(to, body)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6515100" y="2667000"/>
            <a:ext cx="5257800" cy="5334000"/>
          </a:xfrm>
          <a:prstGeom prst="roundRect">
            <a:avLst>
              <a:gd name="adj" fmla="val 507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515100" y="2667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1" name="Text 9"/>
          <p:cNvSpPr/>
          <p:nvPr/>
        </p:nvSpPr>
        <p:spPr>
          <a:xfrm>
            <a:off x="6896100" y="3143250"/>
            <a:ext cx="4495800" cy="1143000"/>
          </a:xfrm>
          <a:prstGeom prst="rect">
            <a:avLst/>
          </a:prstGeom>
          <a:noFill/>
          <a:ln/>
        </p:spPr>
        <p:txBody>
          <a:bodyPr wrap="square" lIns="0" tIns="10477" rIns="0" bIns="-1047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Truy</a:t>
            </a:r>
            <a:r>
              <a:rPr lang="en-US" sz="33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vấn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API,</a:t>
            </a:r>
            <a:r>
              <a:rPr lang="en-US" sz="33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6896100" y="4572000"/>
            <a:ext cx="4495800" cy="1143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“Em</a:t>
            </a:r>
            <a:r>
              <a:rPr lang="en-US" sz="24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nào</a:t>
            </a:r>
            <a:r>
              <a:rPr lang="en-US" sz="2400" dirty="0" spc="1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đã</a:t>
            </a:r>
            <a:r>
              <a:rPr lang="en-US" sz="2400" dirty="0" spc="-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nộp</a:t>
            </a:r>
            <a:r>
              <a:rPr lang="en-US" sz="24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bài?”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896100" y="6572250"/>
            <a:ext cx="4495800" cy="952500"/>
          </a:xfrm>
          <a:prstGeom prst="roundRect">
            <a:avLst>
              <a:gd name="adj" fmla="val 16000"/>
            </a:avLst>
          </a:prstGeom>
          <a:solidFill>
            <a:srgbClr val="F3DFB8"/>
          </a:solidFill>
          <a:ln/>
        </p:spPr>
      </p:sp>
      <p:sp>
        <p:nvSpPr>
          <p:cNvPr id="14" name="Text 12"/>
          <p:cNvSpPr/>
          <p:nvPr/>
        </p:nvSpPr>
        <p:spPr>
          <a:xfrm>
            <a:off x="7086600" y="6572250"/>
            <a:ext cx="4191000" cy="952500"/>
          </a:xfrm>
          <a:prstGeom prst="rect">
            <a:avLst/>
          </a:prstGeom>
          <a:noFill/>
          <a:ln/>
        </p:spPr>
        <p:txBody>
          <a:bodyPr wrap="square" lIns="0" tIns="5556" rIns="0" bIns="-5556" rtlCol="0" anchor="ctr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b="1" dirty="0" spc="-5" kern="0">
                <a:solidFill>
                  <a:srgbClr val="B453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get_completed(...)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2115800" y="2667000"/>
            <a:ext cx="5257800" cy="5334000"/>
          </a:xfrm>
          <a:prstGeom prst="roundRect">
            <a:avLst>
              <a:gd name="adj" fmla="val 5072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115800" y="2667000"/>
            <a:ext cx="5257800" cy="152400"/>
          </a:xfrm>
          <a:prstGeom prst="roundRect">
            <a:avLst>
              <a:gd name="adj" fmla="val 50000"/>
            </a:avLst>
          </a:prstGeom>
          <a:solidFill>
            <a:srgbClr val="B45309"/>
          </a:solidFill>
          <a:ln/>
        </p:spPr>
      </p:sp>
      <p:sp>
        <p:nvSpPr>
          <p:cNvPr id="17" name="Text 15"/>
          <p:cNvSpPr/>
          <p:nvPr/>
        </p:nvSpPr>
        <p:spPr>
          <a:xfrm>
            <a:off x="12496800" y="3143250"/>
            <a:ext cx="4495800" cy="1143000"/>
          </a:xfrm>
          <a:prstGeom prst="rect">
            <a:avLst/>
          </a:prstGeom>
          <a:noFill/>
          <a:ln/>
        </p:spPr>
        <p:txBody>
          <a:bodyPr wrap="square" lIns="0" tIns="10477" rIns="0" bIns="-10477" rtlCol="0" anchor="t"/>
          <a:lstStyle/>
          <a:p>
            <a:pPr algn="l" indent="0" marL="0">
              <a:lnSpc>
                <a:spcPts val="3795"/>
              </a:lnSpc>
              <a:buNone/>
            </a:pPr>
            <a:r>
              <a:rPr lang="en-US" sz="3300" dirty="0" spc="-7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Tạo</a:t>
            </a:r>
            <a:r>
              <a:rPr lang="en-US" sz="33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dữ</a:t>
            </a:r>
            <a:r>
              <a:rPr lang="en-US" sz="33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liệu có</a:t>
            </a:r>
            <a:r>
              <a:rPr lang="en-US" sz="33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cấu</a:t>
            </a:r>
            <a:r>
              <a:rPr lang="en-US" sz="33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trúc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12496800" y="4572000"/>
            <a:ext cx="4495800" cy="11430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Bài Wikipedia</a:t>
            </a:r>
            <a:r>
              <a:rPr lang="en-US" sz="24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thành</a:t>
            </a:r>
            <a:r>
              <a:rPr lang="en-US" sz="240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thẻ</a:t>
            </a:r>
            <a:r>
              <a:rPr lang="en-US" sz="240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ghi</a:t>
            </a:r>
            <a:r>
              <a:rPr lang="en-US" sz="240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nhớ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12496800" y="6572250"/>
            <a:ext cx="4495800" cy="952500"/>
          </a:xfrm>
          <a:prstGeom prst="roundRect">
            <a:avLst>
              <a:gd name="adj" fmla="val 16000"/>
            </a:avLst>
          </a:prstGeom>
          <a:solidFill>
            <a:srgbClr val="F3DFB8"/>
          </a:solidFill>
          <a:ln/>
        </p:spPr>
      </p:sp>
      <p:sp>
        <p:nvSpPr>
          <p:cNvPr id="20" name="Text 18"/>
          <p:cNvSpPr/>
          <p:nvPr/>
        </p:nvSpPr>
        <p:spPr>
          <a:xfrm>
            <a:off x="12687300" y="6572250"/>
            <a:ext cx="4191000" cy="952500"/>
          </a:xfrm>
          <a:prstGeom prst="rect">
            <a:avLst/>
          </a:prstGeom>
          <a:noFill/>
          <a:ln/>
        </p:spPr>
        <p:txBody>
          <a:bodyPr wrap="square" lIns="0" tIns="5556" rIns="0" bIns="-5556" rtlCol="0" anchor="ctr"/>
          <a:lstStyle/>
          <a:p>
            <a:pPr algn="l" indent="0" marL="0">
              <a:lnSpc>
                <a:spcPts val="2633"/>
              </a:lnSpc>
              <a:buNone/>
            </a:pPr>
            <a:r>
              <a:rPr lang="en-US" sz="1950" b="1" dirty="0" spc="-5" kern="0">
                <a:solidFill>
                  <a:srgbClr val="B4530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get_important_facts(...)</a:t>
            </a:r>
            <a:endParaRPr lang="en-US" sz="1950" dirty="0"/>
          </a:p>
        </p:txBody>
      </p:sp>
      <p:sp>
        <p:nvSpPr>
          <p:cNvPr id="21" name="Shape 19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2" name="Shape 20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3" name="Shape 21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4" name="Shape 22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5" name="Shape 23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6" name="Shape 24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7" name="Shape 25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8" name="Shape 26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9" name="Shape 27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0" name="Shape 28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1" name="Shape 29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32" name="Text 30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 11</a:t>
            </a:r>
            <a:r>
              <a:rPr lang="en-US" sz="16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06/11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1244fcf1-fdce-4963-a412-cfb9f896ff3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65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TẠO</a:t>
            </a:r>
            <a:r>
              <a:rPr lang="en-US" sz="1950" b="1" spc="12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1950" b="1" spc="15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1950" b="1" spc="14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Ba</a:t>
            </a:r>
            <a:r>
              <a:rPr lang="en-US" sz="7200" dirty="0" spc="-9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bước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chính</a:t>
            </a:r>
            <a:endParaRPr lang="en-US" sz="72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 w="19050">
            <a:solidFill>
              <a:srgbClr val="3A3D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143250"/>
            <a:ext cx="1333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0" dirty="0" spc="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7800" dirty="0"/>
          </a:p>
        </p:txBody>
      </p:sp>
      <p:sp>
        <p:nvSpPr>
          <p:cNvPr id="6" name="Text 4"/>
          <p:cNvSpPr/>
          <p:nvPr/>
        </p:nvSpPr>
        <p:spPr>
          <a:xfrm>
            <a:off x="2857500" y="3143250"/>
            <a:ext cx="3048000" cy="1619250"/>
          </a:xfrm>
          <a:prstGeom prst="rect">
            <a:avLst/>
          </a:prstGeom>
          <a:noFill/>
          <a:ln/>
        </p:spPr>
        <p:txBody>
          <a:bodyPr wrap="square" lIns="0" tIns="2476" rIns="0" bIns="-2476" rtlCol="0" anchor="ctr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Gọi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6096000" y="3143250"/>
            <a:ext cx="10858500" cy="1619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Responses</a:t>
            </a:r>
            <a:r>
              <a:rPr lang="en-US" sz="2700" dirty="0" spc="-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API</a:t>
            </a:r>
            <a:r>
              <a:rPr lang="en-US" sz="2700" dirty="0" spc="-3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kèm</a:t>
            </a:r>
            <a:r>
              <a:rPr lang="en-US" sz="2700" dirty="0" spc="-2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danh</a:t>
            </a:r>
            <a:r>
              <a:rPr lang="en-US" sz="2700" dirty="0" spc="-5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sách</a:t>
            </a:r>
            <a:r>
              <a:rPr lang="en-US" sz="2700" dirty="0" spc="-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hàm,</a:t>
            </a:r>
            <a:r>
              <a:rPr lang="en-US" sz="2700" dirty="0" spc="2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tin</a:t>
            </a:r>
            <a:r>
              <a:rPr lang="en-US" sz="2700" dirty="0" spc="-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nhắn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504825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 w="19050">
            <a:solidFill>
              <a:srgbClr val="3A3D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33500" y="5048250"/>
            <a:ext cx="1333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0" dirty="0" spc="-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7800" dirty="0"/>
          </a:p>
        </p:txBody>
      </p:sp>
      <p:sp>
        <p:nvSpPr>
          <p:cNvPr id="10" name="Text 8"/>
          <p:cNvSpPr/>
          <p:nvPr/>
        </p:nvSpPr>
        <p:spPr>
          <a:xfrm>
            <a:off x="2857500" y="5048250"/>
            <a:ext cx="3048000" cy="1619250"/>
          </a:xfrm>
          <a:prstGeom prst="rect">
            <a:avLst/>
          </a:prstGeom>
          <a:noFill/>
          <a:ln/>
        </p:spPr>
        <p:txBody>
          <a:bodyPr wrap="square" lIns="0" tIns="2476" rIns="0" bIns="-2476" rtlCol="0" anchor="ctr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endParaRPr lang="en-US" sz="3900" dirty="0"/>
          </a:p>
        </p:txBody>
      </p:sp>
      <p:sp>
        <p:nvSpPr>
          <p:cNvPr id="11" name="Text 9"/>
          <p:cNvSpPr/>
          <p:nvPr/>
        </p:nvSpPr>
        <p:spPr>
          <a:xfrm>
            <a:off x="6096000" y="5048250"/>
            <a:ext cx="10858500" cy="1619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câu</a:t>
            </a:r>
            <a:r>
              <a:rPr lang="en-US" sz="2700" dirty="0" spc="-24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trả</a:t>
            </a:r>
            <a:r>
              <a:rPr lang="en-US" sz="2700" dirty="0" spc="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lời</a:t>
            </a:r>
            <a:r>
              <a:rPr lang="en-US" sz="2700" dirty="0" spc="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700" dirty="0" spc="-2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mô</a:t>
            </a:r>
            <a:r>
              <a:rPr lang="en-US" sz="2700" dirty="0" spc="-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hình,</a:t>
            </a:r>
            <a:r>
              <a:rPr lang="en-US" sz="2700" dirty="0" spc="-1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chạy</a:t>
            </a:r>
            <a:r>
              <a:rPr lang="en-US" sz="2700" dirty="0" spc="-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hàm</a:t>
            </a:r>
            <a:r>
              <a:rPr lang="en-US" sz="2700" dirty="0" spc="-14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hay</a:t>
            </a:r>
            <a:r>
              <a:rPr lang="en-US" sz="2700" dirty="0" spc="-9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gọi</a:t>
            </a:r>
            <a:r>
              <a:rPr lang="en-US" sz="2700" dirty="0" spc="-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API</a:t>
            </a:r>
            <a:endParaRPr lang="en-US" sz="2700" dirty="0"/>
          </a:p>
        </p:txBody>
      </p:sp>
      <p:sp>
        <p:nvSpPr>
          <p:cNvPr id="12" name="Shape 10"/>
          <p:cNvSpPr/>
          <p:nvPr/>
        </p:nvSpPr>
        <p:spPr>
          <a:xfrm>
            <a:off x="914400" y="6953250"/>
            <a:ext cx="16459200" cy="1619250"/>
          </a:xfrm>
          <a:prstGeom prst="roundRect">
            <a:avLst>
              <a:gd name="adj" fmla="val 14118"/>
            </a:avLst>
          </a:prstGeom>
          <a:solidFill>
            <a:srgbClr val="1E212B"/>
          </a:solidFill>
          <a:ln w="19050">
            <a:solidFill>
              <a:srgbClr val="3A3D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33500" y="6953250"/>
            <a:ext cx="133350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0" dirty="0" spc="-5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7800" dirty="0"/>
          </a:p>
        </p:txBody>
      </p:sp>
      <p:sp>
        <p:nvSpPr>
          <p:cNvPr id="14" name="Text 12"/>
          <p:cNvSpPr/>
          <p:nvPr/>
        </p:nvSpPr>
        <p:spPr>
          <a:xfrm>
            <a:off x="2857500" y="6953250"/>
            <a:ext cx="3048000" cy="1619250"/>
          </a:xfrm>
          <a:prstGeom prst="rect">
            <a:avLst/>
          </a:prstGeom>
          <a:noFill/>
          <a:ln/>
        </p:spPr>
        <p:txBody>
          <a:bodyPr wrap="square" lIns="0" tIns="2476" rIns="0" bIns="-2476" rtlCol="0" anchor="ctr"/>
          <a:lstStyle/>
          <a:p>
            <a:pPr algn="l" indent="0" marL="0">
              <a:lnSpc>
                <a:spcPts val="5070"/>
              </a:lnSpc>
              <a:buNone/>
            </a:pPr>
            <a:r>
              <a:rPr lang="en-US" sz="3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Gọi lại</a:t>
            </a:r>
            <a:endParaRPr lang="en-US" sz="3900" dirty="0"/>
          </a:p>
        </p:txBody>
      </p:sp>
      <p:sp>
        <p:nvSpPr>
          <p:cNvPr id="15" name="Text 13"/>
          <p:cNvSpPr/>
          <p:nvPr/>
        </p:nvSpPr>
        <p:spPr>
          <a:xfrm>
            <a:off x="6096000" y="6953250"/>
            <a:ext cx="10858500" cy="161925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Responses</a:t>
            </a:r>
            <a:r>
              <a:rPr lang="en-US" sz="2700" dirty="0" spc="-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API</a:t>
            </a:r>
            <a:r>
              <a:rPr lang="en-US" sz="2700" dirty="0" spc="-1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với</a:t>
            </a:r>
            <a:r>
              <a:rPr lang="en-US" sz="2700" dirty="0" spc="-35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kết</a:t>
            </a:r>
            <a:r>
              <a:rPr lang="en-US" sz="2700" dirty="0" spc="-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quả</a:t>
            </a:r>
            <a:r>
              <a:rPr lang="en-US" sz="2700" dirty="0" spc="-4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hàm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8" name="Shape 16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9" name="Shape 17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0" name="Shape 18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1" name="Shape 19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2" name="Shape 20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3" name="Shape 21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4" name="Shape 22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5" name="Shape 23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6" name="Shape 24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7" name="Text 25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 11</a:t>
            </a:r>
            <a:r>
              <a:rPr lang="en-US" sz="165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-14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07/11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022e8b6e-6928-4759-b4df-b0b82b2f939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0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Mô</a:t>
            </a:r>
            <a:r>
              <a:rPr lang="en-US" sz="7200" dirty="0" spc="-8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tả</a:t>
            </a:r>
            <a:r>
              <a:rPr lang="en-US" sz="7200" dirty="0" spc="1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hàm</a:t>
            </a:r>
            <a:r>
              <a:rPr lang="en-US" sz="7200" dirty="0" spc="-9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search_courses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1295400" y="238125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715000" y="2381250"/>
            <a:ext cx="38100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15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Ý</a:t>
            </a:r>
            <a:r>
              <a:rPr lang="en-US" sz="180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857500"/>
            <a:ext cx="16459200" cy="1066800"/>
          </a:xfrm>
          <a:prstGeom prst="roundRect">
            <a:avLst>
              <a:gd name="adj" fmla="val 1785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95400" y="2857500"/>
            <a:ext cx="4191000" cy="1066800"/>
          </a:xfrm>
          <a:prstGeom prst="rect">
            <a:avLst/>
          </a:prstGeom>
          <a:noFill/>
          <a:ln/>
        </p:spPr>
        <p:txBody>
          <a:bodyPr wrap="square" lIns="0" tIns="7715" rIns="0" bIns="-7715" rtlCol="0" anchor="ctr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b="1" dirty="0" spc="-5" kern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715000" y="2857500"/>
            <a:ext cx="11239500" cy="10668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tên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hàm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muốn</a:t>
            </a:r>
            <a:r>
              <a:rPr lang="en-US" sz="2700" dirty="0" spc="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7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gọi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4095750"/>
            <a:ext cx="16459200" cy="1066800"/>
          </a:xfrm>
          <a:prstGeom prst="roundRect">
            <a:avLst>
              <a:gd name="adj" fmla="val 1785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95400" y="4095750"/>
            <a:ext cx="4191000" cy="1066800"/>
          </a:xfrm>
          <a:prstGeom prst="rect">
            <a:avLst/>
          </a:prstGeom>
          <a:noFill/>
          <a:ln/>
        </p:spPr>
        <p:txBody>
          <a:bodyPr wrap="square" lIns="0" tIns="7715" rIns="0" bIns="-7715" rtlCol="0" anchor="ctr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b="1" dirty="0" spc="-5" kern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description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5715000" y="4095750"/>
            <a:ext cx="11239500" cy="10668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hàm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làm gì;</a:t>
            </a:r>
            <a:r>
              <a:rPr lang="en-US" sz="27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viết</a:t>
            </a:r>
            <a:r>
              <a:rPr lang="en-US" sz="2700" dirty="0" spc="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cụ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thể,</a:t>
            </a:r>
            <a:r>
              <a:rPr lang="en-US" sz="2700" dirty="0" spc="-3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rõ</a:t>
            </a:r>
            <a:r>
              <a:rPr lang="en-US" sz="2700" dirty="0" spc="-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ràng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14400" y="5334000"/>
            <a:ext cx="16459200" cy="1066800"/>
          </a:xfrm>
          <a:prstGeom prst="roundRect">
            <a:avLst>
              <a:gd name="adj" fmla="val 1785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5400" y="5334000"/>
            <a:ext cx="4191000" cy="1066800"/>
          </a:xfrm>
          <a:prstGeom prst="rect">
            <a:avLst/>
          </a:prstGeom>
          <a:noFill/>
          <a:ln/>
        </p:spPr>
        <p:txBody>
          <a:bodyPr wrap="square" lIns="0" tIns="7715" rIns="0" bIns="-7715" rtlCol="0" anchor="ctr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b="1" dirty="0" spc="-5" kern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parameters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5715000" y="5334000"/>
            <a:ext cx="11239500" cy="10668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role,</a:t>
            </a:r>
            <a:r>
              <a:rPr lang="en-US" sz="2700" dirty="0" spc="-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product,</a:t>
            </a:r>
            <a:r>
              <a:rPr lang="en-US" sz="2700" dirty="0" spc="-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level: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giá</a:t>
            </a:r>
            <a:r>
              <a:rPr lang="en-US" sz="2700" dirty="0" spc="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trị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mô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hình phải</a:t>
            </a:r>
            <a:r>
              <a:rPr lang="en-US" sz="2700" dirty="0" spc="-24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trả</a:t>
            </a:r>
            <a:r>
              <a:rPr lang="en-US" sz="2700" dirty="0" spc="-3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ra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914400" y="6572250"/>
            <a:ext cx="16459200" cy="1066800"/>
          </a:xfrm>
          <a:prstGeom prst="roundRect">
            <a:avLst>
              <a:gd name="adj" fmla="val 1785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95400" y="6572250"/>
            <a:ext cx="4191000" cy="1066800"/>
          </a:xfrm>
          <a:prstGeom prst="rect">
            <a:avLst/>
          </a:prstGeom>
          <a:noFill/>
          <a:ln/>
        </p:spPr>
        <p:txBody>
          <a:bodyPr wrap="square" lIns="0" tIns="7715" rIns="0" bIns="-7715" rtlCol="0" anchor="ctr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2700" b="1" dirty="0" spc="-5" kern="0">
                <a:solidFill>
                  <a:srgbClr val="0F766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required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5715000" y="6572250"/>
            <a:ext cx="11239500" cy="10668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tham</a:t>
            </a:r>
            <a:r>
              <a:rPr lang="en-US" sz="2700" dirty="0" spc="-8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số</a:t>
            </a:r>
            <a:r>
              <a:rPr lang="en-US" sz="270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bắt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buộc:</a:t>
            </a:r>
            <a:r>
              <a:rPr lang="en-US" sz="2700" dirty="0" spc="-2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role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914400" y="8096250"/>
            <a:ext cx="16192500" cy="476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Mô</a:t>
            </a:r>
            <a:r>
              <a:rPr lang="en-US" sz="240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tả</a:t>
            </a:r>
            <a:r>
              <a:rPr lang="en-US" sz="24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hàm</a:t>
            </a:r>
            <a:r>
              <a:rPr lang="en-US" sz="2400" dirty="0" spc="-14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tốn</a:t>
            </a:r>
            <a:r>
              <a:rPr lang="en-US" sz="2400" dirty="0" spc="-1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vào</a:t>
            </a:r>
            <a:r>
              <a:rPr lang="en-US" sz="2400" dirty="0" spc="-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số</a:t>
            </a:r>
            <a:r>
              <a:rPr lang="en-US" sz="2400" dirty="0" spc="-2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token</a:t>
            </a:r>
            <a:r>
              <a:rPr lang="en-US" sz="240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bạn</a:t>
            </a:r>
            <a:r>
              <a:rPr lang="en-US" sz="2400" dirty="0" spc="6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được</a:t>
            </a:r>
            <a:r>
              <a:rPr lang="en-US" sz="240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dùng.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9" name="Shape 17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0" name="Shape 18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1" name="Shape 19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2" name="Shape 20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3" name="Shape 21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4" name="Shape 22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5" name="Shape 23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6" name="Shape 24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7" name="Shape 25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8" name="Shape 26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9" name="Text 27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 11</a:t>
            </a:r>
            <a:r>
              <a:rPr lang="en-US" sz="16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 08/11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9673df18-7f4c-4899-a2aa-d16c3a1698a8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14300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THỬ</a:t>
            </a:r>
            <a:r>
              <a:rPr lang="en-US" sz="1950" b="1" spc="11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428750"/>
            <a:ext cx="16459200" cy="1095375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Mô</a:t>
            </a:r>
            <a:r>
              <a:rPr lang="en-US" sz="6900" dirty="0" spc="-1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tự</a:t>
            </a:r>
            <a:r>
              <a:rPr lang="en-US" sz="6900" dirty="0" spc="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điền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tham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số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5143500" cy="4000500"/>
          </a:xfrm>
          <a:prstGeom prst="roundRect">
            <a:avLst>
              <a:gd name="adj" fmla="val 5714"/>
            </a:avLst>
          </a:prstGeom>
          <a:solidFill>
            <a:srgbClr val="1E212B"/>
          </a:solidFill>
          <a:ln w="19050">
            <a:solidFill>
              <a:srgbClr val="3A3D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57300" y="3390900"/>
            <a:ext cx="4476750" cy="571500"/>
          </a:xfrm>
          <a:prstGeom prst="rect">
            <a:avLst/>
          </a:prstGeom>
          <a:noFill/>
          <a:ln/>
        </p:spPr>
        <p:txBody>
          <a:bodyPr wrap="square" lIns="0" tIns="7271" rIns="0" bIns="-7271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b="1" dirty="0" spc="5" kern="0">
                <a:solidFill>
                  <a:srgbClr val="3D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messages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1257300" y="4191000"/>
            <a:ext cx="4476750" cy="2476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“Find</a:t>
            </a:r>
            <a:r>
              <a:rPr lang="en-US" sz="240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me</a:t>
            </a:r>
            <a:r>
              <a:rPr lang="en-US" sz="2400" dirty="0" spc="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</a:t>
            </a:r>
            <a:r>
              <a:rPr lang="en-US" sz="240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good</a:t>
            </a: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course</a:t>
            </a:r>
            <a:r>
              <a:rPr lang="en-US" sz="2400" dirty="0" spc="-16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for</a:t>
            </a:r>
            <a:r>
              <a:rPr lang="en-US" sz="240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</a:t>
            </a:r>
            <a:r>
              <a:rPr lang="en-US" sz="24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beginner</a:t>
            </a:r>
            <a:r>
              <a:rPr lang="en-US" sz="240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student</a:t>
            </a:r>
            <a:r>
              <a:rPr lang="en-US" sz="240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to</a:t>
            </a:r>
            <a:r>
              <a:rPr lang="en-US" sz="240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learn</a:t>
            </a:r>
            <a:r>
              <a:rPr lang="en-US" sz="240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Azure.”</a:t>
            </a:r>
            <a:endParaRPr lang="en-US" sz="2400" dirty="0"/>
          </a:p>
        </p:txBody>
      </p:sp>
      <p:sp>
        <p:nvSpPr>
          <p:cNvPr id="7" name="Connector line-1792490066198-944731908"/>
          <p:cNvSpPr/>
          <p:nvPr/>
        </p:nvSpPr>
        <p:spPr>
          <a:xfrm>
            <a:off x="6115050" y="5048250"/>
            <a:ext cx="342900" cy="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triangle" w="med" len="lg"/>
          </a:ln>
        </p:spPr>
      </p:sp>
      <p:sp>
        <p:nvSpPr>
          <p:cNvPr id="8" name="Shape 6"/>
          <p:cNvSpPr/>
          <p:nvPr/>
        </p:nvSpPr>
        <p:spPr>
          <a:xfrm>
            <a:off x="6515100" y="3048000"/>
            <a:ext cx="5143500" cy="4000500"/>
          </a:xfrm>
          <a:prstGeom prst="roundRect">
            <a:avLst>
              <a:gd name="adj" fmla="val 5714"/>
            </a:avLst>
          </a:prstGeom>
          <a:solidFill>
            <a:srgbClr val="1E212B"/>
          </a:solidFill>
          <a:ln w="19050">
            <a:solidFill>
              <a:srgbClr val="3A3D4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0" y="3390900"/>
            <a:ext cx="4476750" cy="571500"/>
          </a:xfrm>
          <a:prstGeom prst="rect">
            <a:avLst/>
          </a:prstGeom>
          <a:noFill/>
          <a:ln/>
        </p:spPr>
        <p:txBody>
          <a:bodyPr wrap="square" lIns="0" tIns="7271" rIns="0" bIns="-7271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b="1" dirty="0" spc="5" kern="0">
                <a:solidFill>
                  <a:srgbClr val="3D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responses.create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6858000" y="4191000"/>
            <a:ext cx="4476750" cy="2476500"/>
          </a:xfrm>
          <a:prstGeom prst="rect">
            <a:avLst/>
          </a:prstGeom>
          <a:noFill/>
          <a:ln/>
        </p:spPr>
        <p:txBody>
          <a:bodyPr wrap="square" lIns="0" tIns="6001" rIns="0" bIns="-6001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en-US" sz="2100" dirty="0" spc="-3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tools=functions,</a:t>
            </a:r>
            <a:r>
              <a:rPr lang="en-US" sz="2100" dirty="0" spc="-2" kern="0">
                <a:solidFill>
                  <a:srgbClr val="F3EEE3"/>
                </a:solidFill>
                <a:latin typeface="JetBrains Mono Medium" pitchFamily="34" charset="0"/>
                <a:ea typeface="JetBrains Mono Medium" pitchFamily="34" charset="-122"/>
                <a:cs typeface="JetBrains Mono Medium" pitchFamily="34" charset="-120"/>
              </a:rPr>
              <a:t> tool_choice="auto"</a:t>
            </a:r>
            <a:endParaRPr lang="en-US" sz="2100" dirty="0"/>
          </a:p>
        </p:txBody>
      </p:sp>
      <p:sp>
        <p:nvSpPr>
          <p:cNvPr id="11" name="Connector line-1792490066204-992365632"/>
          <p:cNvSpPr/>
          <p:nvPr/>
        </p:nvSpPr>
        <p:spPr>
          <a:xfrm>
            <a:off x="11715750" y="5048250"/>
            <a:ext cx="342900" cy="0"/>
          </a:xfrm>
          <a:prstGeom prst="line">
            <a:avLst/>
          </a:prstGeom>
          <a:noFill/>
          <a:ln w="38100">
            <a:solidFill>
              <a:srgbClr val="3DD6A0"/>
            </a:solidFill>
            <a:prstDash val="solid"/>
            <a:headEnd type="none"/>
            <a:tailEnd type="triangle" w="med" len="lg"/>
          </a:ln>
        </p:spPr>
      </p:sp>
      <p:sp>
        <p:nvSpPr>
          <p:cNvPr id="12" name="Shape 10"/>
          <p:cNvSpPr/>
          <p:nvPr/>
        </p:nvSpPr>
        <p:spPr>
          <a:xfrm>
            <a:off x="12115800" y="3048000"/>
            <a:ext cx="5143500" cy="4000500"/>
          </a:xfrm>
          <a:prstGeom prst="roundRect">
            <a:avLst>
              <a:gd name="adj" fmla="val 5714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458700" y="3390900"/>
            <a:ext cx="4476750" cy="571500"/>
          </a:xfrm>
          <a:prstGeom prst="rect">
            <a:avLst/>
          </a:prstGeom>
          <a:noFill/>
          <a:ln/>
        </p:spPr>
        <p:txBody>
          <a:bodyPr wrap="square" lIns="0" tIns="7271" rIns="0" bIns="-7271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b="1" dirty="0" spc="5" kern="0">
                <a:solidFill>
                  <a:srgbClr val="3DD6A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function_call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12458700" y="4191000"/>
            <a:ext cx="4476750" cy="247650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search_courses:</a:t>
            </a:r>
            <a:r>
              <a:rPr lang="en-US" sz="240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student,</a:t>
            </a:r>
            <a:r>
              <a:rPr lang="en-US" sz="2400" dirty="0" spc="-1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Azure,</a:t>
            </a:r>
            <a:r>
              <a:rPr lang="en-US" sz="240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beginner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14400" y="75247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12954" rIns="0" bIns="-12954" rtlCol="0" anchor="t"/>
          <a:lstStyle/>
          <a:p>
            <a:pPr algn="l" indent="0" marL="0">
              <a:lnSpc>
                <a:spcPts val="3120"/>
              </a:lnSpc>
              <a:buNone/>
            </a:pPr>
            <a:r>
              <a:rPr lang="en-US" sz="2400" dirty="0" spc="-42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Rồi</a:t>
            </a:r>
            <a:r>
              <a:rPr lang="en-US" sz="2400" dirty="0" spc="26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ứng</a:t>
            </a:r>
            <a:r>
              <a:rPr lang="en-US" sz="2400" dirty="0" spc="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dụng</a:t>
            </a:r>
            <a:r>
              <a:rPr lang="en-US" sz="2400" dirty="0" spc="-8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chạy</a:t>
            </a:r>
            <a:r>
              <a:rPr lang="en-US" sz="2400" dirty="0" spc="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hàm</a:t>
            </a:r>
            <a:r>
              <a:rPr lang="en-US" sz="2400" dirty="0" spc="5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Python</a:t>
            </a:r>
            <a:r>
              <a:rPr lang="en-US" sz="2400" dirty="0" spc="-7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thật,</a:t>
            </a:r>
            <a:r>
              <a:rPr lang="en-US" sz="2400" dirty="0" spc="42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gửi</a:t>
            </a:r>
            <a:r>
              <a:rPr lang="en-US" sz="2400" dirty="0" spc="-32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kết</a:t>
            </a:r>
            <a:r>
              <a:rPr lang="en-US" sz="2400" dirty="0" spc="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quả lại cho</a:t>
            </a:r>
            <a:r>
              <a:rPr lang="en-US" sz="2400" dirty="0" spc="-4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mô</a:t>
            </a:r>
            <a:r>
              <a:rPr lang="en-US" sz="2400" dirty="0" spc="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hình.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7" name="Shape 15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8" name="Shape 16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9" name="Shape 17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0" name="Shape 18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1" name="Shape 19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2" name="Shape 20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3" name="Shape 21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4" name="Shape 22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5" name="Shape 23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6" name="Shape 24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7" name="Text 25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 11</a:t>
            </a:r>
            <a:r>
              <a:rPr lang="en-US" sz="165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09/11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b59f97e4-2ffa-4b65-9179-fe7f1516207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6459200" cy="1095375"/>
          </a:xfrm>
          <a:prstGeom prst="rect">
            <a:avLst/>
          </a:prstGeom>
          <a:noFill/>
          <a:ln/>
        </p:spPr>
        <p:txBody>
          <a:bodyPr wrap="square" lIns="0" tIns="59150" rIns="0" bIns="-59150" rtlCol="0" anchor="t"/>
          <a:lstStyle/>
          <a:p>
            <a:pPr algn="l" indent="0" marL="0">
              <a:lnSpc>
                <a:spcPts val="7245"/>
              </a:lnSpc>
              <a:buNone/>
            </a:pPr>
            <a:r>
              <a:rPr lang="en-US" sz="6900" dirty="0" spc="-1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Nhìn</a:t>
            </a:r>
            <a:r>
              <a:rPr lang="en-US" sz="6900" dirty="0" spc="-1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hình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trả</a:t>
            </a:r>
            <a:r>
              <a:rPr lang="en-US" sz="6900" dirty="0" spc="-3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lời</a:t>
            </a:r>
            <a:endParaRPr lang="en-US" sz="6900" dirty="0"/>
          </a:p>
        </p:txBody>
      </p:sp>
      <p:sp>
        <p:nvSpPr>
          <p:cNvPr id="3" name="Text 1"/>
          <p:cNvSpPr/>
          <p:nvPr/>
        </p:nvSpPr>
        <p:spPr>
          <a:xfrm>
            <a:off x="914400" y="190500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t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Hỏi</a:t>
            </a:r>
            <a:r>
              <a:rPr lang="en-US" sz="2700" dirty="0" spc="-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“Tìm</a:t>
            </a:r>
            <a:r>
              <a:rPr lang="en-US" sz="2700" dirty="0" spc="-5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khóa</a:t>
            </a:r>
            <a:r>
              <a:rPr lang="en-US" sz="2700" dirty="0" spc="-16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Azure</a:t>
            </a:r>
            <a:r>
              <a:rPr lang="en-US" sz="2700" dirty="0" spc="-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2700" dirty="0" spc="1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2700" dirty="0" spc="3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mới”.</a:t>
            </a:r>
            <a:r>
              <a:rPr lang="en-US" sz="2700" dirty="0" spc="1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270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thật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sự</a:t>
            </a:r>
            <a:r>
              <a:rPr lang="en-US" sz="2700" dirty="0" spc="-1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gọi</a:t>
            </a:r>
            <a:r>
              <a:rPr lang="en-US" sz="2700" dirty="0" spc="-12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Microsoft</a:t>
            </a:r>
            <a:r>
              <a:rPr lang="en-US" sz="2700" dirty="0" spc="-19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Learn</a:t>
            </a:r>
            <a:r>
              <a:rPr lang="en-US" sz="2700" dirty="0" spc="0" kern="0">
                <a:solidFill>
                  <a:srgbClr val="14161C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API?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80010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95400" y="2857500"/>
            <a:ext cx="857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4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2343150" y="2857500"/>
            <a:ext cx="6191250" cy="1905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LLM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70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r>
              <a:rPr lang="en-US" sz="27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API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9372600" y="2857500"/>
            <a:ext cx="8001000" cy="1905000"/>
          </a:xfrm>
          <a:prstGeom prst="roundRect">
            <a:avLst>
              <a:gd name="adj" fmla="val 12000"/>
            </a:avLst>
          </a:prstGeom>
          <a:solidFill>
            <a:srgbClr val="DDE3FA"/>
          </a:solidFill>
          <a:ln w="38100">
            <a:solidFill>
              <a:srgbClr val="1F3FD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53600" y="2857500"/>
            <a:ext cx="857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-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10801350" y="2857500"/>
            <a:ext cx="6191250" cy="1905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Ứng dụng của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bạn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914400" y="5048250"/>
            <a:ext cx="80010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5400" y="5048250"/>
            <a:ext cx="857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-2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2343150" y="5048250"/>
            <a:ext cx="6191250" cy="1905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-1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Microsoft</a:t>
            </a:r>
            <a:r>
              <a:rPr lang="en-US" sz="27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Learn</a:t>
            </a:r>
            <a:r>
              <a:rPr lang="en-US" sz="27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700" dirty="0" spc="4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gửi</a:t>
            </a:r>
            <a:r>
              <a:rPr lang="en-US" sz="2700" dirty="0" spc="-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tới</a:t>
            </a:r>
            <a:endParaRPr lang="en-US" sz="2700" dirty="0"/>
          </a:p>
        </p:txBody>
      </p:sp>
      <p:sp>
        <p:nvSpPr>
          <p:cNvPr id="13" name="Shape 11"/>
          <p:cNvSpPr/>
          <p:nvPr/>
        </p:nvSpPr>
        <p:spPr>
          <a:xfrm>
            <a:off x="9372600" y="5048250"/>
            <a:ext cx="8001000" cy="1905000"/>
          </a:xfrm>
          <a:prstGeom prst="roundRect">
            <a:avLst>
              <a:gd name="adj" fmla="val 12000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53600" y="5048250"/>
            <a:ext cx="85725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dirty="0" spc="1" kern="0">
                <a:solidFill>
                  <a:srgbClr val="6B6A66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10801350" y="5048250"/>
            <a:ext cx="6191250" cy="1905000"/>
          </a:xfrm>
          <a:prstGeom prst="rect">
            <a:avLst/>
          </a:prstGeom>
          <a:noFill/>
          <a:ln/>
        </p:spPr>
        <p:txBody>
          <a:bodyPr wrap="square" lIns="0" tIns="14573" rIns="0" bIns="-14573" rtlCol="0" anchor="ctr"/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2700" dirty="0" spc="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Người</a:t>
            </a:r>
            <a:r>
              <a:rPr lang="en-US" sz="27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dùng</a:t>
            </a:r>
            <a:r>
              <a:rPr lang="en-US" sz="27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tự</a:t>
            </a:r>
            <a:r>
              <a:rPr lang="en-US" sz="270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mở</a:t>
            </a:r>
            <a:r>
              <a:rPr lang="en-US" sz="270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trang</a:t>
            </a:r>
            <a:endParaRPr lang="en-US" sz="2700" dirty="0"/>
          </a:p>
        </p:txBody>
      </p:sp>
      <p:sp>
        <p:nvSpPr>
          <p:cNvPr id="16" name="Shape 14"/>
          <p:cNvSpPr/>
          <p:nvPr/>
        </p:nvSpPr>
        <p:spPr>
          <a:xfrm>
            <a:off x="914400" y="7524750"/>
            <a:ext cx="16459200" cy="1428750"/>
          </a:xfrm>
          <a:prstGeom prst="roundRect">
            <a:avLst>
              <a:gd name="adj" fmla="val 16000"/>
            </a:avLst>
          </a:prstGeom>
          <a:solidFill>
            <a:srgbClr val="14161C"/>
          </a:solidFill>
          <a:ln/>
        </p:spPr>
      </p:sp>
      <p:sp>
        <p:nvSpPr>
          <p:cNvPr id="17" name="Text 15"/>
          <p:cNvSpPr/>
          <p:nvPr/>
        </p:nvSpPr>
        <p:spPr>
          <a:xfrm>
            <a:off x="1333500" y="7524750"/>
            <a:ext cx="15621000" cy="142875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Đáp</a:t>
            </a:r>
            <a:r>
              <a:rPr lang="en-US" sz="255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án</a:t>
            </a: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B.</a:t>
            </a:r>
            <a:r>
              <a:rPr lang="en-US" sz="255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LLM</a:t>
            </a:r>
            <a:r>
              <a:rPr lang="en-US" sz="255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chỉ</a:t>
            </a:r>
            <a:r>
              <a:rPr lang="en-US" sz="2550" dirty="0" spc="-2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2550" dirty="0" spc="-1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tên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hàm</a:t>
            </a:r>
            <a:r>
              <a:rPr lang="en-US" sz="2550" dirty="0" spc="-2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tham</a:t>
            </a:r>
            <a:r>
              <a:rPr lang="en-US" sz="25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số; code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của</a:t>
            </a:r>
            <a:r>
              <a:rPr lang="en-US" sz="255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bạn</a:t>
            </a:r>
            <a:r>
              <a:rPr lang="en-US" sz="2550" dirty="0" spc="-8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chạy</a:t>
            </a:r>
            <a:r>
              <a:rPr lang="en-US" sz="255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hàm,</a:t>
            </a:r>
            <a:r>
              <a:rPr lang="en-US" sz="255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gọi</a:t>
            </a:r>
            <a:r>
              <a:rPr lang="en-US" sz="255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API.</a:t>
            </a:r>
            <a:endParaRPr lang="en-US" sz="2550" dirty="0"/>
          </a:p>
        </p:txBody>
      </p:sp>
      <p:sp>
        <p:nvSpPr>
          <p:cNvPr id="18" name="Shape 16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19" name="Shape 17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0" name="Shape 18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1" name="Shape 19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2" name="Shape 20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3" name="Shape 21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4" name="Shape 22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5" name="Shape 23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6" name="Shape 24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7" name="Shape 25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Shape 26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CFC7B4"/>
          </a:solidFill>
          <a:ln/>
        </p:spPr>
      </p:sp>
      <p:sp>
        <p:nvSpPr>
          <p:cNvPr id="29" name="Text 27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 11</a:t>
            </a:r>
            <a:r>
              <a:rPr lang="en-US" sz="1650" dirty="0" spc="1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6B6A66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10/11</a:t>
            </a:r>
            <a:endParaRPr lang="en-US" sz="1650" dirty="0"/>
          </a:p>
        </p:txBody>
      </p:sp>
      <p:sp>
        <p:nvSpPr>
          <p:cNvPr id="30" name="Shape 2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1" name="Moda image moda-export-watermark-b0d3febe-5b29-4e3d-93ba-e6fbff1a0e9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7560"/>
              </a:lnSpc>
              <a:buNone/>
            </a:pPr>
            <a:r>
              <a:rPr lang="en-US" sz="72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Thuật</a:t>
            </a:r>
            <a:r>
              <a:rPr lang="en-US" sz="72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ngữ</a:t>
            </a:r>
            <a:r>
              <a:rPr lang="en-US" sz="72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72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7200" dirty="0"/>
          </a:p>
        </p:txBody>
      </p:sp>
      <p:sp>
        <p:nvSpPr>
          <p:cNvPr id="3" name="Shape 1"/>
          <p:cNvSpPr/>
          <p:nvPr/>
        </p:nvSpPr>
        <p:spPr>
          <a:xfrm>
            <a:off x="914400" y="247650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4" name="Text 2"/>
          <p:cNvSpPr/>
          <p:nvPr/>
        </p:nvSpPr>
        <p:spPr>
          <a:xfrm>
            <a:off x="1295400" y="247650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LLM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4000500" y="2476500"/>
            <a:ext cx="129540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4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Large</a:t>
            </a:r>
            <a:r>
              <a:rPr lang="en-US" sz="255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Language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Model: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mô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hình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ngôn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ngữ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lớn</a:t>
            </a:r>
            <a:endParaRPr lang="en-US" sz="2550" dirty="0"/>
          </a:p>
        </p:txBody>
      </p:sp>
      <p:sp>
        <p:nvSpPr>
          <p:cNvPr id="6" name="Shape 4"/>
          <p:cNvSpPr/>
          <p:nvPr/>
        </p:nvSpPr>
        <p:spPr>
          <a:xfrm>
            <a:off x="914400" y="352425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352425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API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4000500" y="3524250"/>
            <a:ext cx="129540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Application</a:t>
            </a:r>
            <a:r>
              <a:rPr lang="en-US" sz="25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Programming</a:t>
            </a:r>
            <a:r>
              <a:rPr lang="en-US" sz="2550" dirty="0" spc="-1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Interface: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giao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diện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lập</a:t>
            </a:r>
            <a:r>
              <a:rPr lang="en-US" sz="2550" dirty="0" spc="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trình</a:t>
            </a:r>
            <a:endParaRPr lang="en-US" sz="2550" dirty="0"/>
          </a:p>
        </p:txBody>
      </p:sp>
      <p:sp>
        <p:nvSpPr>
          <p:cNvPr id="9" name="Shape 7"/>
          <p:cNvSpPr/>
          <p:nvPr/>
        </p:nvSpPr>
        <p:spPr>
          <a:xfrm>
            <a:off x="914400" y="457200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0" name="Text 8"/>
          <p:cNvSpPr/>
          <p:nvPr/>
        </p:nvSpPr>
        <p:spPr>
          <a:xfrm>
            <a:off x="1295400" y="457200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JSON</a:t>
            </a:r>
            <a:endParaRPr lang="en-US" sz="3300" dirty="0"/>
          </a:p>
        </p:txBody>
      </p:sp>
      <p:sp>
        <p:nvSpPr>
          <p:cNvPr id="11" name="Text 9"/>
          <p:cNvSpPr/>
          <p:nvPr/>
        </p:nvSpPr>
        <p:spPr>
          <a:xfrm>
            <a:off x="4000500" y="4572000"/>
            <a:ext cx="129540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JavaScript</a:t>
            </a:r>
            <a:r>
              <a:rPr lang="en-US" sz="2550" dirty="0" spc="-1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Object Notation:</a:t>
            </a:r>
            <a:r>
              <a:rPr lang="en-US" sz="2550" dirty="0" spc="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định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dạng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 có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cấu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trúc</a:t>
            </a:r>
            <a:endParaRPr lang="en-US" sz="2550" dirty="0"/>
          </a:p>
        </p:txBody>
      </p:sp>
      <p:sp>
        <p:nvSpPr>
          <p:cNvPr id="12" name="Shape 10"/>
          <p:cNvSpPr/>
          <p:nvPr/>
        </p:nvSpPr>
        <p:spPr>
          <a:xfrm>
            <a:off x="914400" y="561975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13" name="Text 11"/>
          <p:cNvSpPr/>
          <p:nvPr/>
        </p:nvSpPr>
        <p:spPr>
          <a:xfrm>
            <a:off x="1295400" y="561975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7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GPA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4000500" y="5619750"/>
            <a:ext cx="129540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Grade</a:t>
            </a:r>
            <a:r>
              <a:rPr lang="en-US" sz="2550" dirty="0" spc="-18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Point</a:t>
            </a:r>
            <a:r>
              <a:rPr lang="en-US" sz="2550" dirty="0" spc="-3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Average:</a:t>
            </a:r>
            <a:r>
              <a:rPr lang="en-US" sz="2550" dirty="0" spc="19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điểm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trung</a:t>
            </a:r>
            <a:r>
              <a:rPr lang="en-US" sz="2550" dirty="0" spc="-2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bình</a:t>
            </a:r>
            <a:r>
              <a:rPr lang="en-US" sz="2550" dirty="0" spc="-5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học</a:t>
            </a:r>
            <a:r>
              <a:rPr lang="en-US" sz="2550" dirty="0" spc="-1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tập</a:t>
            </a:r>
            <a:endParaRPr lang="en-US" sz="2550" dirty="0"/>
          </a:p>
        </p:txBody>
      </p:sp>
      <p:sp>
        <p:nvSpPr>
          <p:cNvPr id="15" name="Text 13"/>
          <p:cNvSpPr/>
          <p:nvPr/>
        </p:nvSpPr>
        <p:spPr>
          <a:xfrm>
            <a:off x="914400" y="79057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11335" rIns="0" bIns="-11335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en-US" sz="2100" dirty="0" spc="8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Dựa</a:t>
            </a:r>
            <a:r>
              <a:rPr lang="en-US" sz="2100" dirty="0" spc="-17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trên</a:t>
            </a:r>
            <a:r>
              <a:rPr lang="en-US" sz="2100" dirty="0" spc="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 11</a:t>
            </a:r>
            <a:r>
              <a:rPr lang="en-US" sz="2100" dirty="0" spc="-3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của</a:t>
            </a:r>
            <a:r>
              <a:rPr lang="en-US" sz="2100" dirty="0" spc="-14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microsoft/generative-ai-for-beginners</a:t>
            </a:r>
            <a:r>
              <a:rPr lang="en-US" sz="2100" dirty="0" spc="4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(MIT</a:t>
            </a:r>
            <a:r>
              <a:rPr lang="en-US" sz="2100" dirty="0" spc="-5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License,</a:t>
            </a:r>
            <a:r>
              <a:rPr lang="en-US" sz="2100" dirty="0" spc="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©</a:t>
            </a:r>
            <a:r>
              <a:rPr lang="en-US" sz="2100" dirty="0" spc="-10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Microsoft</a:t>
            </a:r>
            <a:r>
              <a:rPr lang="en-US" sz="2100" dirty="0" spc="-11" kern="0">
                <a:solidFill>
                  <a:srgbClr val="C9C4B8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Corporation).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914400" y="8429625"/>
            <a:ext cx="16459200" cy="476250"/>
          </a:xfrm>
          <a:prstGeom prst="rect">
            <a:avLst/>
          </a:prstGeom>
          <a:noFill/>
          <a:ln/>
        </p:spPr>
        <p:txBody>
          <a:bodyPr wrap="square" lIns="0" tIns="10525" rIns="0" bIns="-10525" rtlCol="0" anchor="t"/>
          <a:lstStyle/>
          <a:p>
            <a:pPr algn="l" indent="0" marL="0">
              <a:lnSpc>
                <a:spcPts val="2535"/>
              </a:lnSpc>
              <a:buNone/>
            </a:pPr>
            <a:r>
              <a:rPr lang="en-US" sz="1950" dirty="0" spc="-8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github.com/microsoft/generative-ai-for-beginners</a:t>
            </a:r>
            <a:r>
              <a:rPr lang="en-US" sz="195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95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commit</a:t>
            </a:r>
            <a:r>
              <a:rPr lang="en-US" sz="19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c35bc19</a:t>
            </a:r>
            <a:endParaRPr lang="en-US" sz="1950" dirty="0"/>
          </a:p>
        </p:txBody>
      </p:sp>
      <p:sp>
        <p:nvSpPr>
          <p:cNvPr id="17" name="Shape 15"/>
          <p:cNvSpPr/>
          <p:nvPr/>
        </p:nvSpPr>
        <p:spPr>
          <a:xfrm>
            <a:off x="9144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8" name="Shape 16"/>
          <p:cNvSpPr/>
          <p:nvPr/>
        </p:nvSpPr>
        <p:spPr>
          <a:xfrm>
            <a:off x="11620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19" name="Shape 17"/>
          <p:cNvSpPr/>
          <p:nvPr/>
        </p:nvSpPr>
        <p:spPr>
          <a:xfrm>
            <a:off x="14097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0" name="Shape 18"/>
          <p:cNvSpPr/>
          <p:nvPr/>
        </p:nvSpPr>
        <p:spPr>
          <a:xfrm>
            <a:off x="16573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1" name="Shape 19"/>
          <p:cNvSpPr/>
          <p:nvPr/>
        </p:nvSpPr>
        <p:spPr>
          <a:xfrm>
            <a:off x="19050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2" name="Shape 20"/>
          <p:cNvSpPr/>
          <p:nvPr/>
        </p:nvSpPr>
        <p:spPr>
          <a:xfrm>
            <a:off x="21526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3" name="Shape 21"/>
          <p:cNvSpPr/>
          <p:nvPr/>
        </p:nvSpPr>
        <p:spPr>
          <a:xfrm>
            <a:off x="24003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4" name="Shape 22"/>
          <p:cNvSpPr/>
          <p:nvPr/>
        </p:nvSpPr>
        <p:spPr>
          <a:xfrm>
            <a:off x="26479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5" name="Shape 23"/>
          <p:cNvSpPr/>
          <p:nvPr/>
        </p:nvSpPr>
        <p:spPr>
          <a:xfrm>
            <a:off x="289560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6" name="Shape 24"/>
          <p:cNvSpPr/>
          <p:nvPr/>
        </p:nvSpPr>
        <p:spPr>
          <a:xfrm>
            <a:off x="3143250" y="9544050"/>
            <a:ext cx="133350" cy="133350"/>
          </a:xfrm>
          <a:prstGeom prst="ellipse">
            <a:avLst/>
          </a:prstGeom>
          <a:solidFill>
            <a:srgbClr val="3A3D48"/>
          </a:solidFill>
          <a:ln/>
        </p:spPr>
      </p:sp>
      <p:sp>
        <p:nvSpPr>
          <p:cNvPr id="27" name="Shape 25"/>
          <p:cNvSpPr/>
          <p:nvPr/>
        </p:nvSpPr>
        <p:spPr>
          <a:xfrm>
            <a:off x="3390900" y="9544050"/>
            <a:ext cx="133350" cy="13335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8" name="Text 26"/>
          <p:cNvSpPr/>
          <p:nvPr/>
        </p:nvSpPr>
        <p:spPr>
          <a:xfrm>
            <a:off x="3810000" y="9448800"/>
            <a:ext cx="85725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Generative</a:t>
            </a:r>
            <a:r>
              <a:rPr lang="en-US" sz="1650" dirty="0" spc="-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AI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cho</a:t>
            </a:r>
            <a:r>
              <a:rPr lang="en-US" sz="1650" dirty="0" spc="5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người</a:t>
            </a:r>
            <a:r>
              <a:rPr lang="en-US" sz="1650" dirty="0" spc="3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mới</a:t>
            </a:r>
            <a:r>
              <a:rPr lang="en-US" sz="1650" dirty="0" spc="2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0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Bài 11</a:t>
            </a:r>
            <a:r>
              <a:rPr lang="en-US" sz="1650" dirty="0" spc="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·</a:t>
            </a:r>
            <a:r>
              <a:rPr lang="en-US" sz="1650" dirty="0" spc="-1" kern="0">
                <a:solidFill>
                  <a:srgbClr val="9A9890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11/11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914400" y="6667500"/>
            <a:ext cx="16459200" cy="952500"/>
          </a:xfrm>
          <a:prstGeom prst="roundRect">
            <a:avLst>
              <a:gd name="adj" fmla="val 20000"/>
            </a:avLst>
          </a:prstGeom>
          <a:solidFill>
            <a:srgbClr val="1E212B"/>
          </a:solidFill>
          <a:ln/>
        </p:spPr>
      </p:sp>
      <p:sp>
        <p:nvSpPr>
          <p:cNvPr id="30" name="Text 28"/>
          <p:cNvSpPr/>
          <p:nvPr/>
        </p:nvSpPr>
        <p:spPr>
          <a:xfrm>
            <a:off x="1295400" y="6667500"/>
            <a:ext cx="2476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dirty="0" spc="-2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CSV</a:t>
            </a:r>
            <a:endParaRPr lang="en-US" sz="3300" dirty="0"/>
          </a:p>
        </p:txBody>
      </p:sp>
      <p:sp>
        <p:nvSpPr>
          <p:cNvPr id="31" name="Text 29"/>
          <p:cNvSpPr/>
          <p:nvPr/>
        </p:nvSpPr>
        <p:spPr>
          <a:xfrm>
            <a:off x="4000500" y="6667500"/>
            <a:ext cx="12954000" cy="952500"/>
          </a:xfrm>
          <a:prstGeom prst="rect">
            <a:avLst/>
          </a:prstGeom>
          <a:noFill/>
          <a:ln/>
        </p:spPr>
        <p:txBody>
          <a:bodyPr wrap="square" lIns="0" tIns="13764" rIns="0" bIns="-13764" rtlCol="0" anchor="ctr"/>
          <a:lstStyle/>
          <a:p>
            <a:pPr algn="l" indent="0" marL="0">
              <a:lnSpc>
                <a:spcPts val="3315"/>
              </a:lnSpc>
              <a:buNone/>
            </a:pPr>
            <a:r>
              <a:rPr lang="en-US" sz="2550" dirty="0" spc="-1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Comma-Separated</a:t>
            </a:r>
            <a:r>
              <a:rPr lang="en-US" sz="2550" dirty="0" spc="-17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Values:</a:t>
            </a:r>
            <a:r>
              <a:rPr lang="en-US" sz="2550" dirty="0" spc="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file</a:t>
            </a:r>
            <a:r>
              <a:rPr lang="en-US" sz="2550" dirty="0" spc="-4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bảng</a:t>
            </a:r>
            <a:r>
              <a:rPr lang="en-US" sz="2550" dirty="0" spc="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dữ</a:t>
            </a:r>
            <a:r>
              <a:rPr lang="en-US" sz="2550" dirty="0" spc="0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liệu</a:t>
            </a:r>
            <a:r>
              <a:rPr lang="en-US" sz="2550" dirty="0" spc="-3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dạng</a:t>
            </a:r>
            <a:r>
              <a:rPr lang="en-US" sz="2550" dirty="0" spc="-1" kern="0">
                <a:solidFill>
                  <a:srgbClr val="F3EEE3"/>
                </a:solidFill>
                <a:latin typeface="Be Vietnam Pro Medium" pitchFamily="34" charset="0"/>
                <a:ea typeface="Be Vietnam Pro Medium" pitchFamily="34" charset="-122"/>
                <a:cs typeface="Be Vietnam Pro Medium" pitchFamily="34" charset="-120"/>
              </a:rPr>
              <a:t> chữ</a:t>
            </a:r>
            <a:endParaRPr lang="en-US" sz="2550" dirty="0"/>
          </a:p>
        </p:txBody>
      </p:sp>
      <p:sp>
        <p:nvSpPr>
          <p:cNvPr id="32" name="Shape 3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3" name="Moda image moda-export-watermark-0f3e5a9a-72dd-4b74-a173-515c56a422c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2026-10-20T09:59:37Z</dcterms:created>
  <dcterms:modified xsi:type="dcterms:W3CDTF">2026-10-20T09:59:37Z</dcterms:modified>
</cp:coreProperties>
</file>