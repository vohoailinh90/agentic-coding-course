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embeddedFontLst>
    <p:embeddedFont>
      <p:font typeface="Be Vietnam Pro"/>
      <p:regular r:id="rId20"/>
      <p:bold r:id="rId18"/>
    </p:embeddedFont>
    <p:embeddedFont>
      <p:font typeface="Bricolage Grotesque ExtraBold"/>
      <p:regular r:id="rId19"/>
    </p:embeddedFont>
    <p:embeddedFont>
      <p:font typeface="Be Vietnam Pro Medium"/>
      <p:regular r:id="rId21"/>
    </p:embeddedFont>
    <p:embeddedFont>
      <p:font typeface="Be Vietnam Pro SemiBold"/>
      <p:regular r:id="rId22"/>
    </p:embeddedFont>
    <p:embeddedFont>
      <p:font typeface="Bricolage Grotesque"/>
      <p:bold r:id="rId23"/>
    </p:embeddedFont>
    <p:embeddedFont>
      <p:font typeface="JetBrains Mono Medium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47750"/>
            <a:ext cx="1143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31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950" b="1" spc="152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b="1" spc="150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151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150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146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45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151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0001250" cy="24765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Xây</a:t>
            </a:r>
            <a:r>
              <a:rPr lang="en-US" sz="81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81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low-code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39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850" dirty="0" spc="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 có AI mà</a:t>
            </a:r>
            <a:r>
              <a:rPr lang="en-US" sz="2850" dirty="0" spc="-16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850" dirty="0" spc="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850" dirty="0" spc="-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5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-3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code?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5829300"/>
            <a:ext cx="190500" cy="1905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5695950"/>
            <a:ext cx="85725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Low-code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5</a:t>
            </a:r>
            <a:r>
              <a:rPr lang="en-US" sz="255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sản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phẩm</a:t>
            </a:r>
            <a:r>
              <a:rPr lang="en-US" sz="2550" dirty="0" spc="-2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Power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Platform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64579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63246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Copilot: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</a:t>
            </a:r>
            <a:r>
              <a:rPr lang="en-US" sz="25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tả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bằng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lời,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nhận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app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7086600"/>
            <a:ext cx="190500" cy="1905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6953250"/>
            <a:ext cx="85725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Builder: mô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2550" dirty="0" spc="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dựng</a:t>
            </a: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sẵn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7715250"/>
            <a:ext cx="190500" cy="1905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5819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Copilot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Studio: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cần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code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1430000" y="1619250"/>
            <a:ext cx="4953000" cy="5334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28575">
            <a:solidFill>
              <a:srgbClr val="3A3D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11000" y="2000250"/>
            <a:ext cx="4191000" cy="571500"/>
          </a:xfrm>
          <a:prstGeom prst="roundRect">
            <a:avLst>
              <a:gd name="adj" fmla="val 23333"/>
            </a:avLst>
          </a:prstGeom>
          <a:solidFill>
            <a:srgbClr val="3A3D4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11000" y="2857500"/>
            <a:ext cx="2000250" cy="1428750"/>
          </a:xfrm>
          <a:prstGeom prst="roundRect">
            <a:avLst>
              <a:gd name="adj" fmla="val 12000"/>
            </a:avLst>
          </a:prstGeom>
          <a:solidFill>
            <a:srgbClr val="3DD6A0"/>
          </a:solidFill>
          <a:ln/>
        </p:spPr>
      </p:sp>
      <p:sp>
        <p:nvSpPr>
          <p:cNvPr id="16" name="Shape 14"/>
          <p:cNvSpPr/>
          <p:nvPr/>
        </p:nvSpPr>
        <p:spPr>
          <a:xfrm>
            <a:off x="14001750" y="2857500"/>
            <a:ext cx="2000250" cy="1428750"/>
          </a:xfrm>
          <a:prstGeom prst="roundRect">
            <a:avLst>
              <a:gd name="adj" fmla="val 12000"/>
            </a:avLst>
          </a:prstGeom>
          <a:solidFill>
            <a:srgbClr val="FF6A4D"/>
          </a:solidFill>
          <a:ln/>
        </p:spPr>
      </p:sp>
      <p:sp>
        <p:nvSpPr>
          <p:cNvPr id="17" name="Shape 15"/>
          <p:cNvSpPr/>
          <p:nvPr/>
        </p:nvSpPr>
        <p:spPr>
          <a:xfrm>
            <a:off x="11811000" y="4476750"/>
            <a:ext cx="4191000" cy="1047750"/>
          </a:xfrm>
          <a:prstGeom prst="roundRect">
            <a:avLst>
              <a:gd name="adj" fmla="val 16364"/>
            </a:avLst>
          </a:prstGeom>
          <a:solidFill>
            <a:srgbClr val="7C9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11000" y="5715000"/>
            <a:ext cx="2857500" cy="857250"/>
          </a:xfrm>
          <a:prstGeom prst="roundRect">
            <a:avLst>
              <a:gd name="adj" fmla="val 20000"/>
            </a:avLst>
          </a:prstGeom>
          <a:solidFill>
            <a:srgbClr val="3A3D48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049500" y="6096000"/>
            <a:ext cx="2286000" cy="1143000"/>
          </a:xfrm>
          <a:prstGeom prst="roundRect">
            <a:avLst>
              <a:gd name="adj" fmla="val 15000"/>
            </a:avLst>
          </a:prstGeom>
          <a:solidFill>
            <a:srgbClr val="FFB454"/>
          </a:solidFill>
          <a:ln/>
        </p:spPr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fe96ef69-1eb1-48f2-a0b4-095325f43f3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247900"/>
            <a:ext cx="15240000" cy="571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Startup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dục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7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7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đơn,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 hơn,</a:t>
            </a:r>
            <a:r>
              <a:rPr lang="en-US" sz="27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70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6459200" cy="1028700"/>
          </a:xfrm>
          <a:prstGeom prst="roundRect">
            <a:avLst>
              <a:gd name="adj" fmla="val 18519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43250"/>
            <a:ext cx="9525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381250" y="3143250"/>
            <a:ext cx="14668500" cy="10287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Hiểu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Copilot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thế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27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700" dirty="0" spc="-3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Power</a:t>
            </a:r>
            <a:r>
              <a:rPr lang="en-US" sz="27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Platform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324350"/>
            <a:ext cx="16459200" cy="1028700"/>
          </a:xfrm>
          <a:prstGeom prst="roundRect">
            <a:avLst>
              <a:gd name="adj" fmla="val 18519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4324350"/>
            <a:ext cx="9525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381250" y="4324350"/>
            <a:ext cx="14668500" cy="10287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Làm</a:t>
            </a:r>
            <a:r>
              <a:rPr lang="en-US" sz="2700" dirty="0" spc="3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 dõi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27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tập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7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sinh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505450"/>
            <a:ext cx="16459200" cy="1028700"/>
          </a:xfrm>
          <a:prstGeom prst="roundRect">
            <a:avLst>
              <a:gd name="adj" fmla="val 18519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5505450"/>
            <a:ext cx="9525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381250" y="5505450"/>
            <a:ext cx="14668500" cy="10287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Làm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luồng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7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xử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</a:t>
            </a:r>
            <a:r>
              <a:rPr lang="en-US" sz="27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</a:t>
            </a:r>
            <a:r>
              <a:rPr lang="en-US" sz="27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đơn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6686550"/>
            <a:ext cx="16459200" cy="1028700"/>
          </a:xfrm>
          <a:prstGeom prst="roundRect">
            <a:avLst>
              <a:gd name="adj" fmla="val 18519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6686550"/>
            <a:ext cx="9525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2381250" y="6686550"/>
            <a:ext cx="14668500" cy="10287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Biết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27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Create</a:t>
            </a:r>
            <a:r>
              <a:rPr lang="en-US" sz="2700" dirty="0" spc="-7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Text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with</a:t>
            </a:r>
            <a:r>
              <a:rPr lang="en-US" sz="27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GPT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7867650"/>
            <a:ext cx="16459200" cy="1028700"/>
          </a:xfrm>
          <a:prstGeom prst="roundRect">
            <a:avLst>
              <a:gd name="adj" fmla="val 18519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867650"/>
            <a:ext cx="9525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2381250" y="7867650"/>
            <a:ext cx="14668500" cy="10287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Hiểu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Copilot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Studio</a:t>
            </a:r>
            <a:r>
              <a:rPr lang="en-US" sz="270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0" name="Shape 18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2" name="Shape 20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4" name="Shape 22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5" name="Shape 23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6" name="Shape 24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7" name="Shape 25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8" name="Shape 26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9" name="Shape 27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0" name="Text 28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10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02/11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4711d3c4-471b-420f-bc2f-02f72708ee0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47750"/>
            <a:ext cx="1143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3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LOW-CODE</a:t>
            </a:r>
            <a:r>
              <a:rPr lang="en-US" sz="1950" b="1" spc="14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4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POWER</a:t>
            </a:r>
            <a:r>
              <a:rPr lang="en-US" sz="1950" b="1" spc="12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PLATFORM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4381500" cy="4953000"/>
          </a:xfrm>
          <a:prstGeom prst="rect">
            <a:avLst/>
          </a:prstGeom>
          <a:noFill/>
          <a:ln/>
        </p:spPr>
        <p:txBody>
          <a:bodyPr wrap="square" lIns="0" tIns="365760" rIns="0" bIns="-365760" rtlCol="0" anchor="t"/>
          <a:lstStyle/>
          <a:p>
            <a:pPr algn="l" indent="0" marL="0">
              <a:lnSpc>
                <a:spcPts val="36000"/>
              </a:lnSpc>
              <a:buNone/>
            </a:pPr>
            <a:r>
              <a:rPr lang="en-US" sz="360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36000" dirty="0"/>
          </a:p>
        </p:txBody>
      </p:sp>
      <p:sp>
        <p:nvSpPr>
          <p:cNvPr id="4" name="Text 2"/>
          <p:cNvSpPr/>
          <p:nvPr/>
        </p:nvSpPr>
        <p:spPr>
          <a:xfrm>
            <a:off x="914400" y="657225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23050" rIns="0" bIns="-23050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sản</a:t>
            </a:r>
            <a:r>
              <a:rPr lang="en-US" sz="33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phẩm</a:t>
            </a:r>
            <a:r>
              <a:rPr lang="en-US" sz="33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33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3300" dirty="0" spc="-4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Power</a:t>
            </a:r>
            <a:r>
              <a:rPr lang="en-US" sz="3300" dirty="0" spc="-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Platform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7905750"/>
            <a:ext cx="7810500" cy="1047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4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Kéo</a:t>
            </a:r>
            <a:r>
              <a:rPr lang="en-US" sz="2400" dirty="0" spc="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thả</a:t>
            </a:r>
            <a:r>
              <a:rPr lang="en-US" sz="2400" dirty="0" spc="-6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-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0" dirty="0" spc="-6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400" dirty="0" spc="-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code.</a:t>
            </a:r>
            <a:r>
              <a:rPr lang="en-US" sz="2400" dirty="0" spc="-28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400" dirty="0" spc="-1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ngày, vài</a:t>
            </a:r>
            <a:r>
              <a:rPr lang="en-US" sz="2400" dirty="0" spc="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tuần</a:t>
            </a:r>
            <a:r>
              <a:rPr lang="en-US" sz="2400" dirty="0" spc="-6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-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0" dirty="0" spc="-13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400" dirty="0" spc="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tháng,</a:t>
            </a:r>
            <a:r>
              <a:rPr lang="en-US" sz="2400" dirty="0" spc="-1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400" dirty="0" spc="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334500" y="1428750"/>
            <a:ext cx="8039100" cy="1219200"/>
          </a:xfrm>
          <a:prstGeom prst="roundRect">
            <a:avLst>
              <a:gd name="adj" fmla="val 17188"/>
            </a:avLst>
          </a:prstGeom>
          <a:solidFill>
            <a:srgbClr val="1E212B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10750" y="1428750"/>
            <a:ext cx="7239000" cy="1219200"/>
          </a:xfrm>
          <a:prstGeom prst="rect">
            <a:avLst/>
          </a:prstGeom>
          <a:noFill/>
          <a:ln/>
        </p:spPr>
        <p:txBody>
          <a:bodyPr wrap="square" lIns="0" tIns="2096" rIns="0" bIns="-2096" rtlCol="0" anchor="ctr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 spc="-34" kern="0">
                <a:solidFill>
                  <a:srgbClr val="F3EEE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Power</a:t>
            </a:r>
            <a:r>
              <a:rPr lang="en-US" sz="3300" b="1" dirty="0" spc="1" kern="0">
                <a:solidFill>
                  <a:srgbClr val="F3EEE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Apps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9334500" y="2914650"/>
            <a:ext cx="8039100" cy="1219200"/>
          </a:xfrm>
          <a:prstGeom prst="roundRect">
            <a:avLst>
              <a:gd name="adj" fmla="val 17188"/>
            </a:avLst>
          </a:prstGeom>
          <a:solidFill>
            <a:srgbClr val="1E212B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10750" y="2914650"/>
            <a:ext cx="7239000" cy="1219200"/>
          </a:xfrm>
          <a:prstGeom prst="rect">
            <a:avLst/>
          </a:prstGeom>
          <a:noFill/>
          <a:ln/>
        </p:spPr>
        <p:txBody>
          <a:bodyPr wrap="square" lIns="0" tIns="2096" rIns="0" bIns="-2096" rtlCol="0" anchor="ctr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 spc="-34" kern="0">
                <a:solidFill>
                  <a:srgbClr val="F3EEE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Power</a:t>
            </a:r>
            <a:r>
              <a:rPr lang="en-US" sz="3300" b="1" dirty="0" spc="-27" kern="0">
                <a:solidFill>
                  <a:srgbClr val="F3EEE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Automate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334500" y="4400550"/>
            <a:ext cx="8039100" cy="1219200"/>
          </a:xfrm>
          <a:prstGeom prst="roundRect">
            <a:avLst>
              <a:gd name="adj" fmla="val 17188"/>
            </a:avLst>
          </a:prstGeom>
          <a:solidFill>
            <a:srgbClr val="1E212B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10750" y="4400550"/>
            <a:ext cx="7239000" cy="1219200"/>
          </a:xfrm>
          <a:prstGeom prst="rect">
            <a:avLst/>
          </a:prstGeom>
          <a:noFill/>
          <a:ln/>
        </p:spPr>
        <p:txBody>
          <a:bodyPr wrap="square" lIns="0" tIns="2096" rIns="0" bIns="-2096" rtlCol="0" anchor="ctr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 spc="-34" kern="0">
                <a:solidFill>
                  <a:srgbClr val="F3EEE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Power</a:t>
            </a:r>
            <a:r>
              <a:rPr lang="en-US" sz="3300" b="1" dirty="0" spc="0" kern="0">
                <a:solidFill>
                  <a:srgbClr val="F3EEE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BI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9334500" y="5886450"/>
            <a:ext cx="8039100" cy="1219200"/>
          </a:xfrm>
          <a:prstGeom prst="roundRect">
            <a:avLst>
              <a:gd name="adj" fmla="val 17188"/>
            </a:avLst>
          </a:prstGeom>
          <a:solidFill>
            <a:srgbClr val="1E212B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10750" y="5886450"/>
            <a:ext cx="7239000" cy="1219200"/>
          </a:xfrm>
          <a:prstGeom prst="rect">
            <a:avLst/>
          </a:prstGeom>
          <a:noFill/>
          <a:ln/>
        </p:spPr>
        <p:txBody>
          <a:bodyPr wrap="square" lIns="0" tIns="2096" rIns="0" bIns="-2096" rtlCol="0" anchor="ctr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 spc="-34" kern="0">
                <a:solidFill>
                  <a:srgbClr val="F3EEE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Power</a:t>
            </a:r>
            <a:r>
              <a:rPr lang="en-US" sz="3300" b="1" dirty="0" spc="-24" kern="0">
                <a:solidFill>
                  <a:srgbClr val="F3EEE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Pages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9334500" y="7372350"/>
            <a:ext cx="8039100" cy="1219200"/>
          </a:xfrm>
          <a:prstGeom prst="roundRect">
            <a:avLst>
              <a:gd name="adj" fmla="val 17188"/>
            </a:avLst>
          </a:prstGeom>
          <a:solidFill>
            <a:srgbClr val="1E212B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10750" y="7372350"/>
            <a:ext cx="7239000" cy="1219200"/>
          </a:xfrm>
          <a:prstGeom prst="rect">
            <a:avLst/>
          </a:prstGeom>
          <a:noFill/>
          <a:ln/>
        </p:spPr>
        <p:txBody>
          <a:bodyPr wrap="square" lIns="0" tIns="2096" rIns="0" bIns="-2096" rtlCol="0" anchor="ctr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 spc="-5" kern="0">
                <a:solidFill>
                  <a:srgbClr val="F3EEE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Copilot</a:t>
            </a:r>
            <a:r>
              <a:rPr lang="en-US" sz="3300" b="1" dirty="0" spc="-1" kern="0">
                <a:solidFill>
                  <a:srgbClr val="F3EEE3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Studio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8" name="Shape 16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0" name="Shape 18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1" name="Shape 19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2" name="Shape 20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3" name="Shape 21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4" name="Shape 22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5" name="Shape 23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6" name="Shape 24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7" name="Text 25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10</a:t>
            </a:r>
            <a:r>
              <a:rPr lang="en-US" sz="16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-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03/11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b63db89f-fe47-46a6-b6c4-4477d5444df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56579" rIns="0" bIns="-56579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dirty="0" spc="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Copilot:</a:t>
            </a:r>
            <a:r>
              <a:rPr lang="en-US" sz="66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6600" dirty="0" spc="-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</a:t>
            </a:r>
            <a:r>
              <a:rPr lang="en-US" sz="660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6600" dirty="0" spc="-2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lời,</a:t>
            </a:r>
            <a:r>
              <a:rPr lang="en-US" sz="660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6600" dirty="0" spc="-68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66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app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01000" cy="4095750"/>
          </a:xfrm>
          <a:prstGeom prst="roundRect">
            <a:avLst>
              <a:gd name="adj" fmla="val 6512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47800" y="3333750"/>
            <a:ext cx="6667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POWER</a:t>
            </a:r>
            <a:r>
              <a:rPr lang="en-US" sz="1950" b="1" spc="1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447800" y="3905250"/>
            <a:ext cx="7048500" cy="762000"/>
          </a:xfrm>
          <a:prstGeom prst="rect">
            <a:avLst/>
          </a:prstGeom>
          <a:noFill/>
          <a:ln/>
        </p:spPr>
        <p:txBody>
          <a:bodyPr wrap="square" lIns="0" tIns="2476" rIns="0" bIns="-2476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dirty="0" spc="-1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Tả</a:t>
            </a:r>
            <a:r>
              <a:rPr lang="en-US" sz="3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app</a:t>
            </a: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 dõi</a:t>
            </a:r>
            <a:r>
              <a:rPr lang="en-US" sz="39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3900" dirty="0"/>
          </a:p>
        </p:txBody>
      </p:sp>
      <p:sp>
        <p:nvSpPr>
          <p:cNvPr id="6" name="Text richtext-1792489346769-178452688"/>
          <p:cNvSpPr/>
          <p:nvPr/>
        </p:nvSpPr>
        <p:spPr>
          <a:xfrm>
            <a:off x="1447800" y="5048250"/>
            <a:ext cx="7048500" cy="1524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Copilot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85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Canvas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Gợi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8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Dataverse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4095750"/>
          </a:xfrm>
          <a:prstGeom prst="roundRect">
            <a:avLst>
              <a:gd name="adj" fmla="val 6512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06000" y="3333750"/>
            <a:ext cx="6667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POWER</a:t>
            </a:r>
            <a:r>
              <a:rPr lang="en-US" sz="1950" b="1" spc="11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AUTOMATE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906000" y="3905250"/>
            <a:ext cx="7048500" cy="762000"/>
          </a:xfrm>
          <a:prstGeom prst="rect">
            <a:avLst/>
          </a:prstGeom>
          <a:noFill/>
          <a:ln/>
        </p:spPr>
        <p:txBody>
          <a:bodyPr wrap="square" lIns="0" tIns="2476" rIns="0" bIns="-2476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dirty="0" spc="-1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Tả</a:t>
            </a: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luồng</a:t>
            </a:r>
            <a:r>
              <a:rPr lang="en-US" sz="3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3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39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3900" dirty="0"/>
          </a:p>
        </p:txBody>
      </p:sp>
      <p:sp>
        <p:nvSpPr>
          <p:cNvPr id="10" name="Text richtext-1792489346793-191894187"/>
          <p:cNvSpPr/>
          <p:nvPr/>
        </p:nvSpPr>
        <p:spPr>
          <a:xfrm>
            <a:off x="9906000" y="5048250"/>
            <a:ext cx="7048500" cy="1524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Copilot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 tự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Gợi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có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14400" y="752475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Sau</a:t>
            </a:r>
            <a:r>
              <a:rPr lang="en-US" sz="2400" dirty="0" spc="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đó</a:t>
            </a:r>
            <a:r>
              <a:rPr lang="en-US" sz="240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bạn</a:t>
            </a:r>
            <a:r>
              <a:rPr lang="en-US" sz="2400" dirty="0" spc="-1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vẫn</a:t>
            </a:r>
            <a:r>
              <a:rPr lang="en-US" sz="24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chỉnh</a:t>
            </a:r>
            <a:r>
              <a:rPr lang="en-US" sz="240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tiếp</a:t>
            </a:r>
            <a:r>
              <a:rPr lang="en-US" sz="2400" dirty="0" spc="7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4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 ý mình.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3" name="Shape 11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4" name="Shape 12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5" name="Shape 13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7" name="Shape 15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8" name="Shape 16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9" name="Shape 17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0" name="Shape 18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1" name="Shape 19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2" name="Shape 20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3" name="Text 21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10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 04/11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3f6e85b8-8a2e-4658-9b80-f9914a114f4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5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Dataverse:</a:t>
            </a:r>
            <a:r>
              <a:rPr lang="en-US" sz="7200" dirty="0" spc="-38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nơi</a:t>
            </a:r>
            <a:r>
              <a:rPr lang="en-US" sz="72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72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7200" dirty="0" spc="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2479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7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bảng,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7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27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Excel.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8001000" cy="2476500"/>
          </a:xfrm>
          <a:prstGeom prst="roundRect">
            <a:avLst>
              <a:gd name="adj" fmla="val 923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95400" y="3562350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638300" y="3390900"/>
            <a:ext cx="6858000" cy="533400"/>
          </a:xfrm>
          <a:prstGeom prst="rect">
            <a:avLst/>
          </a:prstGeom>
          <a:noFill/>
          <a:ln/>
        </p:spPr>
        <p:txBody>
          <a:bodyPr wrap="square" lIns="0" tIns="1905" rIns="0" bIns="-1905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Dễ quản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95400" y="419100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Dữ</a:t>
            </a:r>
            <a:r>
              <a:rPr lang="en-US" sz="25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2550" dirty="0" spc="-19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550" dirty="0" spc="1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đám</a:t>
            </a:r>
            <a:r>
              <a:rPr lang="en-US" sz="2550" dirty="0" spc="-8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mây,</a:t>
            </a:r>
            <a:r>
              <a:rPr lang="en-US" sz="255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bạn</a:t>
            </a:r>
            <a:r>
              <a:rPr lang="en-US" sz="25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 lo</a:t>
            </a:r>
            <a:r>
              <a:rPr lang="en-US" sz="25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 app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3143250"/>
            <a:ext cx="8001000" cy="2476500"/>
          </a:xfrm>
          <a:prstGeom prst="roundRect">
            <a:avLst>
              <a:gd name="adj" fmla="val 923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53600" y="3562350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10096500" y="3390900"/>
            <a:ext cx="6858000" cy="533400"/>
          </a:xfrm>
          <a:prstGeom prst="rect">
            <a:avLst/>
          </a:prstGeom>
          <a:noFill/>
          <a:ln/>
        </p:spPr>
        <p:txBody>
          <a:bodyPr wrap="square" lIns="0" tIns="1905" rIns="0" bIns="-1905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Bảo</a:t>
            </a:r>
            <a:r>
              <a:rPr lang="en-US" sz="3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mật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753600" y="419100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Phân</a:t>
            </a:r>
            <a:r>
              <a:rPr lang="en-US" sz="2550" dirty="0" spc="-17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quyền</a:t>
            </a:r>
            <a:r>
              <a:rPr lang="en-US" sz="2550" dirty="0" spc="-1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xem,</a:t>
            </a:r>
            <a:r>
              <a:rPr lang="en-US" sz="2550" dirty="0" spc="1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sửa</a:t>
            </a: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550" dirty="0" spc="-1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vai</a:t>
            </a:r>
            <a:r>
              <a:rPr lang="en-US" sz="2550" dirty="0" spc="-19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trò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5905500"/>
            <a:ext cx="8001000" cy="2476500"/>
          </a:xfrm>
          <a:prstGeom prst="roundRect">
            <a:avLst>
              <a:gd name="adj" fmla="val 923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95400" y="6324600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E8472B"/>
          </a:solidFill>
          <a:ln/>
        </p:spPr>
      </p:sp>
      <p:sp>
        <p:nvSpPr>
          <p:cNvPr id="14" name="Text 12"/>
          <p:cNvSpPr/>
          <p:nvPr/>
        </p:nvSpPr>
        <p:spPr>
          <a:xfrm>
            <a:off x="1638300" y="6153150"/>
            <a:ext cx="6858000" cy="533400"/>
          </a:xfrm>
          <a:prstGeom prst="rect">
            <a:avLst/>
          </a:prstGeom>
          <a:noFill/>
          <a:ln/>
        </p:spPr>
        <p:txBody>
          <a:bodyPr wrap="square" lIns="0" tIns="1905" rIns="0" bIns="-1905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3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 dữ</a:t>
            </a: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3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phong</a:t>
            </a:r>
            <a:r>
              <a:rPr lang="en-US" sz="3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phú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295400" y="695325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Kiểu</a:t>
            </a:r>
            <a:r>
              <a:rPr lang="en-US" sz="25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5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liệu, quan</a:t>
            </a: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hệ</a:t>
            </a:r>
            <a:r>
              <a:rPr lang="en-US" sz="25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thẳng</a:t>
            </a:r>
            <a:r>
              <a:rPr lang="en-US" sz="255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-28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Power</a:t>
            </a:r>
            <a:r>
              <a:rPr lang="en-US" sz="25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Apps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72600" y="5905500"/>
            <a:ext cx="8001000" cy="2476500"/>
          </a:xfrm>
          <a:prstGeom prst="roundRect">
            <a:avLst>
              <a:gd name="adj" fmla="val 923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53600" y="6324600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E8472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96500" y="6153150"/>
            <a:ext cx="6858000" cy="533400"/>
          </a:xfrm>
          <a:prstGeom prst="rect">
            <a:avLst/>
          </a:prstGeom>
          <a:noFill/>
          <a:ln/>
        </p:spPr>
        <p:txBody>
          <a:bodyPr wrap="square" lIns="0" tIns="1905" rIns="0" bIns="-1905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Logic</a:t>
            </a:r>
            <a:r>
              <a:rPr lang="en-US" sz="30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30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753600" y="695325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Quy</a:t>
            </a:r>
            <a:r>
              <a:rPr lang="en-US" sz="2550" dirty="0" spc="-1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tắc</a:t>
            </a: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nghiệp</a:t>
            </a:r>
            <a:r>
              <a:rPr lang="en-US" sz="25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vụ</a:t>
            </a:r>
            <a:r>
              <a:rPr lang="en-US" sz="25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</a:t>
            </a:r>
            <a:r>
              <a:rPr lang="en-US" sz="25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 liệu đúng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1" name="Shape 19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2" name="Shape 20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3" name="Shape 21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4" name="Shape 22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6" name="Shape 24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7" name="Shape 25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8" name="Shape 26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9" name="Shape 27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0" name="Shape 28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1" name="Text 29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10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 05/11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2305598a-ddfb-4ae3-aecc-2c996adf34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950" b="1" spc="11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1950" b="1" spc="14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4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POWER</a:t>
            </a:r>
            <a:r>
              <a:rPr lang="en-US" sz="1950" b="1" spc="1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109537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 theo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dõi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tập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5780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276600"/>
            <a:ext cx="85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257300" y="4000500"/>
            <a:ext cx="4572000" cy="5334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700" b="1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Power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57300" y="461010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6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trang</a:t>
            </a:r>
            <a:r>
              <a:rPr lang="en-US" sz="2100" dirty="0" spc="-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chủ</a:t>
            </a:r>
            <a:endParaRPr lang="en-US" sz="2100" dirty="0"/>
          </a:p>
        </p:txBody>
      </p:sp>
      <p:sp>
        <p:nvSpPr>
          <p:cNvPr id="8" name="Connector line-1792489385097-56503902"/>
          <p:cNvSpPr/>
          <p:nvPr/>
        </p:nvSpPr>
        <p:spPr>
          <a:xfrm>
            <a:off x="6210300" y="4429125"/>
            <a:ext cx="266700" cy="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triangle" w="med" len="lg"/>
          </a:ln>
        </p:spPr>
      </p:sp>
      <p:sp>
        <p:nvSpPr>
          <p:cNvPr id="9" name="Shape 7"/>
          <p:cNvSpPr/>
          <p:nvPr/>
        </p:nvSpPr>
        <p:spPr>
          <a:xfrm>
            <a:off x="6515100" y="3048000"/>
            <a:ext cx="525780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3276600"/>
            <a:ext cx="85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858000" y="4000500"/>
            <a:ext cx="4572000" cy="5334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Gõ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58000" y="461010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8668" rIns="0" bIns="-8668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5" kern="0">
                <a:solidFill>
                  <a:srgbClr val="C9C4B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“I want to build an app to track and manage student assignments”</a:t>
            </a:r>
            <a:endParaRPr lang="en-US" sz="1950" dirty="0"/>
          </a:p>
        </p:txBody>
      </p:sp>
      <p:sp>
        <p:nvSpPr>
          <p:cNvPr id="13" name="Connector line-1792489385105-254453469"/>
          <p:cNvSpPr/>
          <p:nvPr/>
        </p:nvSpPr>
        <p:spPr>
          <a:xfrm>
            <a:off x="11811000" y="4429125"/>
            <a:ext cx="266700" cy="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triangle" w="med" len="lg"/>
          </a:ln>
        </p:spPr>
      </p:sp>
      <p:sp>
        <p:nvSpPr>
          <p:cNvPr id="14" name="Shape 12"/>
          <p:cNvSpPr/>
          <p:nvPr/>
        </p:nvSpPr>
        <p:spPr>
          <a:xfrm>
            <a:off x="12115800" y="3048000"/>
            <a:ext cx="525780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58700" y="3276600"/>
            <a:ext cx="85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12458700" y="4000500"/>
            <a:ext cx="4572000" cy="5334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Copilot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458700" y="461010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9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Dataverse,</a:t>
            </a:r>
            <a:r>
              <a:rPr lang="en-US" sz="2100" dirty="0" spc="-4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10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 liệu</a:t>
            </a:r>
            <a:r>
              <a:rPr lang="en-US" sz="2100" dirty="0" spc="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mẫu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14400" y="6096000"/>
            <a:ext cx="525780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57300" y="6324600"/>
            <a:ext cx="85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257300" y="7048500"/>
            <a:ext cx="4572000" cy="5334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email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1257300" y="765810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8668" rIns="0" bIns="-8668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5" kern="0">
                <a:solidFill>
                  <a:srgbClr val="C9C4B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“I want to add a column to store student email”</a:t>
            </a:r>
            <a:endParaRPr lang="en-US" sz="1950" dirty="0"/>
          </a:p>
        </p:txBody>
      </p:sp>
      <p:sp>
        <p:nvSpPr>
          <p:cNvPr id="22" name="Connector line-1792489385115-223553311"/>
          <p:cNvSpPr/>
          <p:nvPr/>
        </p:nvSpPr>
        <p:spPr>
          <a:xfrm>
            <a:off x="6210300" y="7477125"/>
            <a:ext cx="266700" cy="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triangle" w="med" len="lg"/>
          </a:ln>
        </p:spPr>
      </p:sp>
      <p:sp>
        <p:nvSpPr>
          <p:cNvPr id="23" name="Shape 21"/>
          <p:cNvSpPr/>
          <p:nvPr/>
        </p:nvSpPr>
        <p:spPr>
          <a:xfrm>
            <a:off x="6515100" y="6096000"/>
            <a:ext cx="525780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6324600"/>
            <a:ext cx="85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6858000" y="7048500"/>
            <a:ext cx="4572000" cy="5334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Bấm</a:t>
            </a: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Create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6858000" y="765810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26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ứng</a:t>
            </a:r>
            <a:r>
              <a:rPr lang="en-US" sz="2100" dirty="0" spc="-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dụng</a:t>
            </a:r>
            <a:r>
              <a:rPr lang="en-US" sz="2100" dirty="0" spc="-16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Canvas</a:t>
            </a:r>
            <a:endParaRPr lang="en-US" sz="2100" dirty="0"/>
          </a:p>
        </p:txBody>
      </p:sp>
      <p:sp>
        <p:nvSpPr>
          <p:cNvPr id="27" name="Connector line-1792489385122-266296201"/>
          <p:cNvSpPr/>
          <p:nvPr/>
        </p:nvSpPr>
        <p:spPr>
          <a:xfrm>
            <a:off x="11811000" y="7477125"/>
            <a:ext cx="266700" cy="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triangle" w="med" len="lg"/>
          </a:ln>
        </p:spPr>
      </p:sp>
      <p:sp>
        <p:nvSpPr>
          <p:cNvPr id="28" name="Shape 26"/>
          <p:cNvSpPr/>
          <p:nvPr/>
        </p:nvSpPr>
        <p:spPr>
          <a:xfrm>
            <a:off x="12115800" y="6096000"/>
            <a:ext cx="525780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458700" y="6324600"/>
            <a:ext cx="85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4200" dirty="0"/>
          </a:p>
        </p:txBody>
      </p:sp>
      <p:sp>
        <p:nvSpPr>
          <p:cNvPr id="30" name="Text 28"/>
          <p:cNvSpPr/>
          <p:nvPr/>
        </p:nvSpPr>
        <p:spPr>
          <a:xfrm>
            <a:off x="12458700" y="7048500"/>
            <a:ext cx="4572000" cy="5334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Save,</a:t>
            </a: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Share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12458700" y="765810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chia</a:t>
            </a:r>
            <a:r>
              <a:rPr lang="en-US" sz="2100" dirty="0" spc="-8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sẻ</a:t>
            </a:r>
            <a:r>
              <a:rPr lang="en-US" sz="210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10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giáo</a:t>
            </a:r>
            <a:r>
              <a:rPr lang="en-US" sz="210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viên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3" name="Shape 31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4" name="Shape 32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5" name="Shape 33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6" name="Shape 34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7" name="Shape 35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Shape 36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9" name="Shape 37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40" name="Shape 38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41" name="Shape 39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42" name="Shape 40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43" name="Text 41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10</a:t>
            </a:r>
            <a:r>
              <a:rPr lang="en-US" sz="16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06/11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f23e89e9-1278-4220-a092-fecbc650232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72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Builder:</a:t>
            </a:r>
            <a:r>
              <a:rPr lang="en-US" sz="72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7200" dirty="0" spc="-18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200" dirty="0" spc="8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dựng</a:t>
            </a:r>
            <a:r>
              <a:rPr lang="en-US" sz="72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sẵn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0955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</a:t>
            </a:r>
            <a:r>
              <a:rPr lang="en-US" sz="2700" dirty="0" spc="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huấn</a:t>
            </a:r>
            <a:r>
              <a:rPr lang="en-US" sz="27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luyện,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ngay,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</a:t>
            </a:r>
            <a:r>
              <a:rPr lang="en-US" sz="27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95400" y="28575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4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 VIỆC</a:t>
            </a:r>
            <a:r>
              <a:rPr lang="en-US" sz="1800" b="1" spc="14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1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82150" y="28575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4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 VIỆC</a:t>
            </a:r>
            <a:r>
              <a:rPr lang="en-US" sz="1800" b="1" spc="14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15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1800" b="1" spc="10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11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800" b="1" spc="1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333750"/>
            <a:ext cx="7943850" cy="838200"/>
          </a:xfrm>
          <a:prstGeom prst="roundRect">
            <a:avLst>
              <a:gd name="adj" fmla="val 204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3333750"/>
            <a:ext cx="7239000" cy="8382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Trích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cụm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4324350"/>
            <a:ext cx="7943850" cy="838200"/>
          </a:xfrm>
          <a:prstGeom prst="roundRect">
            <a:avLst>
              <a:gd name="adj" fmla="val 204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4324350"/>
            <a:ext cx="7239000" cy="8382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Nhận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diện</a:t>
            </a:r>
            <a:r>
              <a:rPr lang="en-US" sz="25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ngôn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ngữ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314950"/>
            <a:ext cx="7943850" cy="838200"/>
          </a:xfrm>
          <a:prstGeom prst="roundRect">
            <a:avLst>
              <a:gd name="adj" fmla="val 204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314950"/>
            <a:ext cx="7239000" cy="8382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Phân tích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201150" y="3333750"/>
            <a:ext cx="7943850" cy="838200"/>
          </a:xfrm>
          <a:prstGeom prst="roundRect">
            <a:avLst>
              <a:gd name="adj" fmla="val 204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82150" y="3333750"/>
            <a:ext cx="7239000" cy="8382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Đọc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danh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thiếp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201150" y="4324350"/>
            <a:ext cx="7943850" cy="838200"/>
          </a:xfrm>
          <a:prstGeom prst="roundRect">
            <a:avLst>
              <a:gd name="adj" fmla="val 204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82150" y="4324350"/>
            <a:ext cx="7239000" cy="8382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Nhận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diện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chữ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ảnh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201150" y="5314950"/>
            <a:ext cx="7943850" cy="838200"/>
          </a:xfrm>
          <a:prstGeom prst="roundRect">
            <a:avLst>
              <a:gd name="adj" fmla="val 204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82150" y="5314950"/>
            <a:ext cx="7239000" cy="8382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Phát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hiện</a:t>
            </a:r>
            <a:r>
              <a:rPr lang="en-US" sz="255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vật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201150" y="6305550"/>
            <a:ext cx="7943850" cy="838200"/>
          </a:xfrm>
          <a:prstGeom prst="roundRect">
            <a:avLst>
              <a:gd name="adj" fmla="val 204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82150" y="6305550"/>
            <a:ext cx="7239000" cy="8382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Xử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biểu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mẫu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201150" y="7296150"/>
            <a:ext cx="7943850" cy="838200"/>
          </a:xfrm>
          <a:prstGeom prst="roundRect">
            <a:avLst>
              <a:gd name="adj" fmla="val 20455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82150" y="7296150"/>
            <a:ext cx="7239000" cy="8382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4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5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550" b="1" dirty="0" spc="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914400" y="6381750"/>
            <a:ext cx="7943850" cy="1752600"/>
          </a:xfrm>
          <a:prstGeom prst="roundRect">
            <a:avLst>
              <a:gd name="adj" fmla="val 9783"/>
            </a:avLst>
          </a:prstGeom>
          <a:solidFill>
            <a:srgbClr val="E8E0CF"/>
          </a:solidFill>
          <a:ln/>
        </p:spPr>
      </p:sp>
      <p:sp>
        <p:nvSpPr>
          <p:cNvPr id="23" name="Text 21"/>
          <p:cNvSpPr/>
          <p:nvPr/>
        </p:nvSpPr>
        <p:spPr>
          <a:xfrm>
            <a:off x="1295400" y="66103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80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15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180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95400" y="70485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Đưa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bạn</a:t>
            </a:r>
            <a:r>
              <a:rPr lang="en-US" sz="24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vào,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huấn</a:t>
            </a:r>
            <a:r>
              <a:rPr lang="en-US" sz="24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luyện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 bạn.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6" name="Shape 24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7" name="Shape 25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8" name="Shape 26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9" name="Shape 27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0" name="Shape 28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1" name="Shape 29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3" name="Shape 31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4" name="Shape 32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5" name="Shape 33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6" name="Text 34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10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-1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07/11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d8247cb8-bc0d-43dd-b556-08580c5ef75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09537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8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Luồng</a:t>
            </a:r>
            <a:r>
              <a:rPr lang="en-US" sz="6900" dirty="0" spc="-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69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6900" dirty="0" spc="-9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r>
              <a:rPr lang="en-US" sz="6900" dirty="0" spc="-3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857250" y="2095500"/>
            <a:ext cx="3238500" cy="800100"/>
          </a:xfrm>
          <a:prstGeom prst="roundRect">
            <a:avLst>
              <a:gd name="adj" fmla="val 2381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7250" y="2095500"/>
            <a:ext cx="32385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ctr" indent="0" marL="0">
              <a:lnSpc>
                <a:spcPts val="2925"/>
              </a:lnSpc>
              <a:buNone/>
            </a:pP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Hộp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endParaRPr lang="en-US" sz="2250" dirty="0"/>
          </a:p>
        </p:txBody>
      </p:sp>
      <p:sp>
        <p:nvSpPr>
          <p:cNvPr id="5" name="Connector line-1792489430481-998591928"/>
          <p:cNvSpPr/>
          <p:nvPr/>
        </p:nvSpPr>
        <p:spPr>
          <a:xfrm>
            <a:off x="2476500" y="2895600"/>
            <a:ext cx="0" cy="529590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429250" y="2095500"/>
            <a:ext cx="3238500" cy="800100"/>
          </a:xfrm>
          <a:prstGeom prst="roundRect">
            <a:avLst>
              <a:gd name="adj" fmla="val 2381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29250" y="2095500"/>
            <a:ext cx="32385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ctr" indent="0" marL="0">
              <a:lnSpc>
                <a:spcPts val="2925"/>
              </a:lnSpc>
              <a:buNone/>
            </a:pPr>
            <a:r>
              <a:rPr lang="en-US" sz="2250" b="1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Power</a:t>
            </a:r>
            <a:r>
              <a:rPr lang="en-US" sz="22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Automate</a:t>
            </a:r>
            <a:endParaRPr lang="en-US" sz="2250" dirty="0"/>
          </a:p>
        </p:txBody>
      </p:sp>
      <p:sp>
        <p:nvSpPr>
          <p:cNvPr id="8" name="Connector line-1792489430483-936676824"/>
          <p:cNvSpPr/>
          <p:nvPr/>
        </p:nvSpPr>
        <p:spPr>
          <a:xfrm>
            <a:off x="7048500" y="2895600"/>
            <a:ext cx="0" cy="529590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0001250" y="2095500"/>
            <a:ext cx="3238500" cy="800100"/>
          </a:xfrm>
          <a:prstGeom prst="roundRect">
            <a:avLst>
              <a:gd name="adj" fmla="val 23810"/>
            </a:avLst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10001250" y="2095500"/>
            <a:ext cx="32385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ctr" indent="0" marL="0">
              <a:lnSpc>
                <a:spcPts val="2925"/>
              </a:lnSpc>
              <a:buNone/>
            </a:pP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Builder</a:t>
            </a:r>
            <a:endParaRPr lang="en-US" sz="2250" dirty="0"/>
          </a:p>
        </p:txBody>
      </p:sp>
      <p:sp>
        <p:nvSpPr>
          <p:cNvPr id="11" name="Connector line-1792489430486-79875737"/>
          <p:cNvSpPr/>
          <p:nvPr/>
        </p:nvSpPr>
        <p:spPr>
          <a:xfrm>
            <a:off x="11620500" y="2895600"/>
            <a:ext cx="0" cy="529590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4192250" y="2095500"/>
            <a:ext cx="3238500" cy="800100"/>
          </a:xfrm>
          <a:prstGeom prst="roundRect">
            <a:avLst>
              <a:gd name="adj" fmla="val 2381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92250" y="2095500"/>
            <a:ext cx="32385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ctr" indent="0" marL="0">
              <a:lnSpc>
                <a:spcPts val="2925"/>
              </a:lnSpc>
              <a:buNone/>
            </a:pPr>
            <a:r>
              <a:rPr lang="en-US" sz="22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Dataverse</a:t>
            </a:r>
            <a:endParaRPr lang="en-US" sz="2250" dirty="0"/>
          </a:p>
        </p:txBody>
      </p:sp>
      <p:sp>
        <p:nvSpPr>
          <p:cNvPr id="14" name="Connector line-1792489430487-993634222"/>
          <p:cNvSpPr/>
          <p:nvPr/>
        </p:nvSpPr>
        <p:spPr>
          <a:xfrm>
            <a:off x="15811500" y="2895600"/>
            <a:ext cx="0" cy="529590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5" name="Connector line-1792489430488-623625409"/>
          <p:cNvSpPr/>
          <p:nvPr/>
        </p:nvSpPr>
        <p:spPr>
          <a:xfrm>
            <a:off x="2552700" y="4095750"/>
            <a:ext cx="44196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med" len="lg"/>
          </a:ln>
        </p:spPr>
      </p:sp>
      <p:sp>
        <p:nvSpPr>
          <p:cNvPr id="16" name="Text 14"/>
          <p:cNvSpPr/>
          <p:nvPr/>
        </p:nvSpPr>
        <p:spPr>
          <a:xfrm>
            <a:off x="2667000" y="3619500"/>
            <a:ext cx="4191000" cy="419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Email</a:t>
            </a:r>
            <a:r>
              <a:rPr lang="en-US" sz="21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r>
              <a:rPr lang="en-US" sz="21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file</a:t>
            </a:r>
            <a:r>
              <a:rPr lang="en-US" sz="21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đính</a:t>
            </a:r>
            <a:r>
              <a:rPr lang="en-US" sz="21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kèm</a:t>
            </a:r>
            <a:endParaRPr lang="en-US" sz="2100" dirty="0"/>
          </a:p>
        </p:txBody>
      </p:sp>
      <p:sp>
        <p:nvSpPr>
          <p:cNvPr id="17" name="Connector line-1792489430490-38069958"/>
          <p:cNvSpPr/>
          <p:nvPr/>
        </p:nvSpPr>
        <p:spPr>
          <a:xfrm>
            <a:off x="7124700" y="5238750"/>
            <a:ext cx="4419600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 w="med" len="lg"/>
          </a:ln>
        </p:spPr>
      </p:sp>
      <p:sp>
        <p:nvSpPr>
          <p:cNvPr id="18" name="Text 16"/>
          <p:cNvSpPr/>
          <p:nvPr/>
        </p:nvSpPr>
        <p:spPr>
          <a:xfrm>
            <a:off x="7239000" y="4762500"/>
            <a:ext cx="4191000" cy="419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dirty="0" spc="-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Đọc</a:t>
            </a:r>
            <a:r>
              <a:rPr lang="en-US" sz="2100" dirty="0" spc="-7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</a:t>
            </a:r>
            <a:r>
              <a:rPr lang="en-US" sz="2100" dirty="0" spc="4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đơn</a:t>
            </a:r>
            <a:r>
              <a:rPr lang="en-US" sz="2100" dirty="0" spc="1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đính</a:t>
            </a:r>
            <a:r>
              <a:rPr lang="en-US" sz="2100" dirty="0" spc="-2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kèm</a:t>
            </a:r>
            <a:endParaRPr lang="en-US" sz="2100" dirty="0"/>
          </a:p>
        </p:txBody>
      </p:sp>
      <p:sp>
        <p:nvSpPr>
          <p:cNvPr id="19" name="Connector line-1792489430492-262687314"/>
          <p:cNvSpPr/>
          <p:nvPr/>
        </p:nvSpPr>
        <p:spPr>
          <a:xfrm flipH="1">
            <a:off x="7124700" y="6381750"/>
            <a:ext cx="4419600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 w="med" len="lg"/>
          </a:ln>
        </p:spPr>
      </p:sp>
      <p:sp>
        <p:nvSpPr>
          <p:cNvPr id="20" name="Text 18"/>
          <p:cNvSpPr/>
          <p:nvPr/>
        </p:nvSpPr>
        <p:spPr>
          <a:xfrm>
            <a:off x="7239000" y="5905500"/>
            <a:ext cx="4191000" cy="419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dirty="0" spc="-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Mã,</a:t>
            </a:r>
            <a:r>
              <a:rPr lang="en-US" sz="2100" dirty="0" spc="-7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100" dirty="0" spc="-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tiền,</a:t>
            </a:r>
            <a:r>
              <a:rPr lang="en-US" sz="2100" dirty="0" spc="-1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ngày,</a:t>
            </a:r>
            <a:r>
              <a:rPr lang="en-US" sz="2100" dirty="0" spc="-8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endParaRPr lang="en-US" sz="2100" dirty="0"/>
          </a:p>
        </p:txBody>
      </p:sp>
      <p:sp>
        <p:nvSpPr>
          <p:cNvPr id="21" name="Connector line-1792489430494-269566173"/>
          <p:cNvSpPr/>
          <p:nvPr/>
        </p:nvSpPr>
        <p:spPr>
          <a:xfrm>
            <a:off x="7124700" y="7524750"/>
            <a:ext cx="86106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med" len="lg"/>
          </a:ln>
        </p:spPr>
      </p:sp>
      <p:sp>
        <p:nvSpPr>
          <p:cNvPr id="22" name="Text 20"/>
          <p:cNvSpPr/>
          <p:nvPr/>
        </p:nvSpPr>
        <p:spPr>
          <a:xfrm>
            <a:off x="7239000" y="7048500"/>
            <a:ext cx="8382000" cy="419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Thêm</a:t>
            </a:r>
            <a:r>
              <a:rPr lang="en-US" sz="21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dòng</a:t>
            </a:r>
            <a:r>
              <a:rPr lang="en-US" sz="21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mới,</a:t>
            </a:r>
            <a:r>
              <a:rPr lang="en-US" sz="21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trạng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</a:t>
            </a:r>
            <a:r>
              <a:rPr lang="en-US" sz="21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Pending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14400" y="8477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8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Bắt</a:t>
            </a:r>
            <a:r>
              <a:rPr lang="en-US" sz="2100" dirty="0" spc="1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đầu</a:t>
            </a:r>
            <a:r>
              <a:rPr lang="en-US" sz="210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bằng mô</a:t>
            </a:r>
            <a:r>
              <a:rPr lang="en-US" sz="2100" dirty="0" spc="-1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tả</a:t>
            </a:r>
            <a:r>
              <a:rPr lang="en-US" sz="210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10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Copilot:</a:t>
            </a:r>
            <a:r>
              <a:rPr lang="en-US" sz="2100" dirty="0" spc="-1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“Process</a:t>
            </a:r>
            <a:r>
              <a:rPr lang="en-US" sz="210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an</a:t>
            </a:r>
            <a:r>
              <a:rPr lang="en-US" sz="2100" dirty="0" spc="-1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invoice</a:t>
            </a:r>
            <a:r>
              <a:rPr lang="en-US" sz="21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when</a:t>
            </a:r>
            <a:r>
              <a:rPr lang="en-US" sz="21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it</a:t>
            </a:r>
            <a:r>
              <a:rPr lang="en-US" sz="210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arrives in</a:t>
            </a:r>
            <a:r>
              <a:rPr lang="en-US" sz="2100" dirty="0" spc="-2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my</a:t>
            </a:r>
            <a:r>
              <a:rPr lang="en-US" sz="2100" dirty="0" spc="-1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mailbox”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5" name="Shape 23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6" name="Shape 24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7" name="Shape 25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8" name="Shape 26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9" name="Shape 27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0" name="Shape 28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1" name="Shape 29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3" name="Shape 31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4" name="Shape 32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5" name="Text 33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10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 08/11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732905b7-4db4-49bb-85dc-96b39560b7b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COPILOT</a:t>
            </a:r>
            <a:r>
              <a:rPr lang="en-US" sz="1950" b="1" spc="14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STUDIO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2382500" cy="109537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Agent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AI,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code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781050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550" dirty="0" spc="-15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550" dirty="0" spc="-16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gì,</a:t>
            </a:r>
            <a:r>
              <a:rPr lang="en-US" sz="2550" dirty="0" spc="-3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Copilot</a:t>
            </a:r>
            <a:r>
              <a:rPr lang="en-US" sz="2550" dirty="0" spc="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Studio</a:t>
            </a:r>
            <a:r>
              <a:rPr lang="en-US" sz="2550" dirty="0" spc="19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550" dirty="0" spc="5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550" dirty="0" spc="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dẫn,</a:t>
            </a:r>
            <a:r>
              <a:rPr lang="en-US" sz="2550" dirty="0" spc="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550" dirty="0" spc="5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thức,</a:t>
            </a:r>
            <a:r>
              <a:rPr lang="en-US" sz="2550" dirty="0" spc="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9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động.</a:t>
            </a:r>
            <a:endParaRPr lang="en-US" sz="2550" dirty="0"/>
          </a:p>
        </p:txBody>
      </p:sp>
      <p:sp>
        <p:nvSpPr>
          <p:cNvPr id="5" name="Connector line-1792489488702-11049241"/>
          <p:cNvSpPr/>
          <p:nvPr/>
        </p:nvSpPr>
        <p:spPr>
          <a:xfrm flipH="1" flipV="1">
            <a:off x="6762750" y="5143500"/>
            <a:ext cx="4476750" cy="952500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6" name="Connector line-1792489488703-330931430"/>
          <p:cNvSpPr/>
          <p:nvPr/>
        </p:nvSpPr>
        <p:spPr>
          <a:xfrm flipH="1">
            <a:off x="6762750" y="6096000"/>
            <a:ext cx="4476750" cy="1809750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7" name="Connector line-1792489488703-987280329"/>
          <p:cNvSpPr/>
          <p:nvPr/>
        </p:nvSpPr>
        <p:spPr>
          <a:xfrm flipV="1">
            <a:off x="11239500" y="3429000"/>
            <a:ext cx="0" cy="2667000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8" name="Connector line-1792489488703-280091158"/>
          <p:cNvSpPr/>
          <p:nvPr/>
        </p:nvSpPr>
        <p:spPr>
          <a:xfrm flipV="1">
            <a:off x="11239500" y="3810000"/>
            <a:ext cx="4381500" cy="2286000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9" name="Connector line-1792489488703-551545883"/>
          <p:cNvSpPr/>
          <p:nvPr/>
        </p:nvSpPr>
        <p:spPr>
          <a:xfrm>
            <a:off x="11239500" y="6096000"/>
            <a:ext cx="4381500" cy="95250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715500" y="5334000"/>
            <a:ext cx="3048000" cy="1524000"/>
          </a:xfrm>
          <a:prstGeom prst="roundRect">
            <a:avLst>
              <a:gd name="adj" fmla="val 17500"/>
            </a:avLst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9715500" y="5334000"/>
            <a:ext cx="3048000" cy="1524000"/>
          </a:xfrm>
          <a:prstGeom prst="rect">
            <a:avLst/>
          </a:prstGeom>
          <a:noFill/>
          <a:ln/>
        </p:spPr>
        <p:txBody>
          <a:bodyPr wrap="square" lIns="0" tIns="2286" rIns="0" bIns="-2286" rtlCol="0" anchor="ctr"/>
          <a:lstStyle/>
          <a:p>
            <a:pPr algn="ctr" indent="0" marL="0">
              <a:lnSpc>
                <a:spcPts val="4680"/>
              </a:lnSpc>
              <a:buNone/>
            </a:pPr>
            <a:r>
              <a:rPr lang="en-US" sz="36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Agent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334000" y="4476750"/>
            <a:ext cx="2857500" cy="1333500"/>
          </a:xfrm>
          <a:prstGeom prst="roundRect">
            <a:avLst>
              <a:gd name="adj" fmla="val 15714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62600" y="4648200"/>
            <a:ext cx="24003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25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5562600" y="5162550"/>
            <a:ext cx="2400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website, SharePoint,</a:t>
            </a:r>
            <a:r>
              <a:rPr lang="en-US" sz="180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file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334000" y="7239000"/>
            <a:ext cx="2857500" cy="1333500"/>
          </a:xfrm>
          <a:prstGeom prst="roundRect">
            <a:avLst>
              <a:gd name="adj" fmla="val 15714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62600" y="7410450"/>
            <a:ext cx="24003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Hành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5562600" y="7924800"/>
            <a:ext cx="2400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1.500+</a:t>
            </a:r>
            <a:r>
              <a:rPr lang="en-US" sz="1800" dirty="0" spc="-4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bộ</a:t>
            </a:r>
            <a:r>
              <a:rPr lang="en-US" sz="1800" dirty="0" spc="-2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kết</a:t>
            </a:r>
            <a:r>
              <a:rPr lang="en-US" sz="1800" dirty="0" spc="-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nối,</a:t>
            </a:r>
            <a:r>
              <a:rPr lang="en-US" sz="180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API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810750" y="2762250"/>
            <a:ext cx="2857500" cy="1333500"/>
          </a:xfrm>
          <a:prstGeom prst="roundRect">
            <a:avLst>
              <a:gd name="adj" fmla="val 15714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39350" y="2933700"/>
            <a:ext cx="24003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0039350" y="3448050"/>
            <a:ext cx="2400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email</a:t>
            </a:r>
            <a:r>
              <a:rPr lang="en-US" sz="180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mới:</a:t>
            </a:r>
            <a:r>
              <a:rPr lang="en-US" sz="1800" dirty="0" spc="-8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-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1800" dirty="0" spc="-5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3906500" y="3143250"/>
            <a:ext cx="3429000" cy="1333500"/>
          </a:xfrm>
          <a:prstGeom prst="roundRect">
            <a:avLst>
              <a:gd name="adj" fmla="val 15714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35100" y="3314700"/>
            <a:ext cx="29718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4135100" y="3829050"/>
            <a:ext cx="2971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9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gọi</a:t>
            </a:r>
            <a:r>
              <a:rPr lang="en-US" sz="1800" dirty="0" spc="-1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1800" dirty="0" spc="-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phối</a:t>
            </a:r>
            <a:r>
              <a:rPr lang="en-US" sz="180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hợp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3906500" y="5524500"/>
            <a:ext cx="3429000" cy="1333500"/>
          </a:xfrm>
          <a:prstGeom prst="roundRect">
            <a:avLst>
              <a:gd name="adj" fmla="val 15714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135100" y="5695950"/>
            <a:ext cx="29718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Xuất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135100" y="6210300"/>
            <a:ext cx="2971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Teams,</a:t>
            </a:r>
            <a:r>
              <a:rPr lang="en-US" sz="1800" dirty="0" spc="-1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</a:t>
            </a:r>
            <a:r>
              <a:rPr lang="en-US" sz="1800" dirty="0" spc="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365</a:t>
            </a:r>
            <a:r>
              <a:rPr lang="en-US" sz="180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Copilot,</a:t>
            </a:r>
            <a:r>
              <a:rPr lang="en-US" sz="1800" dirty="0" spc="-1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web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8" name="Shape 26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9" name="Shape 27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0" name="Shape 28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1" name="Shape 29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2" name="Shape 30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3" name="Shape 31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4" name="Shape 32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5" name="Shape 33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Shape 34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7" name="Shape 35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8" name="Text 36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10</a:t>
            </a:r>
            <a:r>
              <a:rPr lang="en-US" sz="16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09/11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fac3d268-364d-446b-9c91-a77a27149d0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09537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Tự</a:t>
            </a:r>
            <a:r>
              <a:rPr lang="en-US" sz="270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đọc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mỗi</a:t>
            </a:r>
            <a:r>
              <a:rPr lang="en-US" sz="27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hóa</a:t>
            </a:r>
            <a:r>
              <a:rPr lang="en-US" sz="270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đơn</a:t>
            </a:r>
            <a:r>
              <a:rPr lang="en-US" sz="2700" dirty="0" spc="4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gửi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tới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hộp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</a:t>
            </a:r>
            <a:r>
              <a:rPr lang="en-US" sz="2700" dirty="0" spc="-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ghi</a:t>
            </a:r>
            <a:r>
              <a:rPr lang="en-US" sz="270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vào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bảng.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Phần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nào</a:t>
            </a:r>
            <a:r>
              <a:rPr lang="en-US" sz="270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“đọc”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hóa</a:t>
            </a:r>
            <a:r>
              <a:rPr lang="en-US" sz="270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đơn?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857500"/>
            <a:ext cx="857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4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343150" y="2857500"/>
            <a:ext cx="619125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Copilot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Studio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1905000"/>
          </a:xfrm>
          <a:prstGeom prst="roundRect">
            <a:avLst>
              <a:gd name="adj" fmla="val 12000"/>
            </a:avLst>
          </a:prstGeom>
          <a:solidFill>
            <a:srgbClr val="DDE3FA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2857500"/>
            <a:ext cx="857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10801350" y="2857500"/>
            <a:ext cx="619125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Mô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xử lý</a:t>
            </a:r>
            <a:r>
              <a:rPr lang="en-US" sz="27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</a:t>
            </a:r>
            <a:r>
              <a:rPr lang="en-US" sz="27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đơn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Builder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048250"/>
            <a:ext cx="80010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048250"/>
            <a:ext cx="857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-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2343150" y="5048250"/>
            <a:ext cx="619125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Bảng</a:t>
            </a:r>
            <a:r>
              <a:rPr lang="en-US" sz="27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Dataverse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72600" y="5048250"/>
            <a:ext cx="80010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53600" y="5048250"/>
            <a:ext cx="857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1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10801350" y="5048250"/>
            <a:ext cx="619125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Ứng dụng</a:t>
            </a:r>
            <a:r>
              <a:rPr lang="en-US" sz="27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Canvas</a:t>
            </a:r>
            <a:r>
              <a:rPr lang="en-US" sz="27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700" dirty="0" spc="-3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Power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Apps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7524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1333500" y="7524750"/>
            <a:ext cx="156210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B.</a:t>
            </a:r>
            <a:r>
              <a:rPr lang="en-US" sz="25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Luồng</a:t>
            </a:r>
            <a:r>
              <a:rPr lang="en-US" sz="2550" dirty="0" spc="-3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Power</a:t>
            </a:r>
            <a:r>
              <a:rPr lang="en-US" sz="255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Automate</a:t>
            </a:r>
            <a:r>
              <a:rPr lang="en-US" sz="25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Builder,</a:t>
            </a:r>
            <a:r>
              <a:rPr lang="en-US" sz="255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25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5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dòng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r>
              <a:rPr lang="en-US" sz="255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55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Dataverse.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9" name="Shape 17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0" name="Shape 18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1" name="Shape 19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2" name="Shape 20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3" name="Shape 21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4" name="Shape 22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5" name="Shape 23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6" name="Shape 24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7" name="Shape 25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9" name="Text 27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10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10/11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f2bf2e23-9761-401f-9d8d-777fe9d7b28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2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14400" y="26670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6670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4000500" y="2667000"/>
            <a:ext cx="129540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Artificial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Intelligence:</a:t>
            </a:r>
            <a:r>
              <a:rPr lang="en-US" sz="2550" dirty="0" spc="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trí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tuệ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tạo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38100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8100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GPT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000500" y="3810000"/>
            <a:ext cx="129540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25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Pre-trained</a:t>
            </a:r>
            <a:r>
              <a:rPr lang="en-US" sz="2550" dirty="0" spc="-2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Transformer: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họ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 sinh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chữ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49530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49530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4000500" y="4953000"/>
            <a:ext cx="129540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Application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Programming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Interface: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giao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diện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lập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trình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14400" y="66675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8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Dựa</a:t>
            </a:r>
            <a:r>
              <a:rPr lang="en-US" sz="2100" dirty="0" spc="-17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10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210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10</a:t>
            </a:r>
            <a:r>
              <a:rPr lang="en-US" sz="2100" dirty="0" spc="-4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100" dirty="0" spc="-1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microsoft/generative-ai-for-beginners</a:t>
            </a:r>
            <a:r>
              <a:rPr lang="en-US" sz="210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(MIT</a:t>
            </a:r>
            <a:r>
              <a:rPr lang="en-US" sz="2100" dirty="0" spc="-5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License,</a:t>
            </a:r>
            <a:r>
              <a:rPr lang="en-US" sz="2100" dirty="0" spc="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©</a:t>
            </a:r>
            <a:r>
              <a:rPr lang="en-US" sz="2100" dirty="0" spc="-1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</a:t>
            </a:r>
            <a:r>
              <a:rPr lang="en-US" sz="2100" dirty="0" spc="-1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Corporation).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72390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8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github.com/microsoft/generative-ai-for-beginners</a:t>
            </a:r>
            <a:r>
              <a:rPr lang="en-US" sz="19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9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commit</a:t>
            </a:r>
            <a:r>
              <a:rPr lang="en-US" sz="19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c35bc19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6" name="Shape 14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7" name="Shape 15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8" name="Shape 16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9" name="Shape 17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0" name="Shape 18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1" name="Shape 19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2" name="Shape 20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3" name="Shape 21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4" name="Shape 22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Text 23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10</a:t>
            </a:r>
            <a:r>
              <a:rPr lang="en-US" sz="16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11/11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bf725591-ab14-4423-ae0f-43fdf123ecf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2026-10-20T09:50:54Z</dcterms:created>
  <dcterms:modified xsi:type="dcterms:W3CDTF">2026-10-20T09:50:54Z</dcterms:modified>
</cp:coreProperties>
</file>