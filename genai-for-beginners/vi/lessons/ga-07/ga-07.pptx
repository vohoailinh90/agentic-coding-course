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embeddedFontLst>
    <p:embeddedFont>
      <p:font typeface="Be Vietnam Pro"/>
      <p:regular r:id="rId21"/>
      <p:bold r:id="rId19"/>
    </p:embeddedFont>
    <p:embeddedFont>
      <p:font typeface="Bricolage Grotesque ExtraBold"/>
      <p:regular r:id="rId20"/>
    </p:embeddedFont>
    <p:embeddedFont>
      <p:font typeface="JetBrains Mono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Xây</a:t>
            </a:r>
            <a:r>
              <a:rPr lang="en-US" sz="81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2857500"/>
            <a:ext cx="1095375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Chatbot</a:t>
            </a:r>
            <a:r>
              <a:rPr lang="en-US" sz="2550" dirty="0" spc="-2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2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AI</a:t>
            </a:r>
            <a:r>
              <a:rPr lang="en-US" sz="255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4577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43053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r>
              <a:rPr lang="en-US" sz="25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Chatbot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49911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48387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  Dùng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SDK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43000" y="552450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" y="53721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  Thử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ngay: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43000" y="605790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59055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r>
              <a:rPr lang="en-US" sz="2550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Trải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" y="65913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64389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Bốn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thống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143000" y="71247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428750" y="69723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</a:t>
            </a:r>
            <a:r>
              <a:rPr lang="en-US" sz="2550" dirty="0" spc="-5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Tùy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cho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43000" y="765810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8" name="Text 16"/>
          <p:cNvSpPr/>
          <p:nvPr/>
        </p:nvSpPr>
        <p:spPr>
          <a:xfrm>
            <a:off x="1428750" y="75057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Các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143000" y="819150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428750" y="80391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AI có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382500" y="4476750"/>
            <a:ext cx="47625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của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tôi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382500" y="5524500"/>
            <a:ext cx="4762500" cy="762000"/>
          </a:xfrm>
          <a:prstGeom prst="roundRect">
            <a:avLst>
              <a:gd name="adj" fmla="val 25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2382500" y="6572250"/>
            <a:ext cx="4762500" cy="7620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1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e3a0df3b-9c13-4099-9d09-cefa41c55e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0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43000" y="2286000"/>
            <a:ext cx="1600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lớn:</a:t>
            </a:r>
            <a:r>
              <a:rPr lang="en-US" sz="255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nào,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3000" y="3333750"/>
            <a:ext cx="3714750" cy="49530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5238750" y="3333750"/>
            <a:ext cx="3714750" cy="49530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9334500" y="3333750"/>
            <a:ext cx="3714750" cy="49530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7" name="Shape 5"/>
          <p:cNvSpPr/>
          <p:nvPr/>
        </p:nvSpPr>
        <p:spPr>
          <a:xfrm>
            <a:off x="13430250" y="3333750"/>
            <a:ext cx="3714750" cy="4953000"/>
          </a:xfrm>
          <a:prstGeom prst="roundRect">
            <a:avLst>
              <a:gd name="adj" fmla="val 61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3333750"/>
            <a:ext cx="3714750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9" name="Shape 7"/>
          <p:cNvSpPr/>
          <p:nvPr/>
        </p:nvSpPr>
        <p:spPr>
          <a:xfrm>
            <a:off x="5238750" y="3333750"/>
            <a:ext cx="3714750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9334500" y="3333750"/>
            <a:ext cx="3714750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13430250" y="3333750"/>
            <a:ext cx="3714750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3810000"/>
            <a:ext cx="2952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524000" y="4953000"/>
            <a:ext cx="295275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nhắc khi</a:t>
            </a:r>
            <a:r>
              <a:rPr lang="en-US" sz="25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5619750" y="3810000"/>
            <a:ext cx="2952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5619750" y="4953000"/>
            <a:ext cx="295275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8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Tùy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cho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15500" y="3810000"/>
            <a:ext cx="2952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715500" y="4953000"/>
            <a:ext cx="295275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811250" y="3810000"/>
            <a:ext cx="2952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13811250" y="4953000"/>
            <a:ext cx="295275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2" name="Text 30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02/12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42088288-3948-47a0-a2c4-204d7a5942c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6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r>
              <a:rPr lang="en-US" sz="1950" b="1" spc="25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b="1" spc="3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b="1" spc="26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chứa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chatbot</a:t>
            </a:r>
            <a:endParaRPr lang="en-US" sz="6900" dirty="0"/>
          </a:p>
        </p:txBody>
      </p:sp>
      <p:sp>
        <p:nvSpPr>
          <p:cNvPr id="4" name="Connector line-1792491789792-992033976"/>
          <p:cNvSpPr/>
          <p:nvPr/>
        </p:nvSpPr>
        <p:spPr>
          <a:xfrm flipH="1" flipV="1">
            <a:off x="7048500" y="3810000"/>
            <a:ext cx="3048000" cy="1905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5" name="Connector line-1792491789792-34879687"/>
          <p:cNvSpPr/>
          <p:nvPr/>
        </p:nvSpPr>
        <p:spPr>
          <a:xfrm flipH="1">
            <a:off x="7048500" y="5715000"/>
            <a:ext cx="3048000" cy="1905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Connector line-1792491789792-885273229"/>
          <p:cNvSpPr/>
          <p:nvPr/>
        </p:nvSpPr>
        <p:spPr>
          <a:xfrm flipV="1">
            <a:off x="10096500" y="3810000"/>
            <a:ext cx="3714750" cy="1905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7" name="Connector line-1792491789792-392066902"/>
          <p:cNvSpPr/>
          <p:nvPr/>
        </p:nvSpPr>
        <p:spPr>
          <a:xfrm>
            <a:off x="10096500" y="5715000"/>
            <a:ext cx="3714750" cy="190500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7810500" y="4762500"/>
            <a:ext cx="4572000" cy="1905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9" name="Text 7"/>
          <p:cNvSpPr/>
          <p:nvPr/>
        </p:nvSpPr>
        <p:spPr>
          <a:xfrm>
            <a:off x="8001000" y="4762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4191000" y="3143250"/>
            <a:ext cx="36195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6750" y="314325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Chatbot: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4191000" y="6953250"/>
            <a:ext cx="3619500" cy="1333500"/>
          </a:xfrm>
          <a:prstGeom prst="roundRect">
            <a:avLst>
              <a:gd name="adj" fmla="val 14286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6750" y="6953250"/>
            <a:ext cx="3048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Chatbot: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2954000" y="3143250"/>
            <a:ext cx="4191000" cy="1333500"/>
          </a:xfrm>
          <a:prstGeom prst="roundRect">
            <a:avLst>
              <a:gd name="adj" fmla="val 14286"/>
            </a:avLst>
          </a:prstGeom>
          <a:solidFill>
            <a:srgbClr val="F8D9D0"/>
          </a:solidFill>
          <a:ln/>
        </p:spPr>
      </p:sp>
      <p:sp>
        <p:nvSpPr>
          <p:cNvPr id="15" name="Text 13"/>
          <p:cNvSpPr/>
          <p:nvPr/>
        </p:nvSpPr>
        <p:spPr>
          <a:xfrm>
            <a:off x="13239750" y="3143250"/>
            <a:ext cx="36195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2954000" y="6953250"/>
            <a:ext cx="4191000" cy="1333500"/>
          </a:xfrm>
          <a:prstGeom prst="roundRect">
            <a:avLst>
              <a:gd name="adj" fmla="val 14286"/>
            </a:avLst>
          </a:prstGeom>
          <a:solidFill>
            <a:srgbClr val="F8D9D0"/>
          </a:solidFill>
          <a:ln/>
        </p:spPr>
      </p:sp>
      <p:sp>
        <p:nvSpPr>
          <p:cNvPr id="17" name="Text 15"/>
          <p:cNvSpPr/>
          <p:nvPr/>
        </p:nvSpPr>
        <p:spPr>
          <a:xfrm>
            <a:off x="13239750" y="6953250"/>
            <a:ext cx="36195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 mọi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43000" y="3143250"/>
            <a:ext cx="2857500" cy="5334000"/>
          </a:xfrm>
          <a:prstGeom prst="rect">
            <a:avLst/>
          </a:prstGeom>
          <a:noFill/>
          <a:ln/>
        </p:spPr>
        <p:txBody>
          <a:bodyPr wrap="square" lIns="0" tIns="4667" rIns="0" bIns="-4667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Chatbot: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luật,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Text 29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03/12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8a458c8f-19ad-466c-aaf1-d7d64e1153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b="1" spc="28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SDK</a:t>
            </a:r>
            <a:r>
              <a:rPr lang="en-US" sz="1950" b="1" spc="25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xây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 từ</a:t>
            </a:r>
            <a:r>
              <a:rPr lang="en-US" sz="69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3714750" cy="43815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5238750" y="2952750"/>
            <a:ext cx="3714750" cy="43815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334500" y="2952750"/>
            <a:ext cx="3714750" cy="43815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3430250" y="2952750"/>
            <a:ext cx="3714750" cy="43815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2952750"/>
            <a:ext cx="3714750" cy="114300"/>
          </a:xfrm>
          <a:prstGeom prst="roundRect">
            <a:avLst>
              <a:gd name="adj" fmla="val 200000"/>
            </a:avLst>
          </a:prstGeom>
          <a:solidFill>
            <a:srgbClr val="7C93FF"/>
          </a:solidFill>
          <a:ln/>
        </p:spPr>
      </p:sp>
      <p:sp>
        <p:nvSpPr>
          <p:cNvPr id="9" name="Shape 7"/>
          <p:cNvSpPr/>
          <p:nvPr/>
        </p:nvSpPr>
        <p:spPr>
          <a:xfrm>
            <a:off x="5238750" y="2952750"/>
            <a:ext cx="3714750" cy="114300"/>
          </a:xfrm>
          <a:prstGeom prst="roundRect">
            <a:avLst>
              <a:gd name="adj" fmla="val 200000"/>
            </a:avLst>
          </a:prstGeom>
          <a:solidFill>
            <a:srgbClr val="7C93FF"/>
          </a:solidFill>
          <a:ln/>
        </p:spPr>
      </p:sp>
      <p:sp>
        <p:nvSpPr>
          <p:cNvPr id="10" name="Shape 8"/>
          <p:cNvSpPr/>
          <p:nvPr/>
        </p:nvSpPr>
        <p:spPr>
          <a:xfrm>
            <a:off x="9334500" y="2952750"/>
            <a:ext cx="3714750" cy="114300"/>
          </a:xfrm>
          <a:prstGeom prst="roundRect">
            <a:avLst>
              <a:gd name="adj" fmla="val 200000"/>
            </a:avLst>
          </a:prstGeom>
          <a:solidFill>
            <a:srgbClr val="7C93FF"/>
          </a:solidFill>
          <a:ln/>
        </p:spPr>
      </p:sp>
      <p:sp>
        <p:nvSpPr>
          <p:cNvPr id="11" name="Shape 9"/>
          <p:cNvSpPr/>
          <p:nvPr/>
        </p:nvSpPr>
        <p:spPr>
          <a:xfrm>
            <a:off x="13430250" y="2952750"/>
            <a:ext cx="3714750" cy="114300"/>
          </a:xfrm>
          <a:prstGeom prst="roundRect">
            <a:avLst>
              <a:gd name="adj" fmla="val 200000"/>
            </a:avLst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3429000"/>
            <a:ext cx="2952750" cy="1047750"/>
          </a:xfrm>
          <a:prstGeom prst="rect">
            <a:avLst/>
          </a:prstGeom>
          <a:noFill/>
          <a:ln/>
        </p:spPr>
        <p:txBody>
          <a:bodyPr wrap="square" lIns="0" tIns="9525" rIns="0" bIns="-9525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</a:t>
            </a:r>
            <a:r>
              <a:rPr lang="en-US" sz="3000" dirty="0" spc="-1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hơn,</a:t>
            </a:r>
            <a:r>
              <a:rPr lang="en-US" sz="3000" dirty="0" spc="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đỡ</a:t>
            </a:r>
            <a:r>
              <a:rPr lang="en-US" sz="3000" dirty="0" spc="-1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524000" y="4762500"/>
            <a:ext cx="2952750" cy="2286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Dồn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nghiệp vụ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19750" y="3429000"/>
            <a:ext cx="2952750" cy="1047750"/>
          </a:xfrm>
          <a:prstGeom prst="rect">
            <a:avLst/>
          </a:prstGeom>
          <a:noFill/>
          <a:ln/>
        </p:spPr>
        <p:txBody>
          <a:bodyPr wrap="square" lIns="0" tIns="9525" rIns="0" bIns="-9525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Chạy</a:t>
            </a:r>
            <a:r>
              <a:rPr lang="en-US" sz="3000" dirty="0" spc="-1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3000" dirty="0" spc="-1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619750" y="4762500"/>
            <a:ext cx="2952750" cy="2286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715500" y="3429000"/>
            <a:ext cx="2952750" cy="1047750"/>
          </a:xfrm>
          <a:prstGeom prst="rect">
            <a:avLst/>
          </a:prstGeom>
          <a:noFill/>
          <a:ln/>
        </p:spPr>
        <p:txBody>
          <a:bodyPr wrap="square" lIns="0" tIns="9525" rIns="0" bIns="-9525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Bảo</a:t>
            </a:r>
            <a:r>
              <a:rPr lang="en-US" sz="3000" dirty="0" spc="-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</a:t>
            </a:r>
            <a:r>
              <a:rPr lang="en-US" sz="30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dễ</a:t>
            </a:r>
            <a:r>
              <a:rPr lang="en-US" sz="3000" dirty="0" spc="-1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715500" y="4762500"/>
            <a:ext cx="2952750" cy="2286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cập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811250" y="3429000"/>
            <a:ext cx="2952750" cy="1047750"/>
          </a:xfrm>
          <a:prstGeom prst="rect">
            <a:avLst/>
          </a:prstGeom>
          <a:noFill/>
          <a:ln/>
        </p:spPr>
        <p:txBody>
          <a:bodyPr wrap="square" lIns="0" tIns="9525" rIns="0" bIns="-9525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30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nghệ</a:t>
            </a:r>
            <a:r>
              <a:rPr lang="en-US" sz="3000" dirty="0" spc="-1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811250" y="4762500"/>
            <a:ext cx="2952750" cy="2286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r>
              <a:rPr lang="en-US" sz="24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43000" y="7810500"/>
            <a:ext cx="1600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40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400" dirty="0" spc="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40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-2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40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5" name="Shape 23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3" name="Text 31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04/12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eaaae29e-74e0-4780-8181-409994dc3a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26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69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0287000" cy="4762500"/>
          </a:xfrm>
          <a:prstGeom prst="roundRect">
            <a:avLst>
              <a:gd name="adj" fmla="val 4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238500"/>
            <a:ext cx="9715500" cy="4286250"/>
          </a:xfrm>
          <a:prstGeom prst="rect">
            <a:avLst/>
          </a:prstGeom>
          <a:noFill/>
          <a:ln/>
        </p:spPr>
        <p:txBody>
          <a:bodyPr wrap="square" lIns="0" tIns="-59436" rIns="0" bIns="59436" rtlCol="0" anchor="t"/>
          <a:lstStyle/>
          <a:p>
            <a:pPr algn="l" indent="0" marL="0">
              <a:lnSpc>
                <a:spcPts val="468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os</a:t>
            </a:r>
            <a:endParaRPr lang="en-US" sz="1950" dirty="0"/>
          </a:p>
          <a:p>
            <a:pPr algn="l" indent="0" marL="0">
              <a:lnSpc>
                <a:spcPts val="468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openai import OpenAI</a:t>
            </a:r>
            <a:endParaRPr lang="en-US" sz="1950" dirty="0"/>
          </a:p>
          <a:p>
            <a:pPr algn="l" indent="0" marL="0">
              <a:lnSpc>
                <a:spcPts val="468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 = OpenAI(api_key=os.getenv("OPENAI_API_KEY", ""))</a:t>
            </a:r>
            <a:endParaRPr lang="en-US" sz="1950" dirty="0"/>
          </a:p>
          <a:p>
            <a:pPr algn="l" indent="0" marL="0">
              <a:lnSpc>
                <a:spcPts val="468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 = client.responses.create(model="gpt-5-mini",</a:t>
            </a:r>
            <a:endParaRPr lang="en-US" sz="1950" dirty="0"/>
          </a:p>
          <a:p>
            <a:pPr algn="l" indent="0" marL="0">
              <a:lnSpc>
                <a:spcPts val="468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input="Gợi ý hai tiêu đề...", store=False)</a:t>
            </a:r>
            <a:endParaRPr lang="en-US" sz="1950" dirty="0"/>
          </a:p>
          <a:p>
            <a:pPr algn="l" indent="0" marL="0">
              <a:lnSpc>
                <a:spcPts val="4680"/>
              </a:lnSpc>
              <a:buNone/>
            </a:pPr>
            <a:r>
              <a:rPr lang="en-US" sz="1950" dirty="0" spc="-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print(response.output_text)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1811000" y="2952750"/>
            <a:ext cx="5334000" cy="1485900"/>
          </a:xfrm>
          <a:prstGeom prst="roundRect">
            <a:avLst>
              <a:gd name="adj" fmla="val 12821"/>
            </a:avLst>
          </a:prstGeom>
          <a:solidFill>
            <a:srgbClr val="F3DFB8"/>
          </a:solidFill>
          <a:ln/>
        </p:spPr>
      </p:sp>
      <p:sp>
        <p:nvSpPr>
          <p:cNvPr id="7" name="Shape 5"/>
          <p:cNvSpPr/>
          <p:nvPr/>
        </p:nvSpPr>
        <p:spPr>
          <a:xfrm>
            <a:off x="11811000" y="4591050"/>
            <a:ext cx="5334000" cy="1485900"/>
          </a:xfrm>
          <a:prstGeom prst="roundRect">
            <a:avLst>
              <a:gd name="adj" fmla="val 12821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11811000" y="6229350"/>
            <a:ext cx="5334000" cy="1485900"/>
          </a:xfrm>
          <a:prstGeom prst="roundRect">
            <a:avLst>
              <a:gd name="adj" fmla="val 12821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2096750" y="2952750"/>
            <a:ext cx="6667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2858750" y="2952750"/>
            <a:ext cx="4000500" cy="14859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 môi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OPENAI_API_KEY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096750" y="4591050"/>
            <a:ext cx="6667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2858750" y="4591050"/>
            <a:ext cx="4000500" cy="14859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code;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2096750" y="6229350"/>
            <a:ext cx="666750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9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2858750" y="6229350"/>
            <a:ext cx="4000500" cy="14859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05/12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1c36459-7248-4ea1-b877-7d5beb51a6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 NGHIỆM</a:t>
            </a:r>
            <a:r>
              <a:rPr lang="en-US" sz="195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334500" y="295275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600075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9334500" y="6000750"/>
            <a:ext cx="7810500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3286125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5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Xử</a:t>
            </a:r>
            <a:r>
              <a:rPr lang="en-US" sz="31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31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chỗ</a:t>
            </a: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mơ hồ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1524000" y="404812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715500" y="3286125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31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315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715500" y="404812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ích,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24000" y="6334125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</a:t>
            </a:r>
            <a:r>
              <a:rPr lang="en-US" sz="315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315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524000" y="709612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Hồ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dùng,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Custom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instructions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715500" y="6334125"/>
            <a:ext cx="704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3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Trợ</a:t>
            </a: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năng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9715500" y="7096125"/>
            <a:ext cx="7048500" cy="1428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4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Tương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cao, giọng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nói,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phím,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Text 26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06/12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ec75786-b2e9-441a-912f-b29373e107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NHẮN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phần, theo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69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Microsoft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E847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952750"/>
            <a:ext cx="114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62250" y="29527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Phục vụ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ai,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619250" y="4381500"/>
            <a:ext cx="15049500" cy="1238250"/>
          </a:xfrm>
          <a:prstGeom prst="roundRect">
            <a:avLst>
              <a:gd name="adj" fmla="val 15385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2000250" y="4381500"/>
            <a:ext cx="114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38500" y="4381500"/>
            <a:ext cx="13049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dạng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2095500" y="5810250"/>
            <a:ext cx="14097000" cy="1238250"/>
          </a:xfrm>
          <a:prstGeom prst="roundRect">
            <a:avLst>
              <a:gd name="adj" fmla="val 15385"/>
            </a:avLst>
          </a:prstGeom>
          <a:solidFill>
            <a:srgbClr val="F8D9D0"/>
          </a:solidFill>
          <a:ln/>
        </p:spPr>
      </p:sp>
      <p:sp>
        <p:nvSpPr>
          <p:cNvPr id="11" name="Text 9"/>
          <p:cNvSpPr/>
          <p:nvPr/>
        </p:nvSpPr>
        <p:spPr>
          <a:xfrm>
            <a:off x="2476500" y="5810250"/>
            <a:ext cx="114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714750" y="5810250"/>
            <a:ext cx="1209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nên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2571750" y="7239000"/>
            <a:ext cx="13144500" cy="1238250"/>
          </a:xfrm>
          <a:prstGeom prst="roundRect">
            <a:avLst>
              <a:gd name="adj" fmla="val 15385"/>
            </a:avLst>
          </a:prstGeom>
          <a:solidFill>
            <a:srgbClr val="F8D9D0"/>
          </a:solidFill>
          <a:ln/>
        </p:spPr>
      </p:sp>
      <p:sp>
        <p:nvSpPr>
          <p:cNvPr id="14" name="Text 12"/>
          <p:cNvSpPr/>
          <p:nvPr/>
        </p:nvSpPr>
        <p:spPr>
          <a:xfrm>
            <a:off x="2952750" y="7239000"/>
            <a:ext cx="114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191000" y="7239000"/>
            <a:ext cx="1114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7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"rào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chắn" thêm cho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Text 26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07/12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d3aa00a-0872-4f60-904a-aa9b09fda2f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CHO</a:t>
            </a:r>
            <a:r>
              <a:rPr lang="en-US" sz="1950" b="1" spc="27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DSL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tinh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7810500" cy="3810000"/>
          </a:xfrm>
          <a:prstGeom prst="roundRect">
            <a:avLst>
              <a:gd name="adj" fmla="val 6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571625" y="3286125"/>
            <a:ext cx="695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2" kern="0" dirty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b="1" spc="149" kern="0" dirty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DSL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71625" y="4000500"/>
            <a:ext cx="6953250" cy="2571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spcAft>
                <a:spcPts val="1800"/>
              </a:spcAft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vực,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luyện,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34500" y="2952750"/>
            <a:ext cx="7810500" cy="3810000"/>
          </a:xfrm>
          <a:prstGeom prst="roundRect">
            <a:avLst>
              <a:gd name="adj" fmla="val 6000"/>
            </a:avLst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9763125" y="3286125"/>
            <a:ext cx="695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TINH CHỈNH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63125" y="4000500"/>
            <a:ext cx="6953250" cy="2571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spcAft>
                <a:spcPts val="1800"/>
              </a:spcAft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43000" y="7143750"/>
            <a:ext cx="16002000" cy="152400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40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</a:t>
            </a:r>
            <a:r>
              <a:rPr lang="en-US" sz="24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khoa: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400" dirty="0" spc="-3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00" dirty="0" spc="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400" dirty="0" spc="-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tạp,</a:t>
            </a:r>
            <a:r>
              <a:rPr lang="en-US" sz="24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 bộ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00" dirty="0" spc="-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4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4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cần</a:t>
            </a:r>
            <a:r>
              <a:rPr lang="en-US" sz="24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lớn,</a:t>
            </a:r>
            <a:r>
              <a:rPr lang="en-US" sz="2400" dirty="0" spc="-1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0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lĩnh</a:t>
            </a:r>
            <a:r>
              <a:rPr lang="en-US" sz="240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7" name="Shape 15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Text 21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08/12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81cb222d-630e-49ed-92a7-d4c5d3c152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95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b="1" spc="26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dõi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16002000" cy="571500"/>
          </a:xfrm>
          <a:prstGeom prst="roundRect">
            <a:avLst>
              <a:gd name="adj" fmla="val 23333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85750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8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0" y="2857500"/>
            <a:ext cx="990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143000" y="3429000"/>
            <a:ext cx="16002000" cy="59055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019550"/>
            <a:ext cx="16002000" cy="590550"/>
          </a:xfrm>
          <a:prstGeom prst="rect">
            <a:avLst/>
          </a:prstGeom>
          <a:solidFill>
            <a:srgbClr val="F3DFB8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610100"/>
            <a:ext cx="16002000" cy="59055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5200650"/>
            <a:ext cx="16002000" cy="590550"/>
          </a:xfrm>
          <a:prstGeom prst="rect">
            <a:avLst/>
          </a:prstGeom>
          <a:solidFill>
            <a:srgbClr val="F3DFB8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5791200"/>
            <a:ext cx="16002000" cy="59055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6381750"/>
            <a:ext cx="16002000" cy="590550"/>
          </a:xfrm>
          <a:prstGeom prst="rect">
            <a:avLst/>
          </a:prstGeom>
          <a:solidFill>
            <a:srgbClr val="F3D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6972300"/>
            <a:ext cx="16002000" cy="59055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7562850"/>
            <a:ext cx="16002000" cy="590550"/>
          </a:xfrm>
          <a:prstGeom prst="rect">
            <a:avLst/>
          </a:prstGeom>
          <a:solidFill>
            <a:srgbClr val="F3DFB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8153400"/>
            <a:ext cx="16002000" cy="590550"/>
          </a:xfrm>
          <a:prstGeom prst="rect">
            <a:avLst/>
          </a:prstGeom>
          <a:solidFill>
            <a:srgbClr val="FBF8F2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3000" y="8743950"/>
            <a:ext cx="16002000" cy="590550"/>
          </a:xfrm>
          <a:prstGeom prst="rect">
            <a:avLst/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342900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Uptime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858000" y="342900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9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524000" y="401955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hồi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401955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Bao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 thì</a:t>
            </a:r>
            <a:r>
              <a:rPr lang="en-US" sz="19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524000" y="461010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Precision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58000" y="461010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"có", tỉ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524000" y="520065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Recall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858000" y="520065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9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"có",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tỉ lệ</a:t>
            </a:r>
            <a:r>
              <a:rPr lang="en-US" sz="19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19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524000" y="579120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F1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6858000" y="579120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19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9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hòa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precision</a:t>
            </a:r>
            <a:r>
              <a:rPr lang="en-US" sz="19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recall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524000" y="638175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Perplexity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858000" y="638175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19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19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19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19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524000" y="697230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hài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lòng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6858000" y="697230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19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sao,</a:t>
            </a:r>
            <a:r>
              <a:rPr lang="en-US" sz="19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19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524000" y="756285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Tỉ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 lỗi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6858000" y="756285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bao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1524000" y="815340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Huấn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858000" y="815340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Bao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524000" y="8743950"/>
            <a:ext cx="495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858000" y="8743950"/>
            <a:ext cx="9906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19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hành vi</a:t>
            </a:r>
            <a:r>
              <a:rPr lang="en-US" sz="19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8" name="Shape 36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9" name="Shape 37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41" name="Shape 39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42" name="Shape 40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43" name="Shape 41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44" name="Shape 42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45" name="Shape 43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47" name="Shape 45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48" name="Shape 46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49" name="Text 47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09/12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1" name="Moda image moda-export-watermark-99b820bd-6ede-433d-b62e-68a149bd87a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28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195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áp</a:t>
            </a: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6600825" y="2952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058650" y="2952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6000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600825" y="6000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2058650" y="6000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286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 bằng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524000" y="4048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phân</a:t>
            </a: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981825" y="3286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</a:t>
            </a:r>
            <a:r>
              <a:rPr lang="en-US" sz="2850" dirty="0" spc="-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cậy,</a:t>
            </a:r>
            <a:r>
              <a:rPr lang="en-US" sz="28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2850" dirty="0" spc="-1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981825" y="4048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thử,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439650" y="3286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Riêng</a:t>
            </a:r>
            <a:r>
              <a:rPr lang="en-US" sz="2850" dirty="0" spc="-2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tư,</a:t>
            </a:r>
            <a:r>
              <a:rPr lang="en-US" sz="285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28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2439650" y="4048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mạnh,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24000" y="6334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Bao</a:t>
            </a:r>
            <a:r>
              <a:rPr lang="en-US" sz="285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trùm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524000" y="7096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981825" y="6334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Minh</a:t>
            </a:r>
            <a:r>
              <a:rPr lang="en-US" sz="28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bạch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6981825" y="7096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rõ,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2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2439650" y="6334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3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Chịu</a:t>
            </a:r>
            <a:r>
              <a:rPr lang="en-US" sz="2850" dirty="0" spc="-8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trách</a:t>
            </a:r>
            <a:r>
              <a:rPr lang="en-US" sz="2850" dirty="0" spc="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nhiệm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2439650" y="7096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2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</a:t>
            </a: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 thiện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4" name="Text 32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10/12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14e871c1-0363-4855-b757-50cdbba496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chat AI: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314325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571750" y="3143250"/>
            <a:ext cx="1123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70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1143000" y="466725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24000" y="466725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571750" y="4667250"/>
            <a:ext cx="1123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4097000" y="4667250"/>
            <a:ext cx="2667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43000" y="619125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4000" y="619125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71750" y="6191250"/>
            <a:ext cx="1123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43000" y="78105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chatbot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luật.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chat</a:t>
            </a:r>
            <a:r>
              <a:rPr lang="en-US" sz="22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11/12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88bfe89-63b1-486e-ae1c-a03ada6b20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16002000" cy="781050"/>
          </a:xfrm>
          <a:prstGeom prst="roundRect">
            <a:avLst>
              <a:gd name="adj" fmla="val 19512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657600"/>
            <a:ext cx="16002000" cy="781050"/>
          </a:xfrm>
          <a:prstGeom prst="roundRect">
            <a:avLst>
              <a:gd name="adj" fmla="val 1951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552950"/>
            <a:ext cx="16002000" cy="781050"/>
          </a:xfrm>
          <a:prstGeom prst="roundRect">
            <a:avLst>
              <a:gd name="adj" fmla="val 1951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5448300"/>
            <a:ext cx="16002000" cy="781050"/>
          </a:xfrm>
          <a:prstGeom prst="roundRect">
            <a:avLst>
              <a:gd name="adj" fmla="val 19512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6343650"/>
            <a:ext cx="16002000" cy="781050"/>
          </a:xfrm>
          <a:prstGeom prst="roundRect">
            <a:avLst>
              <a:gd name="adj" fmla="val 19512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7239000"/>
            <a:ext cx="16002000" cy="781050"/>
          </a:xfrm>
          <a:prstGeom prst="roundRect">
            <a:avLst>
              <a:gd name="adj" fmla="val 19512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2762250"/>
            <a:ext cx="2476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191000" y="2762250"/>
            <a:ext cx="12573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Artificial</a:t>
            </a:r>
            <a:r>
              <a:rPr lang="en-US" sz="2250" dirty="0" spc="-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Intelligence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tuệ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24000" y="3657600"/>
            <a:ext cx="2476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191000" y="3657600"/>
            <a:ext cx="12573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225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524000" y="4552950"/>
            <a:ext cx="2476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191000" y="4552950"/>
            <a:ext cx="12573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2250" dirty="0" spc="-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24000" y="5448300"/>
            <a:ext cx="2476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SDK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191000" y="5448300"/>
            <a:ext cx="12573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Software</a:t>
            </a:r>
            <a:r>
              <a:rPr lang="en-US" sz="225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Kit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bộ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524000" y="6343650"/>
            <a:ext cx="2476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UX,</a:t>
            </a: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UI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191000" y="6343650"/>
            <a:ext cx="12573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Experience,</a:t>
            </a:r>
            <a:r>
              <a:rPr lang="en-US" sz="22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User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2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524000" y="7239000"/>
            <a:ext cx="24765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DSL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191000" y="7239000"/>
            <a:ext cx="12573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Domain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Specific</a:t>
            </a:r>
            <a:r>
              <a:rPr lang="en-US" sz="225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250" dirty="0" spc="-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143000" y="8286750"/>
            <a:ext cx="16002000" cy="666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00" dirty="0" spc="-16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-6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microsoft/generative-ai-for-beginners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180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Corporation),</a:t>
            </a:r>
            <a:r>
              <a:rPr lang="en-US" sz="180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Shape 24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1" name="Shape 29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3" name="Shape 31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4" name="Shape 32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Text 33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12/12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bdfe1145-8131-4b44-b044-771ae315325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2026-10-20T10:28:16Z</dcterms:created>
  <dcterms:modified xsi:type="dcterms:W3CDTF">2026-10-20T10:28:16Z</dcterms:modified>
</cp:coreProperties>
</file>