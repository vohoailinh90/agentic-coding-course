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JetBrains Mono"/>
      <p:regular r:id="rId21"/>
      <p:bold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47750"/>
            <a:ext cx="914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8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b="1" spc="29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144000" cy="2476500"/>
          </a:xfrm>
          <a:prstGeom prst="rect">
            <a:avLst/>
          </a:prstGeom>
          <a:noFill/>
          <a:ln/>
        </p:spPr>
        <p:txBody>
          <a:bodyPr wrap="square" lIns="0" tIns="53721" rIns="0" bIns="-53721" rtlCol="0" anchor="t"/>
          <a:lstStyle/>
          <a:p>
            <a:pPr algn="l" indent="0" marL="0">
              <a:lnSpc>
                <a:spcPts val="7614"/>
              </a:lnSpc>
              <a:buNone/>
            </a:pPr>
            <a:r>
              <a:rPr lang="en-US" sz="705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Làm</a:t>
            </a:r>
            <a:r>
              <a:rPr lang="en-US" sz="70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7050" dirty="0" spc="-8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70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705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05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ngôn</a:t>
            </a:r>
            <a:r>
              <a:rPr lang="en-US" sz="70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0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</a:t>
            </a:r>
            <a:endParaRPr lang="en-US" sz="7050" dirty="0"/>
          </a:p>
        </p:txBody>
      </p:sp>
      <p:sp>
        <p:nvSpPr>
          <p:cNvPr id="4" name="Text 2"/>
          <p:cNvSpPr/>
          <p:nvPr/>
        </p:nvSpPr>
        <p:spPr>
          <a:xfrm>
            <a:off x="914400" y="6096000"/>
            <a:ext cx="8572500" cy="1047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30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30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khổng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lồ?</a:t>
            </a:r>
            <a:endParaRPr lang="en-US" sz="3000" dirty="0"/>
          </a:p>
        </p:txBody>
      </p:sp>
      <p:sp>
        <p:nvSpPr>
          <p:cNvPr id="5" name="Connector line-1792490759654-731022101"/>
          <p:cNvSpPr/>
          <p:nvPr/>
        </p:nvSpPr>
        <p:spPr>
          <a:xfrm>
            <a:off x="914400" y="7524750"/>
            <a:ext cx="822960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762875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100" dirty="0" spc="-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100" dirty="0" spc="-15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dirty="0" spc="-4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bài: họ</a:t>
            </a:r>
            <a:r>
              <a:rPr lang="en-US" sz="210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Phi-3</a:t>
            </a:r>
            <a:r>
              <a:rPr lang="en-US" sz="2100" dirty="0" spc="-4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210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Phi-3.5 của</a:t>
            </a:r>
            <a:r>
              <a:rPr lang="en-US" sz="2100" dirty="0" spc="-1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0477500" y="2095500"/>
            <a:ext cx="68961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01350" y="25146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</a:t>
            </a:r>
            <a:r>
              <a:rPr lang="en-US" sz="1650" b="1" spc="2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2706350" y="2457450"/>
            <a:ext cx="4476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LLM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0477500" y="3524250"/>
            <a:ext cx="68961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01350" y="394335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</a:t>
            </a:r>
            <a:r>
              <a:rPr lang="en-US" sz="16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LLM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706350" y="3886200"/>
            <a:ext cx="4476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94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Nhẹ</a:t>
            </a:r>
            <a:r>
              <a:rPr lang="en-US" sz="2094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hơn,</a:t>
            </a:r>
            <a:r>
              <a:rPr lang="en-US" sz="2094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chuyên</a:t>
            </a:r>
            <a:r>
              <a:rPr lang="en-US" sz="2094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094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lĩnh</a:t>
            </a:r>
            <a:r>
              <a:rPr lang="en-US" sz="2094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vực</a:t>
            </a:r>
            <a:endParaRPr lang="en-US" sz="2094" dirty="0"/>
          </a:p>
        </p:txBody>
      </p:sp>
      <p:sp>
        <p:nvSpPr>
          <p:cNvPr id="13" name="Shape 11"/>
          <p:cNvSpPr/>
          <p:nvPr/>
        </p:nvSpPr>
        <p:spPr>
          <a:xfrm>
            <a:off x="10477500" y="4953000"/>
            <a:ext cx="68961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01350" y="53721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</a:t>
            </a:r>
            <a:r>
              <a:rPr lang="en-US" sz="16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2706350" y="5314950"/>
            <a:ext cx="4476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Chữ,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ảnh,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MoE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0477500" y="6381750"/>
            <a:ext cx="68961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01350" y="680085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8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2706350" y="6743700"/>
            <a:ext cx="4476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Đám</a:t>
            </a:r>
            <a:r>
              <a:rPr lang="en-US" sz="24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788c5adc-9c94-4ad8-a001-9c4cd17fade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25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1800" b="1" spc="29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80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1430000" cy="2476500"/>
          </a:xfrm>
          <a:prstGeom prst="rect">
            <a:avLst/>
          </a:prstGeom>
          <a:noFill/>
          <a:ln/>
        </p:spPr>
        <p:txBody>
          <a:bodyPr wrap="square" lIns="0" tIns="45720" rIns="0" bIns="-45720" rtlCol="0" anchor="t"/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SLM</a:t>
            </a:r>
            <a:r>
              <a:rPr lang="en-US" sz="72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gọn,</a:t>
            </a:r>
            <a:r>
              <a:rPr lang="en-US" sz="72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nhẹ,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7200" dirty="0" spc="-9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72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72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4953000"/>
            <a:ext cx="16459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</a:t>
            </a:r>
            <a:r>
              <a:rPr lang="en-US" sz="1800" b="1" spc="21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XONG,</a:t>
            </a:r>
            <a:r>
              <a:rPr lang="en-US" sz="1800" b="1" spc="22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1800" b="1" spc="2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0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180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b="1" spc="22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1800" b="1" spc="20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5524500"/>
            <a:ext cx="3886200" cy="2286000"/>
          </a:xfrm>
          <a:prstGeom prst="roundRect">
            <a:avLst>
              <a:gd name="adj" fmla="val 10000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5762625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238250" y="6524625"/>
            <a:ext cx="3238500" cy="1143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SLM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5105400" y="5524500"/>
            <a:ext cx="3886200" cy="2286000"/>
          </a:xfrm>
          <a:prstGeom prst="roundRect">
            <a:avLst>
              <a:gd name="adj" fmla="val 10000"/>
            </a:avLst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5429250" y="5762625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429250" y="6524625"/>
            <a:ext cx="3238500" cy="1143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SLM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LLM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đâu?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296400" y="5524500"/>
            <a:ext cx="3886200" cy="2286000"/>
          </a:xfrm>
          <a:prstGeom prst="roundRect">
            <a:avLst>
              <a:gd name="adj" fmla="val 10000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9620250" y="5762625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9620250" y="6524625"/>
            <a:ext cx="3238500" cy="1143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 Phi-3 /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3.5</a:t>
            </a:r>
            <a:r>
              <a:rPr lang="en-US" sz="22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3487400" y="5524500"/>
            <a:ext cx="3886200" cy="2286000"/>
          </a:xfrm>
          <a:prstGeom prst="roundRect">
            <a:avLst>
              <a:gd name="adj" fmla="val 10000"/>
            </a:avLst>
          </a:prstGeom>
          <a:solidFill>
            <a:srgbClr val="E8E0CF"/>
          </a:solidFill>
          <a:ln/>
        </p:spPr>
      </p:sp>
      <p:sp>
        <p:nvSpPr>
          <p:cNvPr id="15" name="Text 13"/>
          <p:cNvSpPr/>
          <p:nvPr/>
        </p:nvSpPr>
        <p:spPr>
          <a:xfrm>
            <a:off x="13811250" y="5762625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13811250" y="6524625"/>
            <a:ext cx="3238500" cy="1143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 thế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3b42af3a-54f4-418f-a1ac-22ee1ade828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SLM</a:t>
            </a: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LLM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4476750"/>
            <a:ext cx="3048000" cy="1619250"/>
          </a:xfrm>
          <a:prstGeom prst="roundRect">
            <a:avLst>
              <a:gd name="adj" fmla="val 164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4762500"/>
            <a:ext cx="304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LLM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5476875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 hình</a:t>
            </a:r>
            <a:r>
              <a:rPr lang="en-US" sz="18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1800" dirty="0"/>
          </a:p>
        </p:txBody>
      </p:sp>
      <p:sp>
        <p:nvSpPr>
          <p:cNvPr id="7" name="Connector line-1792490778547-122821239"/>
          <p:cNvSpPr/>
          <p:nvPr/>
        </p:nvSpPr>
        <p:spPr>
          <a:xfrm>
            <a:off x="4000500" y="5286375"/>
            <a:ext cx="266700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000500" y="4572000"/>
            <a:ext cx="266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spc="-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Nén</a:t>
            </a:r>
            <a:r>
              <a:rPr lang="en-US" sz="195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1950" b="1" dirty="0" spc="1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chưng</a:t>
            </a:r>
            <a:r>
              <a:rPr lang="en-US" sz="195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cất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762750" y="3857625"/>
            <a:ext cx="2857500" cy="2857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Text 8"/>
          <p:cNvSpPr/>
          <p:nvPr/>
        </p:nvSpPr>
        <p:spPr>
          <a:xfrm>
            <a:off x="6762750" y="4667250"/>
            <a:ext cx="285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983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SLM</a:t>
            </a:r>
            <a:endParaRPr lang="en-US" sz="4983" dirty="0"/>
          </a:p>
        </p:txBody>
      </p:sp>
      <p:sp>
        <p:nvSpPr>
          <p:cNvPr id="11" name="Text 9"/>
          <p:cNvSpPr/>
          <p:nvPr/>
        </p:nvSpPr>
        <p:spPr>
          <a:xfrm>
            <a:off x="6953250" y="5476875"/>
            <a:ext cx="247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4" kern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Gọn,</a:t>
            </a:r>
            <a:r>
              <a:rPr lang="en-US" sz="1800" dirty="0" spc="-2" kern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 tính</a:t>
            </a:r>
            <a:r>
              <a:rPr lang="en-US" sz="1800" dirty="0" spc="-10" kern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1800" dirty="0"/>
          </a:p>
        </p:txBody>
      </p:sp>
      <p:sp>
        <p:nvSpPr>
          <p:cNvPr id="12" name="Connector line-1792490778553-471669916"/>
          <p:cNvSpPr/>
          <p:nvPr/>
        </p:nvSpPr>
        <p:spPr>
          <a:xfrm flipV="1">
            <a:off x="9620250" y="3429000"/>
            <a:ext cx="2667000" cy="1524000"/>
          </a:xfrm>
          <a:prstGeom prst="line">
            <a:avLst/>
          </a:prstGeom>
          <a:noFill/>
          <a:ln w="28575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3" name="Connector line-1792490778554-568866816"/>
          <p:cNvSpPr/>
          <p:nvPr/>
        </p:nvSpPr>
        <p:spPr>
          <a:xfrm flipV="1">
            <a:off x="9620250" y="4762500"/>
            <a:ext cx="2667000" cy="428625"/>
          </a:xfrm>
          <a:prstGeom prst="line">
            <a:avLst/>
          </a:prstGeom>
          <a:noFill/>
          <a:ln w="28575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4" name="Connector line-1792490778554-685576948"/>
          <p:cNvSpPr/>
          <p:nvPr/>
        </p:nvSpPr>
        <p:spPr>
          <a:xfrm>
            <a:off x="9620250" y="5429250"/>
            <a:ext cx="2667000" cy="666750"/>
          </a:xfrm>
          <a:prstGeom prst="line">
            <a:avLst/>
          </a:prstGeom>
          <a:noFill/>
          <a:ln w="28575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5" name="Connector line-1792490778554-149107348"/>
          <p:cNvSpPr/>
          <p:nvPr/>
        </p:nvSpPr>
        <p:spPr>
          <a:xfrm>
            <a:off x="9620250" y="5667375"/>
            <a:ext cx="2667000" cy="1762125"/>
          </a:xfrm>
          <a:prstGeom prst="line">
            <a:avLst/>
          </a:prstGeom>
          <a:noFill/>
          <a:ln w="28575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2287250" y="2952750"/>
            <a:ext cx="5086350" cy="952500"/>
          </a:xfrm>
          <a:prstGeom prst="roundRect">
            <a:avLst>
              <a:gd name="adj" fmla="val 20000"/>
            </a:avLst>
          </a:prstGeom>
          <a:solidFill>
            <a:srgbClr val="F8D9D0"/>
          </a:solidFill>
          <a:ln/>
        </p:spPr>
      </p:sp>
      <p:sp>
        <p:nvSpPr>
          <p:cNvPr id="17" name="Text 15"/>
          <p:cNvSpPr/>
          <p:nvPr/>
        </p:nvSpPr>
        <p:spPr>
          <a:xfrm>
            <a:off x="12611100" y="3190875"/>
            <a:ext cx="457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Sinh</a:t>
            </a:r>
            <a:r>
              <a:rPr lang="en-US" sz="24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2287250" y="4286250"/>
            <a:ext cx="5086350" cy="952500"/>
          </a:xfrm>
          <a:prstGeom prst="roundRect">
            <a:avLst>
              <a:gd name="adj" fmla="val 20000"/>
            </a:avLst>
          </a:prstGeom>
          <a:solidFill>
            <a:srgbClr val="F8D9D0"/>
          </a:solidFill>
          <a:ln/>
        </p:spPr>
      </p:sp>
      <p:sp>
        <p:nvSpPr>
          <p:cNvPr id="19" name="Text 17"/>
          <p:cNvSpPr/>
          <p:nvPr/>
        </p:nvSpPr>
        <p:spPr>
          <a:xfrm>
            <a:off x="12611100" y="4524375"/>
            <a:ext cx="457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Hoàn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2287250" y="5619750"/>
            <a:ext cx="5086350" cy="952500"/>
          </a:xfrm>
          <a:prstGeom prst="roundRect">
            <a:avLst>
              <a:gd name="adj" fmla="val 20000"/>
            </a:avLst>
          </a:prstGeom>
          <a:solidFill>
            <a:srgbClr val="F8D9D0"/>
          </a:solidFill>
          <a:ln/>
        </p:spPr>
      </p:sp>
      <p:sp>
        <p:nvSpPr>
          <p:cNvPr id="21" name="Text 19"/>
          <p:cNvSpPr/>
          <p:nvPr/>
        </p:nvSpPr>
        <p:spPr>
          <a:xfrm>
            <a:off x="12611100" y="5857875"/>
            <a:ext cx="457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2287250" y="6953250"/>
            <a:ext cx="5086350" cy="952500"/>
          </a:xfrm>
          <a:prstGeom prst="roundRect">
            <a:avLst>
              <a:gd name="adj" fmla="val 20000"/>
            </a:avLst>
          </a:prstGeom>
          <a:solidFill>
            <a:srgbClr val="F8D9D0"/>
          </a:solidFill>
          <a:ln/>
        </p:spPr>
      </p:sp>
      <p:sp>
        <p:nvSpPr>
          <p:cNvPr id="23" name="Text 21"/>
          <p:cNvSpPr/>
          <p:nvPr/>
        </p:nvSpPr>
        <p:spPr>
          <a:xfrm>
            <a:off x="12611100" y="7191375"/>
            <a:ext cx="457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8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14400" y="7239000"/>
            <a:ext cx="10477500" cy="8572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nhỏ,</a:t>
            </a:r>
            <a:r>
              <a:rPr lang="en-US" sz="21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1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1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NLP.</a:t>
            </a:r>
            <a:endParaRPr lang="en-US" sz="2100" dirty="0"/>
          </a:p>
          <a:p>
            <a:pPr algn="l" indent="0" marL="0">
              <a:lnSpc>
                <a:spcPts val="2835"/>
              </a:lnSpc>
              <a:buNone/>
            </a:pP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lại,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1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kém</a:t>
            </a:r>
            <a:r>
              <a:rPr lang="en-US" sz="21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lớn.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 03/10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b6b201e0-fef2-4191-88dd-1b92eb7faba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SLM</a:t>
            </a:r>
            <a:r>
              <a:rPr lang="en-US" sz="1800" b="1" spc="29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1800" b="1" spc="29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LLM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800" b="1" spc="28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6900" dirty="0" spc="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điểm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3619500" y="2762250"/>
            <a:ext cx="6667500" cy="6096000"/>
          </a:xfrm>
          <a:prstGeom prst="roundRect">
            <a:avLst>
              <a:gd name="adj" fmla="val 437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72750" y="2762250"/>
            <a:ext cx="6800850" cy="6096000"/>
          </a:xfrm>
          <a:prstGeom prst="roundRect">
            <a:avLst>
              <a:gd name="adj" fmla="val 4375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00500" y="3000375"/>
            <a:ext cx="590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LLM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0953750" y="3000375"/>
            <a:ext cx="609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SLM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914400" y="3905250"/>
            <a:ext cx="2571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Kích</a:t>
            </a:r>
            <a:r>
              <a:rPr lang="en-US" sz="1950" b="1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thước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000500" y="3829050"/>
            <a:ext cx="609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GPT-4</a:t>
            </a:r>
            <a:r>
              <a:rPr lang="en-US" sz="21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1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1,76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nghìn</a:t>
            </a:r>
            <a:r>
              <a:rPr lang="en-US" sz="21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1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953750" y="3829050"/>
            <a:ext cx="6191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Mistral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7B khoảng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r>
              <a:rPr lang="en-US" sz="21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1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4895850"/>
            <a:ext cx="2571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 hiểu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000500" y="4819650"/>
            <a:ext cx="609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Rộng,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giỏi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lĩnh</a:t>
            </a:r>
            <a:r>
              <a:rPr lang="en-US" sz="21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vực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0953750" y="4819650"/>
            <a:ext cx="6191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Chuyên</a:t>
            </a:r>
            <a:r>
              <a:rPr lang="en-US" sz="21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lĩnh</a:t>
            </a:r>
            <a:r>
              <a:rPr lang="en-US" sz="21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vực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14400" y="5886450"/>
            <a:ext cx="2571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1950" b="1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4000500" y="5810250"/>
            <a:ext cx="609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GPU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953750" y="5810250"/>
            <a:ext cx="6191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GPU</a:t>
            </a:r>
            <a:r>
              <a:rPr lang="en-US" sz="21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14400" y="6877050"/>
            <a:ext cx="2571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Thiên</a:t>
            </a:r>
            <a:r>
              <a:rPr lang="en-US" sz="1950" b="1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4000500" y="6800850"/>
            <a:ext cx="609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Dễ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thiên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953750" y="6800850"/>
            <a:ext cx="6191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Ít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hơn,</a:t>
            </a:r>
            <a:r>
              <a:rPr lang="en-US" sz="21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miễn nhiễm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14400" y="7867650"/>
            <a:ext cx="2571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Suy</a:t>
            </a:r>
            <a:r>
              <a:rPr lang="en-US" sz="1950" b="1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4000500" y="7791450"/>
            <a:ext cx="609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 nhiều</a:t>
            </a:r>
            <a:r>
              <a:rPr lang="en-US" sz="21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 song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0953750" y="7791450"/>
            <a:ext cx="6191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Nhanh,</a:t>
            </a:r>
            <a:r>
              <a:rPr lang="en-US" sz="21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1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1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d10e80ce-799a-49dd-8937-c8a66e6a4c2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PHI-3-MINI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Nhỏ mà</a:t>
            </a:r>
            <a:r>
              <a:rPr lang="en-US" sz="69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 gấp</a:t>
            </a:r>
            <a:r>
              <a:rPr lang="en-US" sz="69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đôi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952750"/>
            <a:ext cx="9525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991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3,8</a:t>
            </a:r>
            <a:endParaRPr lang="en-US" sz="19991" dirty="0"/>
          </a:p>
        </p:txBody>
      </p:sp>
      <p:sp>
        <p:nvSpPr>
          <p:cNvPr id="5" name="Text 3"/>
          <p:cNvSpPr/>
          <p:nvPr/>
        </p:nvSpPr>
        <p:spPr>
          <a:xfrm>
            <a:off x="914400" y="6191250"/>
            <a:ext cx="952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tỷ</a:t>
            </a:r>
            <a:r>
              <a:rPr lang="en-US" sz="33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 số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6953250"/>
            <a:ext cx="9525000" cy="10477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400" dirty="0" spc="-18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-1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r>
              <a:rPr lang="en-US" sz="2400" dirty="0" spc="-13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Foundry,</a:t>
            </a:r>
            <a:r>
              <a:rPr lang="en-US" sz="2400" dirty="0" spc="-4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Hugging</a:t>
            </a:r>
            <a:r>
              <a:rPr lang="en-US" sz="2400" dirty="0" spc="-26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Face</a:t>
            </a:r>
            <a:r>
              <a:rPr lang="en-US" sz="2400" dirty="0" spc="-15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Ollama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1049000" y="3048000"/>
            <a:ext cx="63246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 w="19050">
            <a:solidFill>
              <a:srgbClr val="2E32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0" y="3381375"/>
            <a:ext cx="5619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1800" b="1" spc="22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</a:t>
            </a:r>
            <a:r>
              <a:rPr lang="en-US" sz="1800" b="1" spc="20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INSTRUCT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0" y="3905250"/>
            <a:ext cx="561975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Phi-3-small,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tỷ: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GPT-3.5T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1430000" y="5048250"/>
            <a:ext cx="561975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Phi-3-medium,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tỷ: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Gemini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1.0</a:t>
            </a:r>
            <a:r>
              <a:rPr lang="en-US" sz="22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1430000" y="6191250"/>
            <a:ext cx="5619750" cy="1524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Phi-3.5-mini: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22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ngữ,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544c3787-5682-46f6-813c-3d497569c50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PHI-3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PHI-3.5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Chữ,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ảnh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MoE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286375" cy="3810000"/>
          </a:xfrm>
          <a:prstGeom prst="roundRect">
            <a:avLst>
              <a:gd name="adj" fmla="val 7000"/>
            </a:avLst>
          </a:prstGeom>
          <a:solidFill>
            <a:srgbClr val="F3DFB8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90875"/>
            <a:ext cx="457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INSTRUCT</a:t>
            </a:r>
            <a:r>
              <a:rPr lang="en-US" sz="1800" b="1" spc="22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2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667125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Hiểu</a:t>
            </a:r>
            <a:r>
              <a:rPr lang="en-US" sz="33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295400" y="4476750"/>
            <a:ext cx="4572000" cy="20002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Sinh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bản,</a:t>
            </a:r>
            <a:r>
              <a:rPr lang="en-US" sz="22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2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chuyện,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trích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tin.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Phi-3-mini, small,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medium,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Phi-3.5-mini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496050" y="2857500"/>
            <a:ext cx="5286375" cy="3810000"/>
          </a:xfrm>
          <a:prstGeom prst="roundRect">
            <a:avLst>
              <a:gd name="adj" fmla="val 7000"/>
            </a:avLst>
          </a:prstGeom>
          <a:solidFill>
            <a:srgbClr val="F3DFB8"/>
          </a:solidFill>
          <a:ln/>
        </p:spPr>
      </p:sp>
      <p:sp>
        <p:nvSpPr>
          <p:cNvPr id="9" name="Text 7"/>
          <p:cNvSpPr/>
          <p:nvPr/>
        </p:nvSpPr>
        <p:spPr>
          <a:xfrm>
            <a:off x="6877050" y="3190875"/>
            <a:ext cx="457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VISION</a:t>
            </a:r>
            <a:r>
              <a:rPr lang="en-US" sz="180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77050" y="3667125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Đôi</a:t>
            </a:r>
            <a:r>
              <a:rPr lang="en-US" sz="3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mắt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6877050" y="4476750"/>
            <a:ext cx="4572000" cy="20002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Phi-3-Vision, 4,2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tỷ:</a:t>
            </a:r>
            <a:r>
              <a:rPr lang="en-US" sz="22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ảnh,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bảng,</a:t>
            </a: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đồ.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Phi-3.5-Vision: nhiều ảnh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2077700" y="2857500"/>
            <a:ext cx="5295900" cy="3810000"/>
          </a:xfrm>
          <a:prstGeom prst="roundRect">
            <a:avLst>
              <a:gd name="adj" fmla="val 7000"/>
            </a:avLst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12458700" y="3190875"/>
            <a:ext cx="457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7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PHI-3.5-MOE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458700" y="3667125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16</a:t>
            </a: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chuyên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2458700" y="4476750"/>
            <a:ext cx="4572000" cy="20002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chuyên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3,8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tỷ.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lần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6,6</a:t>
            </a: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tỷ,</a:t>
            </a: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ngang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14400" y="71437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LLM: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mini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Vision đặt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88f3d81a-bd61-4d17-b3a6-3edefb70351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180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1800" b="1" spc="28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Đám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mây</a:t>
            </a:r>
            <a:r>
              <a:rPr lang="en-US" sz="69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hoặc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 của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endParaRPr lang="en-US" sz="6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62250"/>
          <a:ext cx="13716000" cy="914400"/>
        </p:xfrm>
        <a:graphic>
          <a:graphicData uri="http://schemas.openxmlformats.org/drawingml/2006/table">
            <a:tbl>
              <a:tblPr/>
              <a:tblGrid>
                <a:gridCol w="5266944"/>
                <a:gridCol w="3621024"/>
                <a:gridCol w="7571232"/>
              </a:tblGrid>
              <a:tr h="762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Cách</a:t>
                      </a:r>
                      <a:r>
                        <a:rPr lang="en-US" sz="2100" b="1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chạy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Ở</a:t>
                      </a:r>
                      <a:r>
                        <a:rPr lang="en-US" sz="2100" b="1" dirty="0" spc="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đâu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Ghi chú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Microsoft</a:t>
                      </a:r>
                      <a:r>
                        <a:rPr lang="en-US" sz="2100" dirty="0" spc="-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Foundry</a:t>
                      </a:r>
                      <a:r>
                        <a:rPr lang="en-US" sz="210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Models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Đám</a:t>
                      </a:r>
                      <a:r>
                        <a:rPr lang="en-US" sz="2100" dirty="0" spc="-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mây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2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Trực</a:t>
                      </a:r>
                      <a:r>
                        <a:rPr lang="en-US" sz="21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tiếp</a:t>
                      </a:r>
                      <a:r>
                        <a:rPr lang="en-US" sz="2100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nhất;</a:t>
                      </a:r>
                      <a:r>
                        <a:rPr lang="en-US" sz="21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SDK</a:t>
                      </a:r>
                      <a:r>
                        <a:rPr lang="en-US" sz="210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hoặc</a:t>
                      </a:r>
                      <a:r>
                        <a:rPr lang="en-US" sz="2100" dirty="0" spc="-1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Playground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Microsoft</a:t>
                      </a:r>
                      <a:r>
                        <a:rPr lang="en-US" sz="2100" dirty="0" spc="-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Foundry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Đám</a:t>
                      </a:r>
                      <a:r>
                        <a:rPr lang="en-US" sz="2100" dirty="0" spc="-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mây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Cho</a:t>
                      </a:r>
                      <a:r>
                        <a:rPr lang="en-US" sz="2100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r>
                        <a:rPr lang="en-US" sz="21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Vision</a:t>
                      </a:r>
                      <a:r>
                        <a:rPr lang="en-US" sz="2100" dirty="0" spc="-1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1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MoE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NVIDIA</a:t>
                      </a:r>
                      <a:r>
                        <a:rPr lang="en-US" sz="21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NIM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Đám</a:t>
                      </a:r>
                      <a:r>
                        <a:rPr lang="en-US" sz="2100" dirty="0" spc="-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mây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Một</a:t>
                      </a:r>
                      <a:r>
                        <a:rPr lang="en-US" sz="21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lệnh;</a:t>
                      </a:r>
                      <a:r>
                        <a:rPr lang="en-US" sz="2100" dirty="0" spc="-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tối</a:t>
                      </a:r>
                      <a:r>
                        <a:rPr lang="en-US" sz="2100" dirty="0" spc="1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ưu</a:t>
                      </a:r>
                      <a:r>
                        <a:rPr lang="en-US" sz="21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cho</a:t>
                      </a:r>
                      <a:r>
                        <a:rPr lang="en-US" sz="210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GPU</a:t>
                      </a:r>
                      <a:r>
                        <a:rPr lang="en-US" sz="21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NVIDIA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Hugging</a:t>
                      </a:r>
                      <a:r>
                        <a:rPr lang="en-US" sz="2100" dirty="0" spc="-2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Face Transformers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Máy</a:t>
                      </a:r>
                      <a:r>
                        <a:rPr lang="en-US" sz="21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của</a:t>
                      </a:r>
                      <a:r>
                        <a:rPr lang="en-US" sz="210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bạn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Phổ</a:t>
                      </a:r>
                      <a:r>
                        <a:rPr lang="en-US" sz="21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biến</a:t>
                      </a:r>
                      <a:r>
                        <a:rPr lang="en-US" sz="2100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nhất,</a:t>
                      </a:r>
                      <a:r>
                        <a:rPr lang="en-US" sz="21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cần GPU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Ollama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Máy</a:t>
                      </a:r>
                      <a:r>
                        <a:rPr lang="en-US" sz="21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của</a:t>
                      </a:r>
                      <a:r>
                        <a:rPr lang="en-US" sz="210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bạn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Một</a:t>
                      </a:r>
                      <a:r>
                        <a:rPr lang="en-US" sz="21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lệnh</a:t>
                      </a:r>
                      <a:r>
                        <a:rPr lang="en-US" sz="210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là</a:t>
                      </a:r>
                      <a:r>
                        <a:rPr lang="en-US" sz="2100" dirty="0" spc="-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chạy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1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Foundry</a:t>
                      </a:r>
                      <a:r>
                        <a:rPr lang="en-US" sz="2100" dirty="0" spc="-1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Local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Máy</a:t>
                      </a:r>
                      <a:r>
                        <a:rPr lang="en-US" sz="21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của</a:t>
                      </a:r>
                      <a:r>
                        <a:rPr lang="en-US" sz="210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bạn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Không</a:t>
                      </a:r>
                      <a:r>
                        <a:rPr lang="en-US" sz="21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cần</a:t>
                      </a:r>
                      <a:r>
                        <a:rPr lang="en-US" sz="21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mạng,</a:t>
                      </a:r>
                      <a:r>
                        <a:rPr lang="en-US" sz="21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không</a:t>
                      </a:r>
                      <a:r>
                        <a:rPr lang="en-US" sz="21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cần</a:t>
                      </a:r>
                      <a:r>
                        <a:rPr lang="en-US" sz="2100" dirty="0" spc="-1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Azure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ONNX</a:t>
                      </a:r>
                      <a:r>
                        <a:rPr lang="en-US" sz="2100" dirty="0" spc="-1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Runtime</a:t>
                      </a:r>
                      <a:r>
                        <a:rPr lang="en-US" sz="2100" dirty="0" spc="-1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for</a:t>
                      </a:r>
                      <a:r>
                        <a:rPr lang="en-US" sz="21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GenAI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Nhiều</a:t>
                      </a:r>
                      <a:r>
                        <a:rPr lang="en-US" sz="21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nền</a:t>
                      </a:r>
                      <a:r>
                        <a:rPr lang="en-US" sz="2100" dirty="0" spc="-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tảng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Windows,</a:t>
                      </a:r>
                      <a:r>
                        <a:rPr lang="en-US" sz="21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Linux,</a:t>
                      </a:r>
                      <a:r>
                        <a:rPr lang="en-US" sz="21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macOS,</a:t>
                      </a:r>
                      <a:r>
                        <a:rPr lang="en-US" sz="210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Android,</a:t>
                      </a:r>
                      <a:r>
                        <a:rPr lang="en-US" sz="21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iOS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d7834d3d-9378-46fd-9b86-532d0403f66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800" b="1" spc="26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164592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28750" y="3667125"/>
            <a:ext cx="15430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 kern="0">
                <a:solidFill>
                  <a:srgbClr val="3D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ollama run phi3.5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55245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Cài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Ollama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(macOS,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Linux,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Windows),</a:t>
            </a:r>
            <a:r>
              <a:rPr lang="en-US" sz="25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gõ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14400" y="6572250"/>
            <a:ext cx="16459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4" kern="0" dirty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HOẶC</a:t>
            </a:r>
            <a:r>
              <a:rPr lang="en-US" sz="1800" b="1" spc="209" kern="0" dirty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FOUNDRY</a:t>
            </a:r>
            <a:r>
              <a:rPr lang="en-US" sz="1800" b="1" spc="199" kern="0" dirty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LOCAL</a:t>
            </a:r>
            <a:r>
              <a:rPr lang="en-US" sz="1800" b="1" spc="223" kern="0" dirty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b="1" spc="221" kern="0" dirty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WINDOWS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70485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3048" rIns="0" bIns="-3048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3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winget</a:t>
            </a:r>
            <a:r>
              <a:rPr lang="en-US" sz="2400" dirty="0" spc="2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install</a:t>
            </a:r>
            <a:r>
              <a:rPr lang="en-US" sz="2400" dirty="0" spc="3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Microsoft.FoundryLocal</a:t>
            </a:r>
            <a:endParaRPr lang="en-US" sz="24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2400" dirty="0" spc="3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foundry</a:t>
            </a:r>
            <a:r>
              <a:rPr lang="en-US" sz="2400" dirty="0" spc="2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model run</a:t>
            </a:r>
            <a:r>
              <a:rPr lang="en-US" sz="2400" dirty="0" spc="3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phi-3.5-mini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13a678a4-7bf7-4295-9b59-3e90a6756be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2190750"/>
          </a:xfrm>
          <a:prstGeom prst="rect">
            <a:avLst/>
          </a:prstGeom>
          <a:noFill/>
          <a:ln/>
        </p:spPr>
        <p:txBody>
          <a:bodyPr wrap="square" lIns="0" tIns="15240" rIns="0" bIns="-1524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800" dirty="0" spc="-1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Tóm</a:t>
            </a:r>
            <a:r>
              <a:rPr lang="en-US" sz="4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4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chú</a:t>
            </a:r>
            <a:r>
              <a:rPr lang="en-US" sz="48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</a:t>
            </a:r>
            <a:r>
              <a:rPr lang="en-US" sz="48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48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laptop,</a:t>
            </a:r>
            <a:r>
              <a:rPr lang="en-US" sz="4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48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mạng,</a:t>
            </a:r>
            <a:r>
              <a:rPr lang="en-US" sz="4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4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tài</a:t>
            </a:r>
            <a:r>
              <a:rPr lang="en-US" sz="48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khoản Azure.</a:t>
            </a:r>
            <a:r>
              <a:rPr lang="en-US" sz="4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r>
              <a:rPr lang="en-US" sz="48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4000500"/>
            <a:ext cx="5286375" cy="2857500"/>
          </a:xfrm>
          <a:prstGeom prst="roundRect">
            <a:avLst>
              <a:gd name="adj" fmla="val 9333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4333875"/>
            <a:ext cx="457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295400" y="5143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GPT-4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GPU lớn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96050" y="4000500"/>
            <a:ext cx="5286375" cy="2857500"/>
          </a:xfrm>
          <a:prstGeom prst="roundRect">
            <a:avLst>
              <a:gd name="adj" fmla="val 9333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6877050" y="4333875"/>
            <a:ext cx="457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</a:t>
            </a:r>
            <a:r>
              <a:rPr lang="en-US" sz="4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4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877050" y="5143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Phi-3.5-mini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4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Foundry</a:t>
            </a:r>
            <a:r>
              <a:rPr lang="en-US" sz="24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Local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Ollama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077700" y="4000500"/>
            <a:ext cx="5295900" cy="2857500"/>
          </a:xfrm>
          <a:prstGeom prst="roundRect">
            <a:avLst>
              <a:gd name="adj" fmla="val 9333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12458700" y="4333875"/>
            <a:ext cx="457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2458700" y="5143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Phi-3.5-MoE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Foundry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14400" y="7239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400" y="7448550"/>
            <a:ext cx="285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80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95400" y="7858125"/>
            <a:ext cx="1581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SLM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bộ;</a:t>
            </a:r>
            <a:r>
              <a:rPr lang="en-US" sz="22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22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SLM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c85088f4-4b3c-4d84-bd3a-55695213f07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endParaRPr lang="en-US" sz="6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62250"/>
          <a:ext cx="13716000" cy="914400"/>
        </p:xfrm>
        <a:graphic>
          <a:graphicData uri="http://schemas.openxmlformats.org/drawingml/2006/table">
            <a:tbl>
              <a:tblPr/>
              <a:tblGrid>
                <a:gridCol w="1657350"/>
                <a:gridCol w="4640580"/>
                <a:gridCol w="4751070"/>
              </a:tblGrid>
              <a:tr h="738188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Viết</a:t>
                      </a:r>
                      <a:r>
                        <a:rPr lang="en-US" sz="1950" b="1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tắt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3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 spc="-6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Tên</a:t>
                      </a:r>
                      <a:r>
                        <a:rPr lang="en-US" sz="1950" b="1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đầy đủ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3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Nghĩa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324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SLM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Small</a:t>
                      </a:r>
                      <a:r>
                        <a:rPr lang="en-US" sz="195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Language</a:t>
                      </a:r>
                      <a:r>
                        <a:rPr lang="en-US" sz="19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Model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Mô</a:t>
                      </a:r>
                      <a:r>
                        <a:rPr lang="en-US" sz="19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</a:t>
                      </a:r>
                      <a:r>
                        <a:rPr lang="en-US" sz="1950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ngôn</a:t>
                      </a:r>
                      <a:r>
                        <a:rPr lang="en-US" sz="19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</a:t>
                      </a:r>
                      <a:r>
                        <a:rPr lang="en-US" sz="19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nhỏ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LLM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3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Large</a:t>
                      </a:r>
                      <a:r>
                        <a:rPr lang="en-US" sz="195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Language</a:t>
                      </a:r>
                      <a:r>
                        <a:rPr lang="en-US" sz="19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Model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Mô</a:t>
                      </a:r>
                      <a:r>
                        <a:rPr lang="en-US" sz="19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</a:t>
                      </a:r>
                      <a:r>
                        <a:rPr lang="en-US" sz="1950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ngôn</a:t>
                      </a:r>
                      <a:r>
                        <a:rPr lang="en-US" sz="19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</a:t>
                      </a:r>
                      <a:r>
                        <a:rPr lang="en-US" sz="19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lớn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NLP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Natural</a:t>
                      </a:r>
                      <a:r>
                        <a:rPr lang="en-US" sz="195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Language</a:t>
                      </a:r>
                      <a:r>
                        <a:rPr lang="en-US" sz="1950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Processing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2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Xử</a:t>
                      </a:r>
                      <a:r>
                        <a:rPr lang="en-US" sz="19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lý</a:t>
                      </a:r>
                      <a:r>
                        <a:rPr lang="en-US" sz="1950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ngôn</a:t>
                      </a:r>
                      <a:r>
                        <a:rPr lang="en-US" sz="19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</a:t>
                      </a:r>
                      <a:r>
                        <a:rPr lang="en-US" sz="19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tự</a:t>
                      </a:r>
                      <a:r>
                        <a:rPr lang="en-US" sz="19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nhiên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GPU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Graphics</a:t>
                      </a:r>
                      <a:r>
                        <a:rPr lang="en-US" sz="1950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Processing</a:t>
                      </a:r>
                      <a:r>
                        <a:rPr lang="en-US" sz="19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Unit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Chip</a:t>
                      </a:r>
                      <a:r>
                        <a:rPr lang="en-US" sz="1950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tăng</a:t>
                      </a:r>
                      <a:r>
                        <a:rPr lang="en-US" sz="1950" dirty="0" spc="-1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tốc</a:t>
                      </a:r>
                      <a:r>
                        <a:rPr lang="en-US" sz="19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tính</a:t>
                      </a:r>
                      <a:r>
                        <a:rPr lang="en-US" sz="195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toán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MoE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Mixture</a:t>
                      </a:r>
                      <a:r>
                        <a:rPr lang="en-US" sz="19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of</a:t>
                      </a:r>
                      <a:r>
                        <a:rPr lang="en-US" sz="19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Experts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Hỗn</a:t>
                      </a:r>
                      <a:r>
                        <a:rPr lang="en-US" sz="195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hợp</a:t>
                      </a:r>
                      <a:r>
                        <a:rPr lang="en-US" sz="195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chuyên</a:t>
                      </a:r>
                      <a:r>
                        <a:rPr lang="en-US" sz="19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gia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NIM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NVIDIA</a:t>
                      </a:r>
                      <a:r>
                        <a:rPr lang="en-US" sz="19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Inference</a:t>
                      </a:r>
                      <a:r>
                        <a:rPr lang="en-US" sz="1950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Microservices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Dịch</a:t>
                      </a:r>
                      <a:r>
                        <a:rPr lang="en-US" sz="19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vụ</a:t>
                      </a:r>
                      <a:r>
                        <a:rPr lang="en-US" sz="1950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chạy</a:t>
                      </a:r>
                      <a:r>
                        <a:rPr lang="en-US" sz="19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mô</a:t>
                      </a:r>
                      <a:r>
                        <a:rPr lang="en-US" sz="19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 của NVIDIA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ONNX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Open</a:t>
                      </a:r>
                      <a:r>
                        <a:rPr lang="en-US" sz="195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Neural</a:t>
                      </a:r>
                      <a:r>
                        <a:rPr lang="en-US" sz="1950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Network</a:t>
                      </a:r>
                      <a:r>
                        <a:rPr lang="en-US" sz="195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Exchange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Định</a:t>
                      </a:r>
                      <a:r>
                        <a:rPr lang="en-US" sz="19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dạng chuẩn</a:t>
                      </a:r>
                      <a:r>
                        <a:rPr lang="en-US" sz="1950" dirty="0" spc="1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lưu</a:t>
                      </a:r>
                      <a:r>
                        <a:rPr lang="en-US" sz="19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mô</a:t>
                      </a:r>
                      <a:r>
                        <a:rPr lang="en-US" sz="19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</a:tbl>
          </a:graphicData>
        </a:graphic>
      </p:graphicFrame>
      <p:sp>
        <p:nvSpPr>
          <p:cNvPr id="5" name="Connector line-1792490863570-249825246"/>
          <p:cNvSpPr/>
          <p:nvPr/>
        </p:nvSpPr>
        <p:spPr>
          <a:xfrm>
            <a:off x="12477750" y="2762250"/>
            <a:ext cx="0" cy="581025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6" name="Text 3"/>
          <p:cNvSpPr/>
          <p:nvPr/>
        </p:nvSpPr>
        <p:spPr>
          <a:xfrm>
            <a:off x="12858750" y="2762250"/>
            <a:ext cx="4514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858750" y="3286125"/>
            <a:ext cx="4514850" cy="190500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Dựa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microsoft/</a:t>
            </a:r>
            <a:r>
              <a:rPr lang="en-US" sz="19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generative-ai-for-beginners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2858750" y="4953000"/>
            <a:ext cx="4514850" cy="114300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-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MIT License,</a:t>
            </a:r>
            <a:r>
              <a:rPr lang="en-US" sz="180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©</a:t>
            </a:r>
            <a:r>
              <a:rPr lang="en-US" sz="1800" dirty="0" spc="-8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r>
              <a:rPr lang="en-US" sz="1800" dirty="0" spc="-7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Corporation.</a:t>
            </a:r>
            <a:r>
              <a:rPr lang="en-US" sz="1800" dirty="0" spc="-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r>
              <a:rPr lang="en-US" sz="180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800" dirty="0" spc="-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80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c35bc19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a3ca714b-44a0-491c-b19b-685ba3684d9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2026-10-20T10:11:56Z</dcterms:created>
  <dcterms:modified xsi:type="dcterms:W3CDTF">2026-10-20T10:11:56Z</dcterms:modified>
</cp:coreProperties>
</file>