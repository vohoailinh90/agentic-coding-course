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JetBrains Mono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914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144000" cy="247650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200" dirty="0" spc="-8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72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72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Meta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Llama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</a:t>
            </a:r>
            <a:r>
              <a:rPr lang="en-US" sz="30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Llama 3.2: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30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3000" dirty="0"/>
          </a:p>
        </p:txBody>
      </p:sp>
      <p:sp>
        <p:nvSpPr>
          <p:cNvPr id="5" name="Connector line-1792491294135-185738628"/>
          <p:cNvSpPr/>
          <p:nvPr/>
        </p:nvSpPr>
        <p:spPr>
          <a:xfrm>
            <a:off x="914400" y="7524750"/>
            <a:ext cx="82296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762875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100" dirty="0" spc="-15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10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100" dirty="0" spc="-1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2100" dirty="0" spc="-1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Foundry</a:t>
            </a:r>
            <a:r>
              <a:rPr lang="en-US" sz="2100" dirty="0" spc="-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477500" y="2095500"/>
            <a:ext cx="68961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01350" y="25146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16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LLAMA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706350" y="2457450"/>
            <a:ext cx="447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Llama 3 → 3.1 → 3.2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0" y="3524250"/>
            <a:ext cx="68961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01350" y="394335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LLAMA</a:t>
            </a:r>
            <a:r>
              <a:rPr lang="en-US" sz="16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706350" y="3886200"/>
            <a:ext cx="447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405B,</a:t>
            </a: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128k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0477500" y="4953000"/>
            <a:ext cx="68961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01350" y="53721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16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706350" y="5314950"/>
            <a:ext cx="447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0" y="6381750"/>
            <a:ext cx="68961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01350" y="680085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LLAMA</a:t>
            </a:r>
            <a:r>
              <a:rPr lang="en-US" sz="16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706350" y="6743700"/>
            <a:ext cx="447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10f2ca55-d8da-4416-96d0-0228cb2347f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25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180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2382500" cy="247650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Meta, mỗi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2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49530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1800" b="1" spc="21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XONG,</a:t>
            </a:r>
            <a:r>
              <a:rPr lang="en-US" sz="180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5524500"/>
            <a:ext cx="5286375" cy="22860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5762625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238250" y="6524625"/>
            <a:ext cx="45720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Llama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Llama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3.2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496050" y="5524500"/>
            <a:ext cx="5286375" cy="22860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6819900" y="5762625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819900" y="6524625"/>
            <a:ext cx="45720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2077700" y="5524500"/>
            <a:ext cx="5295900" cy="22860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401550" y="5762625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2401550" y="6524625"/>
            <a:ext cx="45720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b54a8a0d-c9c3-47e7-830f-e50912de614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180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LLAMA</a:t>
            </a:r>
            <a:r>
              <a:rPr lang="en-US" sz="1800" b="1" spc="2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9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Llama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→</a:t>
            </a:r>
            <a:r>
              <a:rPr lang="en-US" sz="6900" dirty="0" spc="-7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3.1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→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3.2</a:t>
            </a:r>
            <a:endParaRPr lang="en-US" sz="6900" dirty="0"/>
          </a:p>
        </p:txBody>
      </p:sp>
      <p:sp>
        <p:nvSpPr>
          <p:cNvPr id="4" name="Connector line-1792491296057-674646021"/>
          <p:cNvSpPr/>
          <p:nvPr/>
        </p:nvSpPr>
        <p:spPr>
          <a:xfrm>
            <a:off x="1714500" y="4476750"/>
            <a:ext cx="148590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524000" y="4286250"/>
            <a:ext cx="381000" cy="381000"/>
          </a:xfrm>
          <a:prstGeom prst="ellipse">
            <a:avLst/>
          </a:prstGeom>
          <a:solidFill>
            <a:srgbClr val="F3EEE3"/>
          </a:solidFill>
          <a:ln w="5715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53500" y="428625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Shape 5"/>
          <p:cNvSpPr/>
          <p:nvPr/>
        </p:nvSpPr>
        <p:spPr>
          <a:xfrm>
            <a:off x="16192500" y="428625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38500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Llama</a:t>
            </a:r>
            <a:r>
              <a:rPr lang="en-US" sz="4200" dirty="0" spc="0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14400" y="5048250"/>
            <a:ext cx="53340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Ngữ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8k.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 mục,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bàn</a:t>
            </a: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239000" y="3238500"/>
            <a:ext cx="4000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Llama</a:t>
            </a:r>
            <a:r>
              <a:rPr lang="en-US" sz="4200" dirty="0" spc="-4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3.1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667500" y="5048250"/>
            <a:ext cx="51435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ctr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405B,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128k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611100" y="3238500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2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Llama</a:t>
            </a:r>
            <a:r>
              <a:rPr lang="en-US" sz="42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3.2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2039600" y="5048250"/>
            <a:ext cx="53340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r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ảnh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F3DFB8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7067550"/>
            <a:ext cx="1581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</a:t>
            </a:r>
            <a:r>
              <a:rPr lang="en-US" sz="180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800" b="1" spc="21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2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1800" b="1" spc="20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FOUNDRY</a:t>
            </a:r>
            <a:r>
              <a:rPr lang="en-US" sz="180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95400" y="7524750"/>
            <a:ext cx="15811500" cy="762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Llama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3.1:</a:t>
            </a:r>
            <a:r>
              <a:rPr lang="en-US" sz="22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70B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Instruct,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405B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Instruct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Llama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3.2: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11B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Vision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Instruct,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90B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Vision Instruct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10f34d8f-4887-4c7c-8bab-1069d8a96f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LLAMA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 ·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405</a:t>
            </a:r>
            <a:r>
              <a:rPr lang="en-US" sz="1800" b="1" spc="30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1800" b="1" spc="30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Hơn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Llama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19050">
            <a:solidFill>
              <a:srgbClr val="2E3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90875"/>
            <a:ext cx="723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LLAMA</a:t>
            </a:r>
            <a:r>
              <a:rPr lang="en-US" sz="1800" b="1" spc="226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" kern="0">
                <a:solidFill>
                  <a:srgbClr val="9A9DA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8k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295400" y="4905375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8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10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95400" y="58102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5" kern="0">
                <a:solidFill>
                  <a:srgbClr val="9A9DA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2048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1295400" y="6905625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8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100" dirty="0" spc="1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dirty="0" spc="-3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dirty="0" spc="-1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100" dirty="0" spc="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372600" y="285750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53600" y="3190875"/>
            <a:ext cx="723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LLAMA</a:t>
            </a:r>
            <a:r>
              <a:rPr lang="en-US" sz="180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53600" y="38100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128k</a:t>
            </a:r>
            <a:endParaRPr lang="en-US" sz="6600" dirty="0"/>
          </a:p>
        </p:txBody>
      </p:sp>
      <p:sp>
        <p:nvSpPr>
          <p:cNvPr id="13" name="Text 11"/>
          <p:cNvSpPr/>
          <p:nvPr/>
        </p:nvSpPr>
        <p:spPr>
          <a:xfrm>
            <a:off x="9753600" y="4905375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753600" y="58102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4096</a:t>
            </a:r>
            <a:endParaRPr lang="en-US" sz="6600" dirty="0"/>
          </a:p>
        </p:txBody>
      </p:sp>
      <p:sp>
        <p:nvSpPr>
          <p:cNvPr id="15" name="Text 13"/>
          <p:cNvSpPr/>
          <p:nvPr/>
        </p:nvSpPr>
        <p:spPr>
          <a:xfrm>
            <a:off x="9753600" y="6905625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1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1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753600" y="752475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195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1950" dirty="0" spc="-2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19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dirty="0" spc="-7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1950" dirty="0" spc="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dirty="0" spc="-18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19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68015d33-05e1-470b-8e88-db002b6af28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LLAMA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</a:t>
            </a:r>
            <a:r>
              <a:rPr lang="en-US" sz="6900" dirty="0" spc="-9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phức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tạp</a:t>
            </a:r>
            <a:r>
              <a:rPr lang="en-US" sz="69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86375" cy="3810000"/>
          </a:xfrm>
          <a:prstGeom prst="roundRect">
            <a:avLst>
              <a:gd name="adj" fmla="val 7000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90875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66712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 hàm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295400" y="447675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 bên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496050" y="2857500"/>
            <a:ext cx="5286375" cy="3810000"/>
          </a:xfrm>
          <a:prstGeom prst="roundRect">
            <a:avLst>
              <a:gd name="adj" fmla="val 7000"/>
            </a:avLst>
          </a:prstGeom>
          <a:solidFill>
            <a:srgbClr val="CFE8E2"/>
          </a:solidFill>
          <a:ln/>
        </p:spPr>
      </p:sp>
      <p:sp>
        <p:nvSpPr>
          <p:cNvPr id="9" name="Text 7"/>
          <p:cNvSpPr/>
          <p:nvPr/>
        </p:nvSpPr>
        <p:spPr>
          <a:xfrm>
            <a:off x="6877050" y="3190875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77050" y="366712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RAG</a:t>
            </a:r>
            <a:r>
              <a:rPr lang="en-US" sz="36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tốt</a:t>
            </a:r>
            <a:r>
              <a:rPr lang="en-US" sz="36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877050" y="447675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Nhờ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077700" y="2857500"/>
            <a:ext cx="5295900" cy="3810000"/>
          </a:xfrm>
          <a:prstGeom prst="roundRect">
            <a:avLst>
              <a:gd name="adj" fmla="val 7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2458700" y="3190875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58700" y="3667125"/>
            <a:ext cx="4572000" cy="57150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Sinh dữ</a:t>
            </a: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36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tổng</a:t>
            </a:r>
            <a:r>
              <a:rPr lang="en-US" sz="36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2458700" y="447675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7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 tinh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7239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40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GenAI (AI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sinh)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3b37f381-71a6-431f-ad5f-5e59e6af148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LLAMA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 HÀM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800" b="1" spc="28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Hỏi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69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tiết,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524000" y="2762250"/>
            <a:ext cx="3429000" cy="857250"/>
          </a:xfrm>
          <a:prstGeom prst="roundRect">
            <a:avLst>
              <a:gd name="adj" fmla="val 2222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4000" y="2971800"/>
            <a:ext cx="3429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29500" y="2762250"/>
            <a:ext cx="3429000" cy="857250"/>
          </a:xfrm>
          <a:prstGeom prst="roundRect">
            <a:avLst>
              <a:gd name="adj" fmla="val 22222"/>
            </a:avLst>
          </a:prstGeom>
          <a:solidFill>
            <a:srgbClr val="E8472B"/>
          </a:solidFill>
          <a:ln/>
        </p:spPr>
      </p:sp>
      <p:sp>
        <p:nvSpPr>
          <p:cNvPr id="7" name="Text 5"/>
          <p:cNvSpPr/>
          <p:nvPr/>
        </p:nvSpPr>
        <p:spPr>
          <a:xfrm>
            <a:off x="7429500" y="2971800"/>
            <a:ext cx="3429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Llama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335000" y="2762250"/>
            <a:ext cx="3429000" cy="857250"/>
          </a:xfrm>
          <a:prstGeom prst="roundRect">
            <a:avLst>
              <a:gd name="adj" fmla="val 2222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35000" y="2971800"/>
            <a:ext cx="3429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Brave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Search</a:t>
            </a:r>
            <a:endParaRPr lang="en-US" sz="2400" dirty="0"/>
          </a:p>
        </p:txBody>
      </p:sp>
      <p:sp>
        <p:nvSpPr>
          <p:cNvPr id="10" name="Connector line-1792491333634-691166676"/>
          <p:cNvSpPr/>
          <p:nvPr/>
        </p:nvSpPr>
        <p:spPr>
          <a:xfrm>
            <a:off x="3238500" y="3619500"/>
            <a:ext cx="0" cy="514350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1" name="Connector line-1792491333634-885931262"/>
          <p:cNvSpPr/>
          <p:nvPr/>
        </p:nvSpPr>
        <p:spPr>
          <a:xfrm>
            <a:off x="9144000" y="3619500"/>
            <a:ext cx="0" cy="514350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2" name="Connector line-1792491333635-795405499"/>
          <p:cNvSpPr/>
          <p:nvPr/>
        </p:nvSpPr>
        <p:spPr>
          <a:xfrm>
            <a:off x="15049500" y="3619500"/>
            <a:ext cx="0" cy="514350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3429000" y="4000500"/>
            <a:ext cx="5524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r>
              <a:rPr lang="en-US" sz="19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9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19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1950" dirty="0"/>
          </a:p>
        </p:txBody>
      </p:sp>
      <p:sp>
        <p:nvSpPr>
          <p:cNvPr id="14" name="Connector line-1792491333637-596972333"/>
          <p:cNvSpPr/>
          <p:nvPr/>
        </p:nvSpPr>
        <p:spPr>
          <a:xfrm>
            <a:off x="3286125" y="4524375"/>
            <a:ext cx="5762625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429000" y="5000625"/>
            <a:ext cx="5524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19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thời</a:t>
            </a:r>
            <a:r>
              <a:rPr lang="en-US" sz="19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19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</a:t>
            </a:r>
            <a:endParaRPr lang="en-US" sz="1950" dirty="0"/>
          </a:p>
        </p:txBody>
      </p:sp>
      <p:sp>
        <p:nvSpPr>
          <p:cNvPr id="16" name="Connector line-1792491333639-461560741"/>
          <p:cNvSpPr/>
          <p:nvPr/>
        </p:nvSpPr>
        <p:spPr>
          <a:xfrm>
            <a:off x="3286125" y="5524500"/>
            <a:ext cx="5762625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429000" y="6000750"/>
            <a:ext cx="5524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</a:t>
            </a: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r>
              <a:rPr lang="en-US" sz="19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19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1950" dirty="0"/>
          </a:p>
        </p:txBody>
      </p:sp>
      <p:sp>
        <p:nvSpPr>
          <p:cNvPr id="18" name="Connector line-1792491333641-579626918"/>
          <p:cNvSpPr/>
          <p:nvPr/>
        </p:nvSpPr>
        <p:spPr>
          <a:xfrm flipH="1">
            <a:off x="3333750" y="6524625"/>
            <a:ext cx="5762625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524000" y="6858000"/>
            <a:ext cx="11811000" cy="762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</p:sp>
      <p:sp>
        <p:nvSpPr>
          <p:cNvPr id="20" name="Text 18"/>
          <p:cNvSpPr/>
          <p:nvPr/>
        </p:nvSpPr>
        <p:spPr>
          <a:xfrm>
            <a:off x="1809750" y="7048500"/>
            <a:ext cx="11334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F6A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&lt;|python_tag|&gt;brave_search.call(query="Stockholm weather")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334500" y="7905750"/>
            <a:ext cx="5524500" cy="762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4.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quả: cần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195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Brave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195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1950" dirty="0"/>
          </a:p>
        </p:txBody>
      </p:sp>
      <p:sp>
        <p:nvSpPr>
          <p:cNvPr id="22" name="Connector line-1792491333650-728751431"/>
          <p:cNvSpPr/>
          <p:nvPr/>
        </p:nvSpPr>
        <p:spPr>
          <a:xfrm>
            <a:off x="9191625" y="8286750"/>
            <a:ext cx="47625" cy="0"/>
          </a:xfrm>
          <a:prstGeom prst="line">
            <a:avLst/>
          </a:prstGeom>
          <a:noFill/>
          <a:ln w="95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e2f6fa8a-dd4a-49c0-a879-72d3af82b8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LLAMA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 HÀM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 cụ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</a:t>
            </a:r>
            <a:endParaRPr lang="en-US" sz="6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1521440"/>
              </a:tblGrid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Công</a:t>
                      </a:r>
                      <a:r>
                        <a:rPr lang="en-US" sz="240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4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Dùng</a:t>
                      </a:r>
                      <a:r>
                        <a:rPr lang="en-US" sz="2400" b="1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để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472B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3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Brave</a:t>
                      </a:r>
                      <a:r>
                        <a:rPr lang="en-US" sz="2400" dirty="0" spc="-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Search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Tìm</a:t>
                      </a:r>
                      <a:r>
                        <a:rPr lang="en-US" sz="240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trên</a:t>
                      </a: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mạng</a:t>
                      </a:r>
                      <a:r>
                        <a:rPr lang="en-US" sz="240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lấy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thông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tin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mới,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như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thời</a:t>
                      </a:r>
                      <a:r>
                        <a:rPr lang="en-US" sz="240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tiết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Wolfram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Alpha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Tính</a:t>
                      </a:r>
                      <a:r>
                        <a:rPr lang="en-US" sz="240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toán</a:t>
                      </a:r>
                      <a:r>
                        <a:rPr lang="en-US" sz="2400" dirty="0" spc="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phức</a:t>
                      </a:r>
                      <a:r>
                        <a:rPr lang="en-US" sz="24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tạp,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khỏi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tự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viết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hàm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64770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F8D9D0"/>
          </a:solidFill>
          <a:ln/>
        </p:spPr>
      </p:sp>
      <p:sp>
        <p:nvSpPr>
          <p:cNvPr id="6" name="Text 3"/>
          <p:cNvSpPr/>
          <p:nvPr/>
        </p:nvSpPr>
        <p:spPr>
          <a:xfrm>
            <a:off x="1295400" y="6715125"/>
            <a:ext cx="1581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NỮA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95400" y="7191375"/>
            <a:ext cx="1581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295400" y="7762875"/>
            <a:ext cx="1581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550" dirty="0"/>
          </a:p>
        </p:txBody>
      </p:sp>
      <p:sp>
        <p:nvSpPr>
          <p:cNvPr id="9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cb55bfef-b5c6-4d87-b08e-62e2c93cef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LLAMA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lẫn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Llama</a:t>
            </a:r>
            <a:r>
              <a:rPr lang="en-US" sz="2250" dirty="0" spc="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</a:t>
            </a:r>
            <a:r>
              <a:rPr lang="en-US" sz="22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15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250" dirty="0" spc="5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250" dirty="0" spc="8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thức:</a:t>
            </a:r>
            <a:r>
              <a:rPr lang="en-US" sz="22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nhận</a:t>
            </a:r>
            <a:r>
              <a:rPr lang="en-US" sz="22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14400" y="3333750"/>
            <a:ext cx="5286375" cy="3810000"/>
          </a:xfrm>
          <a:prstGeom prst="roundRect">
            <a:avLst>
              <a:gd name="adj" fmla="val 7000"/>
            </a:avLst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667125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1800" b="1" spc="227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41433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Đa</a:t>
            </a:r>
            <a:r>
              <a:rPr lang="en-US" sz="33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phương</a:t>
            </a:r>
            <a:r>
              <a:rPr lang="en-US" sz="33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295400" y="495300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496050" y="3333750"/>
            <a:ext cx="5286375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77050" y="3667125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11B</a:t>
            </a:r>
            <a:r>
              <a:rPr lang="en-US" sz="1800" b="1" spc="17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90B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77050" y="41433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Cỡ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r>
              <a:rPr lang="en-US" sz="33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33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vừa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6877050" y="495300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linh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2077700" y="3333750"/>
            <a:ext cx="52959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58700" y="3667125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1B</a:t>
            </a:r>
            <a:r>
              <a:rPr lang="en-US" sz="1800" b="1" spc="17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458700" y="41433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12458700" y="495300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thoại,</a:t>
            </a:r>
            <a:r>
              <a:rPr lang="en-US" sz="22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400" y="7620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250" dirty="0" spc="5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250" dirty="0" spc="37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250" dirty="0" spc="-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Llama</a:t>
            </a:r>
            <a:r>
              <a:rPr lang="en-US" sz="2250" dirty="0" spc="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3.2</a:t>
            </a:r>
            <a:r>
              <a:rPr lang="en-US" sz="22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90B</a:t>
            </a:r>
            <a:r>
              <a:rPr lang="en-US" sz="2250" dirty="0" spc="-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250" dirty="0" spc="-16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6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250" dirty="0" spc="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16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tích</a:t>
            </a:r>
            <a:r>
              <a:rPr lang="en-US" sz="22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ca72a636-0155-49f8-85a7-6d0a57a0a96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32385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60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0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tấm</a:t>
            </a:r>
            <a:r>
              <a:rPr lang="en-US" sz="6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r>
              <a:rPr lang="en-US" sz="60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r>
              <a:rPr lang="en-US" sz="60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60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0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tóm</a:t>
            </a:r>
            <a:r>
              <a:rPr lang="en-US" sz="60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tắt.</a:t>
            </a:r>
            <a:r>
              <a:rPr lang="en-US" sz="6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Llama</a:t>
            </a:r>
            <a:r>
              <a:rPr lang="en-US" sz="60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3.1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 Llama</a:t>
            </a:r>
            <a:r>
              <a:rPr lang="en-US" sz="60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3.2?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5334000"/>
            <a:ext cx="16459200" cy="3048000"/>
          </a:xfrm>
          <a:prstGeom prst="roundRect">
            <a:avLst>
              <a:gd name="adj" fmla="val 875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5667375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33500" y="6143625"/>
            <a:ext cx="15621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Llama</a:t>
            </a:r>
            <a:r>
              <a:rPr lang="en-US" sz="54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3.2</a:t>
            </a:r>
            <a:r>
              <a:rPr lang="en-US" sz="5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(Vision 11B</a:t>
            </a:r>
            <a:r>
              <a:rPr lang="en-US" sz="54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5400" dirty="0" spc="-4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90B)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333500" y="7191375"/>
            <a:ext cx="15621000" cy="952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Llama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nhận ảnh;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Llama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3.2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 lẫn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6ac701d5-e1dd-46e0-b244-6bd175d2e16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endParaRPr lang="en-US" sz="6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1657350"/>
                <a:gridCol w="4640580"/>
                <a:gridCol w="4751070"/>
              </a:tblGrid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Viết</a:t>
                      </a:r>
                      <a:r>
                        <a:rPr lang="en-US" sz="195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 spc="-6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Tên</a:t>
                      </a:r>
                      <a:r>
                        <a:rPr lang="en-US" sz="195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 đủ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240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LLM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3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Large</a:t>
                      </a:r>
                      <a:r>
                        <a:rPr lang="en-US" sz="19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r>
                        <a:rPr lang="en-US" sz="19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Model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Mô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195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lớn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2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RAG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Retrieval</a:t>
                      </a:r>
                      <a:r>
                        <a:rPr lang="en-US" sz="19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Augmented</a:t>
                      </a:r>
                      <a:r>
                        <a:rPr lang="en-US" sz="195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Generation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Tìm</a:t>
                      </a:r>
                      <a:r>
                        <a:rPr lang="en-US" sz="19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tài</a:t>
                      </a:r>
                      <a:r>
                        <a:rPr lang="en-US" sz="19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1950" dirty="0" spc="-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rồi</a:t>
                      </a:r>
                      <a:r>
                        <a:rPr lang="en-US" sz="1950" dirty="0" spc="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đưa</a:t>
                      </a:r>
                      <a:r>
                        <a:rPr lang="en-US" sz="19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vào</a:t>
                      </a:r>
                      <a:r>
                        <a:rPr lang="en-US" sz="19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prompt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GenAI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Generative</a:t>
                      </a: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AI</a:t>
                      </a:r>
                      <a:r>
                        <a:rPr lang="en-US" sz="19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tạo</a:t>
                      </a:r>
                      <a:r>
                        <a:rPr lang="en-US" sz="19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sinh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Application</a:t>
                      </a:r>
                      <a:r>
                        <a:rPr lang="en-US" sz="19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Programming</a:t>
                      </a:r>
                      <a:r>
                        <a:rPr lang="en-US" sz="19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Interface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Cổng</a:t>
                      </a:r>
                      <a:r>
                        <a:rPr lang="en-US" sz="19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19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chương</a:t>
                      </a:r>
                      <a:r>
                        <a:rPr lang="en-US" sz="1950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19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khác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Connector line-1792491428997-426811622"/>
          <p:cNvSpPr/>
          <p:nvPr/>
        </p:nvSpPr>
        <p:spPr>
          <a:xfrm>
            <a:off x="12477750" y="2762250"/>
            <a:ext cx="0" cy="581025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12858750" y="2762250"/>
            <a:ext cx="4514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58750" y="3286125"/>
            <a:ext cx="4514850" cy="19050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microsoft/ generative-ai-for-beginners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2858750" y="4953000"/>
            <a:ext cx="4514850" cy="114300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MIT License,</a:t>
            </a:r>
            <a:r>
              <a:rPr lang="en-US" sz="180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©</a:t>
            </a:r>
            <a:r>
              <a:rPr lang="en-US" sz="1800" dirty="0" spc="-8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1800" dirty="0" spc="-7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Corporation.</a:t>
            </a:r>
            <a:r>
              <a:rPr lang="en-US" sz="18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180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dirty="0" spc="-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80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c35bc19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f2404982-7620-403e-9227-b5851c0bcb0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2026-10-20T10:19:42Z</dcterms:created>
  <dcterms:modified xsi:type="dcterms:W3CDTF">2026-10-20T10:19:42Z</dcterms:modified>
</cp:coreProperties>
</file>