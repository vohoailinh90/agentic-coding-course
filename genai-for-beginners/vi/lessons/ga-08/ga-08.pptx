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embeddedFontLst>
    <p:embeddedFont>
      <p:font typeface="Be Vietnam Pro"/>
      <p:regular r:id="rId20"/>
      <p:bold r:id="rId18"/>
    </p:embeddedFont>
    <p:embeddedFont>
      <p:font typeface="Bricolage Grotesque ExtraBold"/>
      <p:regular r:id="rId19"/>
    </p:embeddedFont>
    <p:embeddedFont>
      <p:font typeface="Be Vietnam Pro Medium"/>
      <p:regular r:id="rId21"/>
    </p:embeddedFont>
    <p:embeddedFont>
      <p:font typeface="Be Vietnam Pro SemiBold"/>
      <p:regular r:id="rId22"/>
    </p:embeddedFont>
    <p:embeddedFont>
      <p:font typeface="JetBrains Mono Medium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4775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1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950" b="1" spc="152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150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151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150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146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45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151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1811000" cy="26670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Xây</a:t>
            </a:r>
            <a:r>
              <a:rPr lang="en-US" sz="81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81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kiếm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81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embedding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10001250" cy="1047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5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Gõ</a:t>
            </a:r>
            <a:r>
              <a:rPr lang="en-US" sz="2850" dirty="0" spc="-9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850" dirty="0" spc="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hỏi,</a:t>
            </a:r>
            <a:r>
              <a:rPr lang="en-US" sz="285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-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phút</a:t>
            </a:r>
            <a:r>
              <a:rPr lang="en-US" sz="285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r>
              <a:rPr lang="en-US" sz="285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câu</a:t>
            </a:r>
            <a:r>
              <a:rPr lang="en-US" sz="2850" dirty="0" spc="-27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lời?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6210300"/>
            <a:ext cx="190500" cy="1905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07695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Tìm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nghĩa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tìm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khóa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6838950"/>
            <a:ext cx="190500" cy="1905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67056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Embedding: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câu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chữ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thành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dãy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7467600"/>
            <a:ext cx="190500" cy="1905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733425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Chỉ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mục: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lời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thoại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video thành</a:t>
            </a: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vector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80962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9629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Độ</a:t>
            </a:r>
            <a:r>
              <a:rPr lang="en-US" sz="25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tương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đồng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cosin: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góc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càng nhỏ càng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gần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582525" y="7724775"/>
            <a:ext cx="171450" cy="17145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4" name="Connector line-1792487876883-484093450"/>
          <p:cNvSpPr/>
          <p:nvPr/>
        </p:nvSpPr>
        <p:spPr>
          <a:xfrm flipV="1">
            <a:off x="12668250" y="5343525"/>
            <a:ext cx="3152775" cy="2466975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5973425" y="5133975"/>
            <a:ext cx="1933575" cy="4191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950" dirty="0"/>
          </a:p>
        </p:txBody>
      </p:sp>
      <p:sp>
        <p:nvSpPr>
          <p:cNvPr id="16" name="Connector line-1792487876886-693560724"/>
          <p:cNvSpPr/>
          <p:nvPr/>
        </p:nvSpPr>
        <p:spPr>
          <a:xfrm flipV="1">
            <a:off x="12668250" y="5810250"/>
            <a:ext cx="3467100" cy="200025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6287750" y="5600700"/>
            <a:ext cx="1619250" cy="4191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đoạn</a:t>
            </a:r>
            <a:r>
              <a:rPr lang="en-US" sz="1950" dirty="0" spc="-5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gần</a:t>
            </a:r>
            <a:endParaRPr lang="en-US" sz="1950" dirty="0"/>
          </a:p>
        </p:txBody>
      </p:sp>
      <p:sp>
        <p:nvSpPr>
          <p:cNvPr id="18" name="Connector line-1792487876893-4108496"/>
          <p:cNvSpPr/>
          <p:nvPr/>
        </p:nvSpPr>
        <p:spPr>
          <a:xfrm flipV="1">
            <a:off x="12668250" y="3895725"/>
            <a:ext cx="828675" cy="3914775"/>
          </a:xfrm>
          <a:prstGeom prst="line">
            <a:avLst/>
          </a:prstGeom>
          <a:noFill/>
          <a:ln w="38100">
            <a:solidFill>
              <a:srgbClr val="4A4E5C"/>
            </a:solidFill>
            <a:prstDash val="solid"/>
            <a:headEnd type="none"/>
            <a:tailEnd type="triangle" w="med" len="lg"/>
          </a:ln>
        </p:spPr>
      </p:sp>
      <p:sp>
        <p:nvSpPr>
          <p:cNvPr id="19" name="Connector line-1792487876894-402941379"/>
          <p:cNvSpPr/>
          <p:nvPr/>
        </p:nvSpPr>
        <p:spPr>
          <a:xfrm flipV="1">
            <a:off x="12668250" y="7258050"/>
            <a:ext cx="3962400" cy="552450"/>
          </a:xfrm>
          <a:prstGeom prst="line">
            <a:avLst/>
          </a:prstGeom>
          <a:noFill/>
          <a:ln w="38100">
            <a:solidFill>
              <a:srgbClr val="4A4E5C"/>
            </a:solidFill>
            <a:prstDash val="solid"/>
            <a:headEnd type="none"/>
            <a:tailEnd type="triangle" w="med" len="lg"/>
          </a:ln>
        </p:spPr>
      </p:sp>
      <p:sp>
        <p:nvSpPr>
          <p:cNvPr id="20" name="Connector line-1792487876894-752122241"/>
          <p:cNvSpPr/>
          <p:nvPr/>
        </p:nvSpPr>
        <p:spPr>
          <a:xfrm flipV="1">
            <a:off x="12668250" y="4419600"/>
            <a:ext cx="2124075" cy="3390900"/>
          </a:xfrm>
          <a:prstGeom prst="line">
            <a:avLst/>
          </a:prstGeom>
          <a:noFill/>
          <a:ln w="38100">
            <a:solidFill>
              <a:srgbClr val="4A4E5C"/>
            </a:solidFill>
            <a:prstDash val="solid"/>
            <a:headEnd type="none"/>
            <a:tailEnd type="triangle" w="med" len="lg"/>
          </a:ln>
        </p:spPr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c0b8956f-a10f-458d-afa7-cf51712c72e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24790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startup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 dục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4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video</a:t>
            </a:r>
            <a:r>
              <a:rPr lang="en-US" sz="270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AI. Học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tìm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16459200" cy="1524000"/>
          </a:xfrm>
          <a:prstGeom prst="roundRect">
            <a:avLst>
              <a:gd name="adj" fmla="val 15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409950"/>
            <a:ext cx="13335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857500" y="3238500"/>
            <a:ext cx="14097000" cy="1524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Phân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biệt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tìm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</a:t>
            </a:r>
            <a:r>
              <a:rPr lang="en-US" sz="30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tìm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5048250"/>
            <a:ext cx="16459200" cy="1524000"/>
          </a:xfrm>
          <a:prstGeom prst="roundRect">
            <a:avLst>
              <a:gd name="adj" fmla="val 15000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5219700"/>
            <a:ext cx="13335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2857500" y="5048250"/>
            <a:ext cx="14097000" cy="1524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Giải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30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embedding</a:t>
            </a:r>
            <a:r>
              <a:rPr lang="en-US" sz="30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văn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6858000"/>
            <a:ext cx="16459200" cy="1524000"/>
          </a:xfrm>
          <a:prstGeom prst="roundRect">
            <a:avLst>
              <a:gd name="adj" fmla="val 15000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029450"/>
            <a:ext cx="13335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2857500" y="6858000"/>
            <a:ext cx="14097000" cy="1524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3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Làm</a:t>
            </a:r>
            <a:r>
              <a:rPr lang="en-US" sz="3000" dirty="0" spc="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embedding</a:t>
            </a:r>
            <a:r>
              <a:rPr lang="en-US" sz="30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tìm dữ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4" name="Shape 12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6" name="Shape 14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7" name="Shape 15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8" name="Shape 16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9" name="Shape 17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0" name="Shape 18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Text 22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08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 02/11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dc4ffaf2-a999-4ec9-845e-80a878bd1a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Tìm</a:t>
            </a:r>
            <a:r>
              <a:rPr lang="en-US" sz="72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72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</a:t>
            </a:r>
            <a:r>
              <a:rPr lang="en-US" sz="7200" dirty="0" spc="-7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2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72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72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200" dirty="0" spc="-1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310515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14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180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GÕ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3543300"/>
            <a:ext cx="15544800" cy="666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“my</a:t>
            </a:r>
            <a:r>
              <a:rPr lang="en-US" sz="30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dream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car”, chiếc</a:t>
            </a:r>
            <a:r>
              <a:rPr lang="en-US" sz="3000" dirty="0" spc="-3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xe</a:t>
            </a:r>
            <a:r>
              <a:rPr lang="en-US" sz="30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mơ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581150" y="4762500"/>
            <a:ext cx="15125700" cy="1619250"/>
          </a:xfrm>
          <a:prstGeom prst="roundRect">
            <a:avLst>
              <a:gd name="adj" fmla="val 14118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2038350" y="501015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4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 THEO</a:t>
            </a:r>
            <a:r>
              <a:rPr lang="en-US" sz="180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b="1" spc="13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38350" y="5448300"/>
            <a:ext cx="14211300" cy="666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Bám</a:t>
            </a:r>
            <a:r>
              <a:rPr lang="en-US" sz="3000" dirty="0" spc="25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300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chữ:</a:t>
            </a:r>
            <a:r>
              <a:rPr lang="en-US" sz="3000" dirty="0" spc="37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300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tìm</a:t>
            </a:r>
            <a:r>
              <a:rPr lang="en-US" sz="3000" dirty="0" spc="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giấc</a:t>
            </a:r>
            <a:r>
              <a:rPr lang="en-US" sz="300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mơ</a:t>
            </a:r>
            <a:r>
              <a:rPr lang="en-US" sz="3000" dirty="0" spc="-2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3000" dirty="0" spc="-35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247900" y="6667500"/>
            <a:ext cx="13792200" cy="1619250"/>
          </a:xfrm>
          <a:prstGeom prst="roundRect">
            <a:avLst>
              <a:gd name="adj" fmla="val 14118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05100" y="691515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4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 THEO</a:t>
            </a:r>
            <a:r>
              <a:rPr lang="en-US" sz="1800" b="1" spc="15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05100" y="7353300"/>
            <a:ext cx="12877800" cy="666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Hiểu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r>
              <a:rPr lang="en-US" sz="300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định: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muốn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mua</a:t>
            </a:r>
            <a:r>
              <a:rPr lang="en-US" sz="3000" dirty="0" spc="-3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xe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r>
              <a:rPr lang="en-US" sz="30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tưởng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1944350" y="5010150"/>
            <a:ext cx="4305300" cy="381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r" indent="0" marL="0">
              <a:lnSpc>
                <a:spcPts val="2535"/>
              </a:lnSpc>
              <a:buNone/>
            </a:pPr>
            <a:r>
              <a:rPr lang="en-US" sz="1950" b="1" dirty="0" spc="-2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1950" b="1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195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277600" y="6915150"/>
            <a:ext cx="4305300" cy="381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r" indent="0" marL="0">
              <a:lnSpc>
                <a:spcPts val="2535"/>
              </a:lnSpc>
              <a:buNone/>
            </a:pPr>
            <a:r>
              <a:rPr lang="en-US" sz="19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đoán</a:t>
            </a:r>
            <a:r>
              <a:rPr lang="en-US" sz="1950" b="1" dirty="0" spc="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1950" b="1" dirty="0" spc="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6" name="Shape 14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8" name="Shape 16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9" name="Shape 17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0" name="Shape 18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Shape 22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5" name="Text 23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08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03/11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5447eb57-bbb1-41dc-826e-e5d0f918120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4775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EMBEDDING</a:t>
            </a:r>
            <a:r>
              <a:rPr lang="en-US" sz="1950" b="1" spc="11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1950" b="1" spc="14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0477500" cy="4000500"/>
          </a:xfrm>
          <a:prstGeom prst="rect">
            <a:avLst/>
          </a:prstGeom>
          <a:noFill/>
          <a:ln/>
        </p:spPr>
        <p:txBody>
          <a:bodyPr wrap="square" lIns="0" tIns="289560" rIns="0" bIns="-289560" rtlCol="0" anchor="t"/>
          <a:lstStyle/>
          <a:p>
            <a:pPr algn="l" indent="0" marL="0">
              <a:lnSpc>
                <a:spcPts val="28500"/>
              </a:lnSpc>
              <a:buNone/>
            </a:pPr>
            <a:r>
              <a:rPr lang="en-US" sz="28500" dirty="0" spc="6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1536</a:t>
            </a:r>
            <a:endParaRPr lang="en-US" sz="285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17812" rIns="0" bIns="-17812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con</a:t>
            </a:r>
            <a:r>
              <a:rPr lang="en-US" sz="33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33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33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3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câu,</a:t>
            </a:r>
            <a:r>
              <a:rPr lang="en-US" sz="33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33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3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3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vector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6572250"/>
            <a:ext cx="1047750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4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700" dirty="0" spc="-13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3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 nghĩa</a:t>
            </a:r>
            <a:r>
              <a:rPr lang="en-US" sz="270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câu.</a:t>
            </a:r>
            <a:r>
              <a:rPr lang="en-US" sz="2700" dirty="0" spc="-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700" dirty="0" spc="-16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70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700" dirty="0" spc="-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dirty="0" spc="-16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vector</a:t>
            </a:r>
            <a:r>
              <a:rPr lang="en-US" sz="270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700" dirty="0" spc="-16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700" dirty="0" spc="-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811000" y="1809750"/>
            <a:ext cx="5562600" cy="6096000"/>
          </a:xfrm>
          <a:prstGeom prst="roundRect">
            <a:avLst>
              <a:gd name="adj" fmla="val 4795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287250" y="2190750"/>
            <a:ext cx="4667250" cy="1619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4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“Today</a:t>
            </a:r>
            <a:r>
              <a:rPr lang="en-US" sz="22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we are</a:t>
            </a:r>
            <a:r>
              <a:rPr lang="en-US" sz="225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going</a:t>
            </a:r>
            <a:r>
              <a:rPr lang="en-US" sz="22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to</a:t>
            </a:r>
            <a:r>
              <a:rPr lang="en-US" sz="22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learn</a:t>
            </a:r>
            <a:r>
              <a:rPr lang="en-US" sz="22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about</a:t>
            </a:r>
            <a:r>
              <a:rPr lang="en-US" sz="22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Azure</a:t>
            </a: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Machine</a:t>
            </a:r>
            <a:r>
              <a:rPr lang="en-US" sz="22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Learning.”</a:t>
            </a:r>
            <a:endParaRPr lang="en-US" sz="2250" dirty="0"/>
          </a:p>
        </p:txBody>
      </p:sp>
      <p:sp>
        <p:nvSpPr>
          <p:cNvPr id="8" name="Connector line-1792487990698-880857197"/>
          <p:cNvSpPr/>
          <p:nvPr/>
        </p:nvSpPr>
        <p:spPr>
          <a:xfrm>
            <a:off x="14592300" y="3905250"/>
            <a:ext cx="0" cy="66675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 w="med" len="lg"/>
          </a:ln>
        </p:spPr>
      </p:sp>
      <p:sp>
        <p:nvSpPr>
          <p:cNvPr id="9" name="Text 7"/>
          <p:cNvSpPr/>
          <p:nvPr/>
        </p:nvSpPr>
        <p:spPr>
          <a:xfrm>
            <a:off x="12287250" y="4762500"/>
            <a:ext cx="4667250" cy="2857500"/>
          </a:xfrm>
          <a:prstGeom prst="rect">
            <a:avLst/>
          </a:prstGeom>
          <a:noFill/>
          <a:ln/>
        </p:spPr>
        <p:txBody>
          <a:bodyPr wrap="square" lIns="0" tIns="10001" rIns="0" bIns="-10001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kern="0">
                <a:solidFill>
                  <a:srgbClr val="FFB45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[-0.006655...,</a:t>
            </a:r>
            <a:endParaRPr lang="en-US" sz="2250" dirty="0"/>
          </a:p>
          <a:p>
            <a:pPr algn="l" indent="0" marL="0">
              <a:lnSpc>
                <a:spcPts val="2925"/>
              </a:lnSpc>
              <a:buNone/>
            </a:pPr>
            <a:r>
              <a:rPr lang="en-US" sz="2250" dirty="0" kern="0">
                <a:solidFill>
                  <a:srgbClr val="FFB45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0.002612...,</a:t>
            </a:r>
            <a:endParaRPr lang="en-US" sz="2250" dirty="0"/>
          </a:p>
          <a:p>
            <a:pPr algn="l" indent="0" marL="0">
              <a:lnSpc>
                <a:spcPts val="2925"/>
              </a:lnSpc>
              <a:buNone/>
            </a:pPr>
            <a:r>
              <a:rPr lang="en-US" sz="2250" dirty="0" kern="0">
                <a:solidFill>
                  <a:srgbClr val="FFB45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0.008792...,</a:t>
            </a:r>
            <a:endParaRPr lang="en-US" sz="2250" dirty="0"/>
          </a:p>
          <a:p>
            <a:pPr algn="l" indent="0" marL="0">
              <a:lnSpc>
                <a:spcPts val="2925"/>
              </a:lnSpc>
              <a:buNone/>
            </a:pPr>
            <a:r>
              <a:rPr lang="en-US" sz="2250" dirty="0" kern="0">
                <a:solidFill>
                  <a:srgbClr val="FFB45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-0.024460...,</a:t>
            </a:r>
            <a:endParaRPr lang="en-US" sz="2250" dirty="0"/>
          </a:p>
          <a:p>
            <a:pPr algn="l" indent="0" marL="0">
              <a:lnSpc>
                <a:spcPts val="2925"/>
              </a:lnSpc>
              <a:buNone/>
            </a:pPr>
            <a:r>
              <a:rPr lang="en-US" sz="2250" dirty="0" kern="0">
                <a:solidFill>
                  <a:srgbClr val="FFB45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...]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2" name="Shape 10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3" name="Shape 11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5" name="Shape 13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6" name="Shape 14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7" name="Shape 15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8" name="Shape 16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9" name="Shape 17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0" name="Shape 18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1" name="Text 19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08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04/11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5c5a4d3-af7c-43dc-bfa3-a71402ec31b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72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7200" dirty="0" spc="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embedding:</a:t>
            </a:r>
            <a:r>
              <a:rPr lang="en-US" sz="72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7200" dirty="0" spc="-9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24790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mục.</a:t>
            </a:r>
            <a:r>
              <a:rPr lang="en-US" sz="27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7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4000500"/>
            <a:ext cx="2857500" cy="314325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9200" y="4229100"/>
            <a:ext cx="114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219200" y="5219700"/>
            <a:ext cx="2247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19200" y="6191250"/>
            <a:ext cx="2247900" cy="381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2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kênh</a:t>
            </a:r>
            <a:r>
              <a:rPr lang="en-US" sz="18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800" dirty="0" spc="-8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Show</a:t>
            </a:r>
            <a:endParaRPr lang="en-US" sz="1800" dirty="0"/>
          </a:p>
        </p:txBody>
      </p:sp>
      <p:sp>
        <p:nvSpPr>
          <p:cNvPr id="8" name="Connector line-1792488020792-217857126"/>
          <p:cNvSpPr/>
          <p:nvPr/>
        </p:nvSpPr>
        <p:spPr>
          <a:xfrm>
            <a:off x="3829050" y="5429250"/>
            <a:ext cx="428625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 w="med" len="lg"/>
          </a:ln>
        </p:spPr>
      </p:sp>
      <p:sp>
        <p:nvSpPr>
          <p:cNvPr id="9" name="Shape 7"/>
          <p:cNvSpPr/>
          <p:nvPr/>
        </p:nvSpPr>
        <p:spPr>
          <a:xfrm>
            <a:off x="4314825" y="4000500"/>
            <a:ext cx="2857500" cy="314325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9625" y="4229100"/>
            <a:ext cx="114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619625" y="5219700"/>
            <a:ext cx="2247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4619625" y="6191250"/>
            <a:ext cx="2247900" cy="381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từ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3</a:t>
            </a:r>
            <a:r>
              <a:rPr lang="en-US" sz="180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phút</a:t>
            </a:r>
            <a:r>
              <a:rPr lang="en-US" sz="1800" dirty="0" spc="9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đầu</a:t>
            </a:r>
            <a:endParaRPr lang="en-US" sz="1800" dirty="0"/>
          </a:p>
        </p:txBody>
      </p:sp>
      <p:sp>
        <p:nvSpPr>
          <p:cNvPr id="13" name="Connector line-1792488020800-746443227"/>
          <p:cNvSpPr/>
          <p:nvPr/>
        </p:nvSpPr>
        <p:spPr>
          <a:xfrm>
            <a:off x="7229475" y="5429250"/>
            <a:ext cx="428625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 w="med" len="lg"/>
          </a:ln>
        </p:spPr>
      </p:sp>
      <p:sp>
        <p:nvSpPr>
          <p:cNvPr id="14" name="Shape 12"/>
          <p:cNvSpPr/>
          <p:nvPr/>
        </p:nvSpPr>
        <p:spPr>
          <a:xfrm>
            <a:off x="7715250" y="4000500"/>
            <a:ext cx="2857500" cy="314325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20050" y="4229100"/>
            <a:ext cx="114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8020050" y="5219700"/>
            <a:ext cx="2247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Cắt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8020050" y="6191250"/>
            <a:ext cx="2247900" cy="6286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thêm</a:t>
            </a:r>
            <a:r>
              <a:rPr lang="en-US" sz="1800" dirty="0" spc="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~20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1800" dirty="0" spc="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đoạn</a:t>
            </a: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endParaRPr lang="en-US" sz="1800" dirty="0"/>
          </a:p>
        </p:txBody>
      </p:sp>
      <p:sp>
        <p:nvSpPr>
          <p:cNvPr id="18" name="Connector line-1792488020811-201890999"/>
          <p:cNvSpPr/>
          <p:nvPr/>
        </p:nvSpPr>
        <p:spPr>
          <a:xfrm>
            <a:off x="10629900" y="5429250"/>
            <a:ext cx="428625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 w="med" len="lg"/>
          </a:ln>
        </p:spPr>
      </p:sp>
      <p:sp>
        <p:nvSpPr>
          <p:cNvPr id="19" name="Shape 17"/>
          <p:cNvSpPr/>
          <p:nvPr/>
        </p:nvSpPr>
        <p:spPr>
          <a:xfrm>
            <a:off x="11115675" y="4000500"/>
            <a:ext cx="2857500" cy="314325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20475" y="4229100"/>
            <a:ext cx="114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11420475" y="5219700"/>
            <a:ext cx="2247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9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 còn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60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1420475" y="6191250"/>
            <a:ext cx="2247900" cy="381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bằng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API</a:t>
            </a:r>
            <a:r>
              <a:rPr lang="en-US" sz="180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chat</a:t>
            </a:r>
            <a:endParaRPr lang="en-US" sz="1800" dirty="0"/>
          </a:p>
        </p:txBody>
      </p:sp>
      <p:sp>
        <p:nvSpPr>
          <p:cNvPr id="23" name="Connector line-1792488020817-416371865"/>
          <p:cNvSpPr/>
          <p:nvPr/>
        </p:nvSpPr>
        <p:spPr>
          <a:xfrm>
            <a:off x="14030325" y="5429250"/>
            <a:ext cx="428625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 w="med" len="lg"/>
          </a:ln>
        </p:spPr>
      </p:sp>
      <p:sp>
        <p:nvSpPr>
          <p:cNvPr id="24" name="Shape 22"/>
          <p:cNvSpPr/>
          <p:nvPr/>
        </p:nvSpPr>
        <p:spPr>
          <a:xfrm>
            <a:off x="14516100" y="4000500"/>
            <a:ext cx="2857500" cy="3143250"/>
          </a:xfrm>
          <a:prstGeom prst="roundRect">
            <a:avLst>
              <a:gd name="adj" fmla="val 8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820900" y="4229100"/>
            <a:ext cx="114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5400" dirty="0"/>
          </a:p>
        </p:txBody>
      </p:sp>
      <p:sp>
        <p:nvSpPr>
          <p:cNvPr id="26" name="Text 24"/>
          <p:cNvSpPr/>
          <p:nvPr/>
        </p:nvSpPr>
        <p:spPr>
          <a:xfrm>
            <a:off x="14820900" y="5219700"/>
            <a:ext cx="2247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vector,</a:t>
            </a:r>
            <a:r>
              <a:rPr lang="en-US" sz="2550" b="1" dirty="0" spc="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4820900" y="6191250"/>
            <a:ext cx="2247900" cy="381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1536</a:t>
            </a:r>
            <a:r>
              <a:rPr lang="en-US" sz="1800" dirty="0" spc="-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</a:t>
            </a:r>
            <a:r>
              <a:rPr lang="en-US" sz="180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mỗi</a:t>
            </a:r>
            <a:r>
              <a:rPr lang="en-US" sz="1800" dirty="0" spc="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đoạn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" y="752475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5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quả: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file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embedding_index_3m.json</a:t>
            </a:r>
            <a:endParaRPr lang="en-US" sz="2700" dirty="0"/>
          </a:p>
        </p:txBody>
      </p:sp>
      <p:sp>
        <p:nvSpPr>
          <p:cNvPr id="29" name="Shape 27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0" name="Shape 28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1" name="Shape 29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2" name="Shape 30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3" name="Shape 31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5" name="Shape 33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6" name="Shape 34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7" name="Shape 35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8" name="Shape 36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9" name="Shape 37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40" name="Text 38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08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05/11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e9ac76c5-6fcb-4ea1-b1bd-c8944f70256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72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72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72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200" dirty="0" spc="1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3143250"/>
            <a:ext cx="80010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47800" y="3619500"/>
            <a:ext cx="6667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1950" b="1" spc="14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447800" y="4191000"/>
            <a:ext cx="7048500" cy="762000"/>
          </a:xfrm>
          <a:prstGeom prst="rect">
            <a:avLst/>
          </a:prstGeom>
          <a:noFill/>
          <a:ln/>
        </p:spPr>
        <p:txBody>
          <a:bodyPr wrap="square" lIns="0" tIns="2667" rIns="0" bIns="-2667" rtlCol="0" anchor="t"/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4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file</a:t>
            </a: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JSON</a:t>
            </a:r>
            <a:endParaRPr lang="en-US" sz="4200" dirty="0"/>
          </a:p>
        </p:txBody>
      </p:sp>
      <p:sp>
        <p:nvSpPr>
          <p:cNvPr id="6" name="Text richtext-1792488051173-324571724"/>
          <p:cNvSpPr/>
          <p:nvPr/>
        </p:nvSpPr>
        <p:spPr>
          <a:xfrm>
            <a:off x="1447800" y="5429250"/>
            <a:ext cx="7048500" cy="1524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Nạp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Pandas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3143250"/>
            <a:ext cx="8001000" cy="4191000"/>
          </a:xfrm>
          <a:prstGeom prst="roundRect">
            <a:avLst>
              <a:gd name="adj" fmla="val 6364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06000" y="3619500"/>
            <a:ext cx="6667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1950" b="1" spc="1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b="1" spc="13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1950" b="1" spc="14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1950" b="1" spc="11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906000" y="4191000"/>
            <a:ext cx="7048500" cy="762000"/>
          </a:xfrm>
          <a:prstGeom prst="rect">
            <a:avLst/>
          </a:prstGeom>
          <a:noFill/>
          <a:ln/>
        </p:spPr>
        <p:txBody>
          <a:bodyPr wrap="square" lIns="0" tIns="2667" rIns="0" bIns="-2667" rtlCol="0" anchor="t"/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Cơ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4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42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vector</a:t>
            </a:r>
            <a:endParaRPr lang="en-US" sz="4200" dirty="0"/>
          </a:p>
        </p:txBody>
      </p:sp>
      <p:sp>
        <p:nvSpPr>
          <p:cNvPr id="10" name="Text richtext-1792488051200-75810538"/>
          <p:cNvSpPr/>
          <p:nvPr/>
        </p:nvSpPr>
        <p:spPr>
          <a:xfrm>
            <a:off x="9906000" y="5429250"/>
            <a:ext cx="7048500" cy="1524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Azure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Cognitive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Search,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Pinecone,</a:t>
            </a:r>
            <a:r>
              <a:rPr lang="en-US" sz="28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Weaviate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2" name="Shape 10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3" name="Shape 11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4" name="Shape 12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5" name="Shape 13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6" name="Shape 14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8" name="Shape 16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9" name="Shape 17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0" name="Shape 18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Text 20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08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06/11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0d2e4f13-3d69-45cb-84ac-2b48786b493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4775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1950" b="1" spc="15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 ĐỒNG</a:t>
            </a:r>
            <a:r>
              <a:rPr lang="en-US" sz="1950" b="1" spc="1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COSIN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7620000" cy="22860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Góc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càng</a:t>
            </a:r>
            <a:r>
              <a:rPr lang="en-US" sz="69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càng</a:t>
            </a:r>
            <a:r>
              <a:rPr lang="en-US" sz="69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gần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191000"/>
            <a:ext cx="7239000" cy="1619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 cosin</a:t>
            </a:r>
            <a:r>
              <a:rPr lang="en-US" sz="2700" dirty="0" spc="-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18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góc</a:t>
            </a:r>
            <a:r>
              <a:rPr lang="en-US" sz="2700" dirty="0" spc="5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700" dirty="0" spc="-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-14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vector.</a:t>
            </a:r>
            <a:r>
              <a:rPr lang="en-US" sz="270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700" dirty="0" spc="-13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70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nhau,</a:t>
            </a:r>
            <a:r>
              <a:rPr lang="en-US" sz="2700" dirty="0" spc="-18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góc</a:t>
            </a:r>
            <a:r>
              <a:rPr lang="en-US" sz="2700" dirty="0" spc="-14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nhỏ, cosin</a:t>
            </a:r>
            <a:r>
              <a:rPr lang="en-US" sz="2700" dirty="0" spc="-14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dirty="0" spc="-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61912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Còn</a:t>
            </a:r>
            <a:r>
              <a:rPr lang="en-US" sz="2550" dirty="0" spc="-7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 là</a:t>
            </a:r>
            <a:r>
              <a:rPr lang="en-US" sz="2550" dirty="0" spc="-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tìm láng</a:t>
            </a:r>
            <a:r>
              <a:rPr lang="en-US" sz="2550" dirty="0" spc="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giềng</a:t>
            </a:r>
            <a:r>
              <a:rPr lang="en-US" sz="2550" dirty="0" spc="-6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gần</a:t>
            </a:r>
            <a:r>
              <a:rPr lang="en-US" sz="2550" dirty="0" spc="-7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8858250" y="4476750"/>
            <a:ext cx="2857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58250" y="4476750"/>
            <a:ext cx="28575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ctr" indent="0" marL="0">
              <a:lnSpc>
                <a:spcPts val="3510"/>
              </a:lnSpc>
              <a:buNone/>
            </a:pPr>
            <a:r>
              <a:rPr lang="en-US" sz="27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2700" dirty="0"/>
          </a:p>
        </p:txBody>
      </p:sp>
      <p:sp>
        <p:nvSpPr>
          <p:cNvPr id="8" name="Connector line-1792488484208-107345263"/>
          <p:cNvSpPr/>
          <p:nvPr/>
        </p:nvSpPr>
        <p:spPr>
          <a:xfrm flipV="1">
            <a:off x="11772900" y="3048000"/>
            <a:ext cx="2514600" cy="2000250"/>
          </a:xfrm>
          <a:prstGeom prst="line">
            <a:avLst/>
          </a:prstGeom>
          <a:noFill/>
          <a:ln w="762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4287500" y="2476500"/>
            <a:ext cx="30861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287500" y="2609850"/>
            <a:ext cx="30861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ctr" indent="0" marL="0">
              <a:lnSpc>
                <a:spcPts val="3315"/>
              </a:lnSpc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Đoạn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4287500" y="3086100"/>
            <a:ext cx="3086100" cy="381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dirty="0" spc="-8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góc</a:t>
            </a:r>
            <a:r>
              <a:rPr lang="en-US" sz="1800" dirty="0" spc="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</a:t>
            </a:r>
            <a:r>
              <a:rPr lang="en-US" sz="1800" dirty="0" spc="4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800" dirty="0" spc="-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cosin</a:t>
            </a:r>
            <a:r>
              <a:rPr lang="en-US" sz="1800" dirty="0" spc="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cao</a:t>
            </a:r>
            <a:endParaRPr lang="en-US" sz="1800" dirty="0"/>
          </a:p>
        </p:txBody>
      </p:sp>
      <p:sp>
        <p:nvSpPr>
          <p:cNvPr id="12" name="Connector line-1792488484212-857908653"/>
          <p:cNvSpPr/>
          <p:nvPr/>
        </p:nvSpPr>
        <p:spPr>
          <a:xfrm>
            <a:off x="11772900" y="5048250"/>
            <a:ext cx="2514600" cy="0"/>
          </a:xfrm>
          <a:prstGeom prst="line">
            <a:avLst/>
          </a:prstGeom>
          <a:noFill/>
          <a:ln w="28575">
            <a:solidFill>
              <a:srgbClr val="6B6F7E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4287500" y="4476750"/>
            <a:ext cx="30861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19050">
            <a:solidFill>
              <a:srgbClr val="6B6F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287500" y="4610100"/>
            <a:ext cx="30861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ctr" indent="0" marL="0">
              <a:lnSpc>
                <a:spcPts val="3315"/>
              </a:lnSpc>
              <a:buNone/>
            </a:pPr>
            <a:r>
              <a:rPr lang="en-US" sz="2550" b="1" dirty="0" spc="0" kern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Đoạn</a:t>
            </a:r>
            <a:r>
              <a:rPr lang="en-US" sz="2550" b="1" dirty="0" spc="-3" kern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4287500" y="5086350"/>
            <a:ext cx="3086100" cy="381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dirty="0" spc="-8" kern="0">
                <a:solidFill>
                  <a:srgbClr val="9A989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góc</a:t>
            </a:r>
            <a:r>
              <a:rPr lang="en-US" sz="1800" dirty="0" spc="-1" kern="0">
                <a:solidFill>
                  <a:srgbClr val="9A989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r>
              <a:rPr lang="en-US" sz="1800" dirty="0" spc="5" kern="0">
                <a:solidFill>
                  <a:srgbClr val="9A989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800" dirty="0" spc="-2" kern="0">
                <a:solidFill>
                  <a:srgbClr val="9A989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cosin</a:t>
            </a:r>
            <a:r>
              <a:rPr lang="en-US" sz="1800" dirty="0" spc="3" kern="0">
                <a:solidFill>
                  <a:srgbClr val="9A989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thấp</a:t>
            </a:r>
            <a:endParaRPr lang="en-US" sz="1800" dirty="0"/>
          </a:p>
        </p:txBody>
      </p:sp>
      <p:sp>
        <p:nvSpPr>
          <p:cNvPr id="16" name="Connector line-1792488484216-886686430"/>
          <p:cNvSpPr/>
          <p:nvPr/>
        </p:nvSpPr>
        <p:spPr>
          <a:xfrm>
            <a:off x="11772900" y="5048250"/>
            <a:ext cx="2514600" cy="2000250"/>
          </a:xfrm>
          <a:prstGeom prst="line">
            <a:avLst/>
          </a:prstGeom>
          <a:noFill/>
          <a:ln w="28575">
            <a:solidFill>
              <a:srgbClr val="6B6F7E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4287500" y="6477000"/>
            <a:ext cx="30861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19050">
            <a:solidFill>
              <a:srgbClr val="6B6F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287500" y="6610350"/>
            <a:ext cx="30861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ctr" indent="0" marL="0">
              <a:lnSpc>
                <a:spcPts val="3315"/>
              </a:lnSpc>
              <a:buNone/>
            </a:pPr>
            <a:r>
              <a:rPr lang="en-US" sz="2550" b="1" dirty="0" kern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Đoạn C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4287500" y="7086600"/>
            <a:ext cx="3086100" cy="381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dirty="0" spc="-8" kern="0">
                <a:solidFill>
                  <a:srgbClr val="9A989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góc</a:t>
            </a:r>
            <a:r>
              <a:rPr lang="en-US" sz="1800" dirty="0" spc="-1" kern="0">
                <a:solidFill>
                  <a:srgbClr val="9A989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r>
              <a:rPr lang="en-US" sz="1800" dirty="0" spc="5" kern="0">
                <a:solidFill>
                  <a:srgbClr val="9A989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800" dirty="0" spc="-2" kern="0">
                <a:solidFill>
                  <a:srgbClr val="9A989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cosin</a:t>
            </a:r>
            <a:r>
              <a:rPr lang="en-US" sz="1800" dirty="0" spc="3" kern="0">
                <a:solidFill>
                  <a:srgbClr val="9A989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58250" y="81915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5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Sắp</a:t>
            </a:r>
            <a:r>
              <a:rPr lang="en-US" sz="2100" dirty="0" spc="-17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xếp:</a:t>
            </a:r>
            <a:r>
              <a:rPr lang="en-US" sz="2100" dirty="0" spc="4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đoạn</a:t>
            </a:r>
            <a:r>
              <a:rPr lang="en-US" sz="2100" dirty="0" spc="-4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10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cosin cao</a:t>
            </a:r>
            <a:r>
              <a:rPr lang="en-US" sz="2100" dirty="0" spc="-7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nhất</a:t>
            </a:r>
            <a:r>
              <a:rPr lang="en-US" sz="2100" dirty="0" spc="-6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lên</a:t>
            </a:r>
            <a:r>
              <a:rPr lang="en-US" sz="2100" dirty="0" spc="1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đầu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3" name="Shape 21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4" name="Shape 22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5" name="Shape 23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6" name="Shape 24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7" name="Shape 25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9" name="Shape 27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0" name="Shape 28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1" name="Shape 29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2" name="Text 30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08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-1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07/11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b44cf4ae-3245-4e7e-8ea3-a660ae8c757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6900" dirty="0" spc="-2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69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kiếm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857250" y="2095500"/>
            <a:ext cx="3238500" cy="800100"/>
          </a:xfrm>
          <a:prstGeom prst="roundRect">
            <a:avLst>
              <a:gd name="adj" fmla="val 2381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7250" y="2095500"/>
            <a:ext cx="32385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endParaRPr lang="en-US" sz="2250" dirty="0"/>
          </a:p>
        </p:txBody>
      </p:sp>
      <p:sp>
        <p:nvSpPr>
          <p:cNvPr id="5" name="Connector line-1792488137258-637750536"/>
          <p:cNvSpPr/>
          <p:nvPr/>
        </p:nvSpPr>
        <p:spPr>
          <a:xfrm>
            <a:off x="2476500" y="2895600"/>
            <a:ext cx="0" cy="596265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429250" y="2095500"/>
            <a:ext cx="3238500" cy="800100"/>
          </a:xfrm>
          <a:prstGeom prst="roundRect">
            <a:avLst>
              <a:gd name="adj" fmla="val 23810"/>
            </a:avLst>
          </a:prstGeom>
          <a:solidFill>
            <a:srgbClr val="14161C"/>
          </a:solidFill>
          <a:ln/>
        </p:spPr>
      </p:sp>
      <p:sp>
        <p:nvSpPr>
          <p:cNvPr id="7" name="Text 5"/>
          <p:cNvSpPr/>
          <p:nvPr/>
        </p:nvSpPr>
        <p:spPr>
          <a:xfrm>
            <a:off x="5429250" y="2095500"/>
            <a:ext cx="32385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250" dirty="0"/>
          </a:p>
        </p:txBody>
      </p:sp>
      <p:sp>
        <p:nvSpPr>
          <p:cNvPr id="8" name="Connector line-1792488137261-443659332"/>
          <p:cNvSpPr/>
          <p:nvPr/>
        </p:nvSpPr>
        <p:spPr>
          <a:xfrm>
            <a:off x="7048500" y="2895600"/>
            <a:ext cx="0" cy="596265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0001250" y="2095500"/>
            <a:ext cx="3238500" cy="800100"/>
          </a:xfrm>
          <a:prstGeom prst="roundRect">
            <a:avLst>
              <a:gd name="adj" fmla="val 2381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01250" y="2095500"/>
            <a:ext cx="32385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embedding</a:t>
            </a:r>
            <a:endParaRPr lang="en-US" sz="2250" dirty="0"/>
          </a:p>
        </p:txBody>
      </p:sp>
      <p:sp>
        <p:nvSpPr>
          <p:cNvPr id="11" name="Connector line-1792488137264-683683792"/>
          <p:cNvSpPr/>
          <p:nvPr/>
        </p:nvSpPr>
        <p:spPr>
          <a:xfrm>
            <a:off x="11620500" y="2895600"/>
            <a:ext cx="0" cy="596265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4192250" y="2095500"/>
            <a:ext cx="3238500" cy="800100"/>
          </a:xfrm>
          <a:prstGeom prst="roundRect">
            <a:avLst>
              <a:gd name="adj" fmla="val 2381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92250" y="2095500"/>
            <a:ext cx="32385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250" dirty="0"/>
          </a:p>
        </p:txBody>
      </p:sp>
      <p:sp>
        <p:nvSpPr>
          <p:cNvPr id="14" name="Connector line-1792488137266-223307791"/>
          <p:cNvSpPr/>
          <p:nvPr/>
        </p:nvSpPr>
        <p:spPr>
          <a:xfrm>
            <a:off x="15811500" y="2895600"/>
            <a:ext cx="0" cy="596265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5" name="Connector line-1792488137266-48334180"/>
          <p:cNvSpPr/>
          <p:nvPr/>
        </p:nvSpPr>
        <p:spPr>
          <a:xfrm>
            <a:off x="2552700" y="3867150"/>
            <a:ext cx="44196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med" len="lg"/>
          </a:ln>
        </p:spPr>
      </p:sp>
      <p:sp>
        <p:nvSpPr>
          <p:cNvPr id="16" name="Text 14"/>
          <p:cNvSpPr/>
          <p:nvPr/>
        </p:nvSpPr>
        <p:spPr>
          <a:xfrm>
            <a:off x="2667000" y="3429000"/>
            <a:ext cx="4191000" cy="381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Gõ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 hỏi</a:t>
            </a:r>
            <a:endParaRPr lang="en-US" sz="1950" dirty="0"/>
          </a:p>
        </p:txBody>
      </p:sp>
      <p:sp>
        <p:nvSpPr>
          <p:cNvPr id="17" name="Connector line-1792488137268-713189842"/>
          <p:cNvSpPr/>
          <p:nvPr/>
        </p:nvSpPr>
        <p:spPr>
          <a:xfrm>
            <a:off x="7124700" y="4781550"/>
            <a:ext cx="44196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med" len="lg"/>
          </a:ln>
        </p:spPr>
      </p:sp>
      <p:sp>
        <p:nvSpPr>
          <p:cNvPr id="18" name="Text 16"/>
          <p:cNvSpPr/>
          <p:nvPr/>
        </p:nvSpPr>
        <p:spPr>
          <a:xfrm>
            <a:off x="7239000" y="4343400"/>
            <a:ext cx="4191000" cy="381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dirty="0" spc="4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Gửi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 hỏi</a:t>
            </a:r>
            <a:endParaRPr lang="en-US" sz="1950" dirty="0"/>
          </a:p>
        </p:txBody>
      </p:sp>
      <p:sp>
        <p:nvSpPr>
          <p:cNvPr id="19" name="Connector line-1792488137271-747392015"/>
          <p:cNvSpPr/>
          <p:nvPr/>
        </p:nvSpPr>
        <p:spPr>
          <a:xfrm flipH="1">
            <a:off x="7124700" y="5695950"/>
            <a:ext cx="44196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med" len="lg"/>
          </a:ln>
        </p:spPr>
      </p:sp>
      <p:sp>
        <p:nvSpPr>
          <p:cNvPr id="20" name="Text 18"/>
          <p:cNvSpPr/>
          <p:nvPr/>
        </p:nvSpPr>
        <p:spPr>
          <a:xfrm>
            <a:off x="7239000" y="5257800"/>
            <a:ext cx="4191000" cy="381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Vector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1536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endParaRPr lang="en-US" sz="1950" dirty="0"/>
          </a:p>
        </p:txBody>
      </p:sp>
      <p:sp>
        <p:nvSpPr>
          <p:cNvPr id="21" name="Connector line-1792488137273-219854808"/>
          <p:cNvSpPr/>
          <p:nvPr/>
        </p:nvSpPr>
        <p:spPr>
          <a:xfrm>
            <a:off x="7124700" y="6610350"/>
            <a:ext cx="8610600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 w="med" len="lg"/>
          </a:ln>
        </p:spPr>
      </p:sp>
      <p:sp>
        <p:nvSpPr>
          <p:cNvPr id="22" name="Text 20"/>
          <p:cNvSpPr/>
          <p:nvPr/>
        </p:nvSpPr>
        <p:spPr>
          <a:xfrm>
            <a:off x="7239000" y="6172200"/>
            <a:ext cx="8382000" cy="381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dirty="0" spc="0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So cosin</a:t>
            </a:r>
            <a:r>
              <a:rPr lang="en-US" sz="1950" dirty="0" spc="-7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1950" dirty="0" spc="17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1950" dirty="0" spc="-1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vector</a:t>
            </a:r>
            <a:endParaRPr lang="en-US" sz="1950" dirty="0"/>
          </a:p>
        </p:txBody>
      </p:sp>
      <p:sp>
        <p:nvSpPr>
          <p:cNvPr id="23" name="Connector line-1792488137275-623128083"/>
          <p:cNvSpPr/>
          <p:nvPr/>
        </p:nvSpPr>
        <p:spPr>
          <a:xfrm flipH="1">
            <a:off x="7124700" y="7524750"/>
            <a:ext cx="8610600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 w="med" len="lg"/>
          </a:ln>
        </p:spPr>
      </p:sp>
      <p:sp>
        <p:nvSpPr>
          <p:cNvPr id="24" name="Text 22"/>
          <p:cNvSpPr/>
          <p:nvPr/>
        </p:nvSpPr>
        <p:spPr>
          <a:xfrm>
            <a:off x="7239000" y="7086600"/>
            <a:ext cx="8382000" cy="381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dirty="0" spc="5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</a:t>
            </a:r>
            <a:r>
              <a:rPr lang="en-US" sz="1950" dirty="0" spc="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đoạn</a:t>
            </a:r>
            <a:r>
              <a:rPr lang="en-US" sz="1950" dirty="0" spc="-5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gần</a:t>
            </a:r>
            <a:r>
              <a:rPr lang="en-US" sz="1950" dirty="0" spc="-9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endParaRPr lang="en-US" sz="1950" dirty="0"/>
          </a:p>
        </p:txBody>
      </p:sp>
      <p:sp>
        <p:nvSpPr>
          <p:cNvPr id="25" name="Connector line-1792488137278-869042788"/>
          <p:cNvSpPr/>
          <p:nvPr/>
        </p:nvSpPr>
        <p:spPr>
          <a:xfrm flipH="1">
            <a:off x="2552700" y="8439150"/>
            <a:ext cx="44196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med" len="lg"/>
          </a:ln>
        </p:spPr>
      </p:sp>
      <p:sp>
        <p:nvSpPr>
          <p:cNvPr id="26" name="Text 24"/>
          <p:cNvSpPr/>
          <p:nvPr/>
        </p:nvSpPr>
        <p:spPr>
          <a:xfrm>
            <a:off x="2667000" y="8001000"/>
            <a:ext cx="4191000" cy="381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Link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video, đúng phút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8" name="Shape 26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9" name="Shape 27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0" name="Shape 28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1" name="Shape 29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2" name="Shape 30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3" name="Shape 31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4" name="Shape 32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6" name="Shape 34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7" name="Shape 35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8" name="Text 36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08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08/11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5f73cb2e-97fe-4d37-907b-15a020a4bb9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72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19075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7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7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Azure,</a:t>
            </a:r>
            <a:r>
              <a:rPr lang="en-US" sz="27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3.10</a:t>
            </a:r>
            <a:r>
              <a:rPr lang="en-US" sz="2700" dirty="0" spc="-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257800" cy="2571750"/>
          </a:xfrm>
          <a:prstGeom prst="roundRect">
            <a:avLst>
              <a:gd name="adj" fmla="val 888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409950"/>
            <a:ext cx="95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257300" y="4133850"/>
            <a:ext cx="4572000" cy="5334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Shell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57300" y="4781550"/>
            <a:ext cx="4572000" cy="7620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Azure</a:t>
            </a:r>
            <a:r>
              <a:rPr lang="en-US" sz="210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portal,</a:t>
            </a:r>
            <a:r>
              <a:rPr lang="en-US" sz="21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chọn</a:t>
            </a:r>
            <a:r>
              <a:rPr lang="en-US" sz="21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Bash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515100" y="3143250"/>
            <a:ext cx="5257800" cy="2571750"/>
          </a:xfrm>
          <a:prstGeom prst="roundRect">
            <a:avLst>
              <a:gd name="adj" fmla="val 888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3409950"/>
            <a:ext cx="95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858000" y="4133850"/>
            <a:ext cx="4572000" cy="5334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8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resource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group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0" y="4781550"/>
            <a:ext cx="4572000" cy="762000"/>
          </a:xfrm>
          <a:prstGeom prst="rect">
            <a:avLst/>
          </a:prstGeom>
          <a:noFill/>
          <a:ln/>
        </p:spPr>
        <p:txBody>
          <a:bodyPr wrap="square" lIns="0" tIns="10859" rIns="0" bIns="-10859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5" kern="0">
                <a:solidFill>
                  <a:srgbClr val="14161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az group create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115800" y="3143250"/>
            <a:ext cx="5257800" cy="2571750"/>
          </a:xfrm>
          <a:prstGeom prst="roundRect">
            <a:avLst>
              <a:gd name="adj" fmla="val 888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58700" y="3409950"/>
            <a:ext cx="95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2458700" y="4133850"/>
            <a:ext cx="4572000" cy="5334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8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OpenAI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2458700" y="4781550"/>
            <a:ext cx="4572000" cy="762000"/>
          </a:xfrm>
          <a:prstGeom prst="rect">
            <a:avLst/>
          </a:prstGeom>
          <a:noFill/>
          <a:ln/>
        </p:spPr>
        <p:txBody>
          <a:bodyPr wrap="square" lIns="0" tIns="10859" rIns="0" bIns="-10859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5" kern="0">
                <a:solidFill>
                  <a:srgbClr val="14161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az cognitiveservices account create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6000750"/>
            <a:ext cx="5257800" cy="2571750"/>
          </a:xfrm>
          <a:prstGeom prst="roundRect">
            <a:avLst>
              <a:gd name="adj" fmla="val 888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57300" y="6267450"/>
            <a:ext cx="95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257300" y="6991350"/>
            <a:ext cx="4572000" cy="5334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endpoint</a:t>
            </a:r>
            <a:r>
              <a:rPr lang="en-US" sz="270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257300" y="7639050"/>
            <a:ext cx="4572000" cy="7620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dùng</a:t>
            </a:r>
            <a:r>
              <a:rPr lang="en-US" sz="21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100" dirty="0" spc="19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ứng</a:t>
            </a:r>
            <a:r>
              <a:rPr lang="en-US" sz="21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dụng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515100" y="6000750"/>
            <a:ext cx="5257800" cy="2571750"/>
          </a:xfrm>
          <a:prstGeom prst="roundRect">
            <a:avLst>
              <a:gd name="adj" fmla="val 888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6267450"/>
            <a:ext cx="95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858000" y="6991350"/>
            <a:ext cx="4572000" cy="5334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Triển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6858000" y="7639050"/>
            <a:ext cx="4572000" cy="762000"/>
          </a:xfrm>
          <a:prstGeom prst="rect">
            <a:avLst/>
          </a:prstGeom>
          <a:noFill/>
          <a:ln/>
        </p:spPr>
        <p:txBody>
          <a:bodyPr wrap="square" lIns="0" tIns="10859" rIns="0" bIns="-10859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5" kern="0">
                <a:solidFill>
                  <a:srgbClr val="14161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text-embedding-ada-002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115800" y="6000750"/>
            <a:ext cx="5257800" cy="2571750"/>
          </a:xfrm>
          <a:prstGeom prst="roundRect">
            <a:avLst>
              <a:gd name="adj" fmla="val 888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458700" y="6267450"/>
            <a:ext cx="95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12458700" y="6991350"/>
            <a:ext cx="4572000" cy="5334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notebook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12458700" y="7639050"/>
            <a:ext cx="4572000" cy="7620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GitHub</a:t>
            </a:r>
            <a:r>
              <a:rPr lang="en-US" sz="21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Codespaces,</a:t>
            </a:r>
            <a:r>
              <a:rPr lang="en-US" sz="2100" dirty="0" spc="-1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gõ</a:t>
            </a:r>
            <a:r>
              <a:rPr lang="en-US" sz="21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câu</a:t>
            </a:r>
            <a:r>
              <a:rPr lang="en-US" sz="21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hỏi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9" name="Shape 27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0" name="Shape 28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1" name="Shape 29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2" name="Shape 30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3" name="Shape 31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4" name="Shape 32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5" name="Shape 33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6" name="Shape 34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7" name="Shape 35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8" name="Shape 36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9" name="Text 37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08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09/11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60c27aec-2d88-4e19-9971-e585914a724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Bạn</a:t>
            </a:r>
            <a:r>
              <a:rPr lang="en-US" sz="27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gõ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“chiếc</a:t>
            </a:r>
            <a:r>
              <a:rPr lang="en-US" sz="2700" dirty="0" spc="-3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xe</a:t>
            </a:r>
            <a:r>
              <a:rPr lang="en-US" sz="27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mơ”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vì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muốn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mua</a:t>
            </a:r>
            <a:r>
              <a:rPr lang="en-US" sz="270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xe.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Cách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hiểu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đúng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ý,</a:t>
            </a:r>
            <a:r>
              <a:rPr lang="en-US" sz="2700" dirty="0" spc="-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7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so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gì?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3850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4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343150" y="2857500"/>
            <a:ext cx="619125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khóa,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</a:t>
            </a:r>
            <a:r>
              <a:rPr lang="en-US" sz="2700" dirty="0" spc="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chữ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1905000"/>
          </a:xfrm>
          <a:prstGeom prst="roundRect">
            <a:avLst>
              <a:gd name="adj" fmla="val 12000"/>
            </a:avLst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323850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10801350" y="2857500"/>
            <a:ext cx="619125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Theo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nghĩa,</a:t>
            </a: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góc</a:t>
            </a:r>
            <a:r>
              <a:rPr lang="en-US" sz="27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vector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048250"/>
            <a:ext cx="8001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42925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2343150" y="5048250"/>
            <a:ext cx="619125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Theo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nghĩa,</a:t>
            </a: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</a:t>
            </a:r>
            <a:r>
              <a:rPr lang="en-US" sz="27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dài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72600" y="5048250"/>
            <a:ext cx="8001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53600" y="542925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1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10801350" y="5048250"/>
            <a:ext cx="619125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khóa,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 số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chữ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trùng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7524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500" y="7524750"/>
            <a:ext cx="156210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B.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vector,</a:t>
            </a:r>
            <a:r>
              <a:rPr lang="en-US" sz="255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tìm</a:t>
            </a:r>
            <a:r>
              <a:rPr lang="en-US" sz="25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vector</a:t>
            </a:r>
            <a:r>
              <a:rPr lang="en-US" sz="25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gần</a:t>
            </a:r>
            <a:r>
              <a:rPr lang="en-US" sz="25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5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25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tương</a:t>
            </a:r>
            <a:r>
              <a:rPr lang="en-US" sz="25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cosin.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9" name="Shape 17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0" name="Shape 18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Shape 22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5" name="Shape 23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Shape 24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Shape 25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9" name="Text 27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08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10/11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9bae8260-6921-4936-9b2b-dfe47359d95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2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164592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381250"/>
            <a:ext cx="2476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LLM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000500" y="2381250"/>
            <a:ext cx="12954000" cy="8382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Large</a:t>
            </a: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Language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Model: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ngôn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ngữ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lớn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3371850"/>
            <a:ext cx="164592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371850"/>
            <a:ext cx="2476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000500" y="3371850"/>
            <a:ext cx="12954000" cy="8382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Artificial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Intelligence:</a:t>
            </a:r>
            <a:r>
              <a:rPr lang="en-US" sz="2550" dirty="0" spc="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trí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tuệ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tạo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4362450"/>
            <a:ext cx="164592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4362450"/>
            <a:ext cx="2476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4000500" y="4362450"/>
            <a:ext cx="12954000" cy="8382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Application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Programming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Interface: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giao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diện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lập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5353050"/>
            <a:ext cx="164592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353050"/>
            <a:ext cx="2476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JSON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4000500" y="5353050"/>
            <a:ext cx="12954000" cy="8382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JavaScript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Object Notation:</a:t>
            </a:r>
            <a:r>
              <a:rPr lang="en-US" sz="2550" dirty="0" spc="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dạng</a:t>
            </a:r>
            <a:r>
              <a:rPr lang="en-US" sz="25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file</a:t>
            </a:r>
            <a:r>
              <a:rPr lang="en-US" sz="2550" dirty="0" spc="2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lưu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 liệu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6343650"/>
            <a:ext cx="164592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6343650"/>
            <a:ext cx="2476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ML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4000500" y="6343650"/>
            <a:ext cx="12954000" cy="8382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Machine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Learning: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học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14400" y="7620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8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Dựa</a:t>
            </a:r>
            <a:r>
              <a:rPr lang="en-US" sz="2100" dirty="0" spc="-17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10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210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08</a:t>
            </a:r>
            <a:r>
              <a:rPr lang="en-US" sz="210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100" dirty="0" spc="-1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microsoft/generative-ai-for-beginners</a:t>
            </a:r>
            <a:r>
              <a:rPr lang="en-US" sz="2100" dirty="0" spc="-4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(MIT License,</a:t>
            </a:r>
            <a:r>
              <a:rPr lang="en-US" sz="2100" dirty="0" spc="-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©</a:t>
            </a:r>
            <a:r>
              <a:rPr lang="en-US" sz="2100" dirty="0" spc="-1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</a:t>
            </a:r>
            <a:r>
              <a:rPr lang="en-US" sz="2100" dirty="0" spc="-1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Corporation).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14400" y="81915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8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github.com/microsoft/generative-ai-for-beginners</a:t>
            </a:r>
            <a:r>
              <a:rPr lang="en-US" sz="19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9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commit</a:t>
            </a:r>
            <a:r>
              <a:rPr lang="en-US" sz="19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c35bc19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2" name="Shape 20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3" name="Shape 21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4" name="Shape 22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5" name="Shape 23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6" name="Shape 24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7" name="Shape 25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8" name="Shape 26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9" name="Shape 27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0" name="Shape 28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Text 29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08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11/11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ef78a50d-bd1f-4d49-a297-5dfabde13b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2026-10-20T09:29:01Z</dcterms:created>
  <dcterms:modified xsi:type="dcterms:W3CDTF">2026-10-20T09:29:01Z</dcterms:modified>
</cp:coreProperties>
</file>