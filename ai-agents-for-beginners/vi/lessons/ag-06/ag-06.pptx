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1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0"/>
    </p:embeddedFont>
    <p:embeddedFont>
      <p:font typeface="Be Vietnam Pro Semi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429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4287500" cy="2476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Xây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8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78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78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cậy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1238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6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3300" dirty="0" spc="-8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3300" dirty="0" spc="13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3300" dirty="0" spc="-19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3300" dirty="0" spc="11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vừa</a:t>
            </a:r>
            <a:r>
              <a:rPr lang="en-US" sz="3300" dirty="0" spc="1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an</a:t>
            </a:r>
            <a:r>
              <a:rPr lang="en-US" sz="3300" dirty="0" spc="-13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toàn</a:t>
            </a:r>
            <a:r>
              <a:rPr lang="en-US" sz="3300" dirty="0" spc="10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vừa</a:t>
            </a:r>
            <a:r>
              <a:rPr lang="en-US" sz="3300" dirty="0" spc="-2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</a:t>
            </a:r>
            <a:r>
              <a:rPr lang="en-US" sz="3300" dirty="0" spc="3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4668500" y="4000500"/>
            <a:ext cx="2286000" cy="1905000"/>
          </a:xfrm>
          <a:prstGeom prst="roundRect">
            <a:avLst>
              <a:gd name="adj" fmla="val 14000"/>
            </a:avLst>
          </a:prstGeom>
          <a:solidFill>
            <a:srgbClr val="3DD6A0"/>
          </a:solidFill>
          <a:ln/>
        </p:spPr>
      </p:sp>
      <p:sp>
        <p:nvSpPr>
          <p:cNvPr id="7" name="Shape 5"/>
          <p:cNvSpPr/>
          <p:nvPr/>
        </p:nvSpPr>
        <p:spPr>
          <a:xfrm>
            <a:off x="15049500" y="2857500"/>
            <a:ext cx="1524000" cy="1714500"/>
          </a:xfrm>
          <a:prstGeom prst="roundRect">
            <a:avLst>
              <a:gd name="adj" fmla="val 50000"/>
            </a:avLst>
          </a:prstGeom>
          <a:noFill/>
          <a:ln w="20955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63850" y="451485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667500"/>
            <a:ext cx="53340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77000" y="6667500"/>
            <a:ext cx="40005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 mối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06100" y="6667500"/>
            <a:ext cx="53340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180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1800" dirty="0" spc="-1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80be2fae-c6bc-46a7-9ab8-f170e2477d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5143500" cy="5905500"/>
          </a:xfrm>
          <a:prstGeom prst="roundRect">
            <a:avLst>
              <a:gd name="adj" fmla="val 5185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295400" y="4286250"/>
            <a:ext cx="4381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33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3300" dirty="0"/>
          </a:p>
          <a:p>
            <a:pPr algn="l" indent="0" marL="0">
              <a:buNone/>
            </a:pPr>
            <a:r>
              <a:rPr lang="en-US" sz="255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và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thiểu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572250" y="2476500"/>
            <a:ext cx="5143500" cy="5905500"/>
          </a:xfrm>
          <a:prstGeom prst="roundRect">
            <a:avLst>
              <a:gd name="adj" fmla="val 5185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6953250" y="276225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6953250" y="4286250"/>
            <a:ext cx="4381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33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3300" dirty="0"/>
          </a:p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dữ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cập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 đúng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2230100" y="2476500"/>
            <a:ext cx="5143500" cy="5905500"/>
          </a:xfrm>
          <a:prstGeom prst="roundRect">
            <a:avLst>
              <a:gd name="adj" fmla="val 5185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2611100" y="276225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12611100" y="4286250"/>
            <a:ext cx="4381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3300" dirty="0"/>
          </a:p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giữ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tư,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nghiệm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tốt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47ddf2b1-ea9e-46fc-8f10-234019601c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Khung</a:t>
            </a:r>
            <a:r>
              <a:rPr lang="en-US" sz="675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system</a:t>
            </a:r>
            <a:r>
              <a:rPr lang="en-US" sz="675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message:</a:t>
            </a:r>
            <a:r>
              <a:rPr lang="en-US" sz="67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675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75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000250"/>
            <a:ext cx="1524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3143250" y="2000250"/>
            <a:ext cx="1371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</a:t>
            </a:r>
            <a:r>
              <a:rPr lang="en-US" sz="30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endParaRPr lang="en-US" sz="3000" dirty="0"/>
          </a:p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mẫu</a:t>
            </a:r>
            <a:r>
              <a:rPr lang="en-US" sz="22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LLM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</a:t>
            </a:r>
            <a:r>
              <a:rPr lang="en-US" sz="22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system</a:t>
            </a:r>
            <a:r>
              <a:rPr lang="en-US" sz="22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3810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810000"/>
            <a:ext cx="1524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3143250" y="3810000"/>
            <a:ext cx="1371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3000" dirty="0"/>
          </a:p>
          <a:p>
            <a:pPr algn="l" indent="0" marL="0"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vai trò,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2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2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trách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nhiệm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2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56197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5619750"/>
            <a:ext cx="1524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3143250" y="5619750"/>
            <a:ext cx="1371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3000" dirty="0"/>
          </a:p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nhận</a:t>
            </a:r>
            <a:r>
              <a:rPr lang="en-US" sz="22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2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system</a:t>
            </a: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message</a:t>
            </a:r>
            <a:r>
              <a:rPr lang="en-US" sz="22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thiết</a:t>
            </a:r>
            <a:r>
              <a:rPr lang="en-US" sz="2250" dirty="0" spc="-3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2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tốt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429500"/>
            <a:ext cx="1524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500" dirty="0"/>
          </a:p>
        </p:txBody>
      </p:sp>
      <p:sp>
        <p:nvSpPr>
          <p:cNvPr id="14" name="Text 12"/>
          <p:cNvSpPr/>
          <p:nvPr/>
        </p:nvSpPr>
        <p:spPr>
          <a:xfrm>
            <a:off x="3143250" y="7429500"/>
            <a:ext cx="1371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endParaRPr lang="en-US" sz="3000" dirty="0"/>
          </a:p>
          <a:p>
            <a:pPr algn="l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chỉnh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nhỏ,</a:t>
            </a:r>
            <a:r>
              <a:rPr lang="en-US" sz="22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lại, so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sánh</a:t>
            </a:r>
            <a:r>
              <a:rPr lang="en-US" sz="225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57062a7-ece3-4849-b972-3d9ce26f25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qua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095500"/>
            <a:ext cx="6667500" cy="666750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95500"/>
            <a:ext cx="6667500" cy="1905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19375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9" kern="0">
                <a:solidFill>
                  <a:srgbClr val="B8B5A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3150" b="1" dirty="0" spc="-10" kern="0">
                <a:solidFill>
                  <a:srgbClr val="B8B5A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150" b="1" dirty="0" spc="-1" kern="0">
                <a:solidFill>
                  <a:srgbClr val="B8B5A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3150" dirty="0"/>
          </a:p>
        </p:txBody>
      </p:sp>
      <p:sp>
        <p:nvSpPr>
          <p:cNvPr id="6" name="Text richtext-1792493191209-401332448"/>
          <p:cNvSpPr/>
          <p:nvPr/>
        </p:nvSpPr>
        <p:spPr>
          <a:xfrm>
            <a:off x="1295400" y="3762375"/>
            <a:ext cx="59055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Nhân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viên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lịch của</a:t>
            </a:r>
            <a:r>
              <a:rPr lang="en-US" sz="240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Contoso</a:t>
            </a:r>
            <a:r>
              <a:rPr lang="en-US" sz="2400" dirty="0" spc="-4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Travel</a:t>
            </a:r>
            <a:endParaRPr lang="en-US" sz="2400" dirty="0"/>
          </a:p>
          <a:p>
            <a:pPr algn="l" marL="304800" indent="-21776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-7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Tra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chuyến,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24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vé,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hỏi</a:t>
            </a:r>
            <a:r>
              <a:rPr lang="en-US" sz="24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sở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Hủy</a:t>
            </a:r>
            <a:r>
              <a:rPr lang="en-US" sz="240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vé,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</a:t>
            </a:r>
            <a:r>
              <a:rPr lang="en-US" sz="24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chuyến</a:t>
            </a:r>
            <a:r>
              <a:rPr lang="en-US" sz="240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trễ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191500" y="2095500"/>
            <a:ext cx="9182100" cy="666750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8191500" y="2095500"/>
            <a:ext cx="9182100" cy="190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0" y="2619375"/>
            <a:ext cx="838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31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315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1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150" dirty="0"/>
          </a:p>
        </p:txBody>
      </p:sp>
      <p:sp>
        <p:nvSpPr>
          <p:cNvPr id="10" name="Text richtext-1792493191232-788210502"/>
          <p:cNvSpPr/>
          <p:nvPr/>
        </p:nvSpPr>
        <p:spPr>
          <a:xfrm>
            <a:off x="8572500" y="3762375"/>
            <a:ext cx="8382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95275" indent="-210956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325" dirty="0" spc="-7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r>
              <a:rPr lang="en-US" sz="2325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 ty</a:t>
            </a:r>
            <a:r>
              <a:rPr lang="en-US" sz="2325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325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</a:t>
            </a:r>
            <a:r>
              <a:rPr lang="en-US" sz="2325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endParaRPr lang="en-US" sz="2325" dirty="0"/>
          </a:p>
          <a:p>
            <a:pPr algn="l" marL="295275" indent="-210956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325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Mục</a:t>
            </a:r>
            <a:r>
              <a:rPr lang="en-US" sz="2325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2325" dirty="0"/>
          </a:p>
          <a:p>
            <a:pPr algn="l" marL="295275" indent="-210956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325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2325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trách</a:t>
            </a:r>
            <a:r>
              <a:rPr lang="en-US" sz="2325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r>
              <a:rPr lang="en-US" sz="2325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endParaRPr lang="en-US" sz="2325" dirty="0"/>
          </a:p>
          <a:p>
            <a:pPr algn="l" marL="295275" indent="-210956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325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Giọng</a:t>
            </a:r>
            <a:r>
              <a:rPr lang="en-US" sz="2325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điệu</a:t>
            </a:r>
            <a:endParaRPr lang="en-US" sz="2325" dirty="0"/>
          </a:p>
          <a:p>
            <a:pPr algn="l" marL="295275" indent="-210956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325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Hướng</a:t>
            </a:r>
            <a:r>
              <a:rPr lang="en-US" sz="2325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325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325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325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325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325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325" dirty="0"/>
          </a:p>
          <a:p>
            <a:pPr algn="l" marL="295275" indent="-210956">
              <a:buSzPct val="100000"/>
              <a:buFont typeface="Arial"/>
              <a:buChar char="•"/>
            </a:pPr>
            <a:r>
              <a:rPr lang="en-US" sz="2325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2325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325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bổ sung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04/11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32d73ffd-e497-419c-93ff-5d90b42503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81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 mối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đe</a:t>
            </a: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dọa</a:t>
            </a:r>
            <a:endParaRPr lang="en-US" sz="7200" dirty="0"/>
          </a:p>
        </p:txBody>
      </p:sp>
      <p:sp>
        <p:nvSpPr>
          <p:cNvPr id="3" name="Connector line-1792493206022-813379640"/>
          <p:cNvSpPr/>
          <p:nvPr/>
        </p:nvSpPr>
        <p:spPr>
          <a:xfrm>
            <a:off x="5676900" y="3048000"/>
            <a:ext cx="2419350" cy="142875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4" name="Connector line-1792493206023-535170314"/>
          <p:cNvSpPr/>
          <p:nvPr/>
        </p:nvSpPr>
        <p:spPr>
          <a:xfrm flipV="1">
            <a:off x="5676900" y="5334000"/>
            <a:ext cx="2133600" cy="9525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5" name="Connector line-1792493206023-196608355"/>
          <p:cNvSpPr/>
          <p:nvPr/>
        </p:nvSpPr>
        <p:spPr>
          <a:xfrm flipH="1">
            <a:off x="10191750" y="3048000"/>
            <a:ext cx="2419350" cy="142875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6" name="Connector line-1792493206023-872883485"/>
          <p:cNvSpPr/>
          <p:nvPr/>
        </p:nvSpPr>
        <p:spPr>
          <a:xfrm flipH="1" flipV="1">
            <a:off x="10477500" y="5334000"/>
            <a:ext cx="2133600" cy="9525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7" name="Connector line-1792493206023-212700469"/>
          <p:cNvSpPr/>
          <p:nvPr/>
        </p:nvSpPr>
        <p:spPr>
          <a:xfrm flipV="1">
            <a:off x="9144000" y="6572250"/>
            <a:ext cx="0" cy="952500"/>
          </a:xfrm>
          <a:prstGeom prst="line">
            <a:avLst/>
          </a:prstGeom>
          <a:noFill/>
          <a:ln w="47625">
            <a:solidFill>
              <a:srgbClr val="C2310F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810500" y="3905250"/>
            <a:ext cx="2667000" cy="2667000"/>
          </a:xfrm>
          <a:prstGeom prst="ellipse">
            <a:avLst/>
          </a:prstGeom>
          <a:solidFill>
            <a:srgbClr val="C2310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47625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dirty="0" spc="-19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4762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Nhiệm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4667250"/>
            <a:ext cx="4762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550" dirty="0"/>
          </a:p>
          <a:p>
            <a:pPr algn="ctr" indent="0" marL="0"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611100" y="2286000"/>
            <a:ext cx="4762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 tải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550" dirty="0"/>
          </a:p>
          <a:p>
            <a:pPr algn="ctr" indent="0" marL="0">
              <a:buNone/>
            </a:pP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611100" y="4667250"/>
            <a:ext cx="4762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762750" y="7524750"/>
            <a:ext cx="47625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chuyền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05/11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dcb6613-f325-445b-a250-b84c2b1f77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810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 giảm</a:t>
            </a:r>
            <a:r>
              <a:rPr lang="en-US" sz="67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7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mối</a:t>
            </a:r>
            <a:r>
              <a:rPr lang="en-US" sz="675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đe</a:t>
            </a:r>
            <a:r>
              <a:rPr lang="en-US" sz="67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dọa</a:t>
            </a:r>
            <a:endParaRPr lang="en-US" sz="6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1925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10863072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Mối</a:t>
                      </a:r>
                      <a:r>
                        <a:rPr lang="en-US" sz="2250" b="1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đe</a:t>
                      </a:r>
                      <a:r>
                        <a:rPr lang="en-US" sz="22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dọa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31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2310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Nhiệm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Lọc</a:t>
                      </a:r>
                      <a:r>
                        <a:rPr lang="en-US" sz="2250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vào,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lệ;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giới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25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lượt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hội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thoại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Truy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cập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hệ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thống quan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trọng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Quyền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cần;</a:t>
                      </a:r>
                      <a:r>
                        <a:rPr lang="en-US" sz="225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kênh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an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toàn;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xác</a:t>
                      </a:r>
                      <a:r>
                        <a:rPr lang="en-US" sz="225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thực,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soát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cập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Quá</a:t>
                      </a: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tải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 nguyên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Giới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25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yêu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 vụ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25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lượt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hội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thoại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Đầu</a:t>
                      </a:r>
                      <a:r>
                        <a:rPr lang="en-US" sz="2250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độc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250" dirty="0" spc="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tri</a:t>
                      </a:r>
                      <a:r>
                        <a:rPr lang="en-US" sz="225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Kiểm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thường</a:t>
                      </a: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xuyên;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25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đáng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r>
                        <a:rPr lang="en-US" sz="225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250" dirty="0" spc="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Lỗi</a:t>
                      </a: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dây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chuyền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Chạy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môi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trường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giới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hạn;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phòng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fad3d7ff-014e-4d23-88f0-db8227e67f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2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2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286000" y="2000250"/>
            <a:ext cx="4000500" cy="8191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2001500" y="2000250"/>
            <a:ext cx="4000500" cy="8191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850" dirty="0"/>
          </a:p>
        </p:txBody>
      </p:sp>
      <p:sp>
        <p:nvSpPr>
          <p:cNvPr id="5" name="Connector line-1792493226871-241054977"/>
          <p:cNvSpPr/>
          <p:nvPr/>
        </p:nvSpPr>
        <p:spPr>
          <a:xfrm>
            <a:off x="4286250" y="2914650"/>
            <a:ext cx="0" cy="470535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6" name="Connector line-1792493226871-990204822"/>
          <p:cNvSpPr/>
          <p:nvPr/>
        </p:nvSpPr>
        <p:spPr>
          <a:xfrm>
            <a:off x="14001750" y="2914650"/>
            <a:ext cx="0" cy="470535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4476750" y="3543300"/>
            <a:ext cx="933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nháp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endParaRPr lang="en-US" sz="2550" dirty="0"/>
          </a:p>
        </p:txBody>
      </p:sp>
      <p:sp>
        <p:nvSpPr>
          <p:cNvPr id="8" name="Connector line-1792493226873-463323976"/>
          <p:cNvSpPr/>
          <p:nvPr/>
        </p:nvSpPr>
        <p:spPr>
          <a:xfrm>
            <a:off x="4286250" y="4191000"/>
            <a:ext cx="962025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476750" y="4972050"/>
            <a:ext cx="933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Duyệt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 từ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</a:t>
            </a:r>
            <a:endParaRPr lang="en-US" sz="2550" dirty="0"/>
          </a:p>
        </p:txBody>
      </p:sp>
      <p:sp>
        <p:nvSpPr>
          <p:cNvPr id="10" name="Connector line-1792493226876-734613360"/>
          <p:cNvSpPr/>
          <p:nvPr/>
        </p:nvSpPr>
        <p:spPr>
          <a:xfrm flipH="1">
            <a:off x="4381500" y="5619750"/>
            <a:ext cx="96202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381250" y="6191250"/>
            <a:ext cx="3810000" cy="952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Chốt,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80010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800100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như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agent:</a:t>
            </a:r>
            <a:r>
              <a:rPr lang="en-US" sz="27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47af3871-d04a-42b2-b905-adeaa86a95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 giảm,</a:t>
            </a:r>
            <a:r>
              <a:rPr lang="en-US" sz="72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gom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0002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3048000" y="2000250"/>
            <a:ext cx="13906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hạn: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lọc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vào,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676400" y="4286250"/>
            <a:ext cx="14935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5500" y="42862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3810000" y="4286250"/>
            <a:ext cx="1238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Quyền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hạn: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thiểu,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toàn,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thực,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438400" y="6572250"/>
            <a:ext cx="13411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7500" y="6572250"/>
            <a:ext cx="190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4572000" y="6572250"/>
            <a:ext cx="1085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Chống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môi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hạn,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08/11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3eb4036d-38f6-4666-ab0e-38e52c74c3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luận: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5257800" cy="5715000"/>
          </a:xfrm>
          <a:prstGeom prst="roundRect">
            <a:avLst>
              <a:gd name="adj" fmla="val 507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476500"/>
            <a:ext cx="4495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4800" dirty="0" spc="-3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95400" y="3619500"/>
            <a:ext cx="44958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Dùng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meta</a:t>
            </a:r>
            <a:r>
              <a:rPr lang="en-US" sz="27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prompt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cấu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trúc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270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system</a:t>
            </a:r>
            <a:r>
              <a:rPr lang="en-US" sz="27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message.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15100" y="2190750"/>
            <a:ext cx="5257800" cy="5715000"/>
          </a:xfrm>
          <a:prstGeom prst="roundRect">
            <a:avLst>
              <a:gd name="adj" fmla="val 507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2476500"/>
            <a:ext cx="4495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</a:t>
            </a:r>
            <a:r>
              <a:rPr lang="en-US" sz="48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96100" y="3619500"/>
            <a:ext cx="44958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Hiểu các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mối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dọa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áp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 cách giảm thiểu.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2115800" y="2190750"/>
            <a:ext cx="5257800" cy="5715000"/>
          </a:xfrm>
          <a:prstGeom prst="roundRect">
            <a:avLst>
              <a:gd name="adj" fmla="val 507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96800" y="2476500"/>
            <a:ext cx="4495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</a:t>
            </a:r>
            <a:r>
              <a:rPr lang="en-US" sz="4800" dirty="0" spc="-4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2496800" y="3619500"/>
            <a:ext cx="44958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</a:t>
            </a:r>
            <a:r>
              <a:rPr lang="en-US" sz="27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bám</a:t>
            </a:r>
            <a:r>
              <a:rPr lang="en-US" sz="27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sát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nhu cầu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rủi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ro.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419f024d-3896-4cdc-8d89-42c0f13ea5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52400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Kẻ</a:t>
            </a:r>
            <a:r>
              <a:rPr lang="en-US" sz="4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tấn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480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4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loạt</a:t>
            </a:r>
            <a:r>
              <a:rPr lang="en-US" sz="4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48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48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48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vụ,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thống</a:t>
            </a:r>
            <a:r>
              <a:rPr lang="en-US" sz="4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48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 kém.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r>
              <a:rPr lang="en-US" sz="4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mối</a:t>
            </a:r>
            <a:r>
              <a:rPr lang="en-US" sz="48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đe</a:t>
            </a:r>
            <a:r>
              <a:rPr lang="en-US" sz="4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dọa</a:t>
            </a:r>
            <a:r>
              <a:rPr lang="en-US" sz="4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nào,</a:t>
            </a:r>
            <a:r>
              <a:rPr lang="en-US" sz="48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 giảm</a:t>
            </a:r>
            <a:r>
              <a:rPr lang="en-US" sz="4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4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524000" y="7048500"/>
            <a:ext cx="15240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05000" y="7048500"/>
            <a:ext cx="1447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Gợi</a:t>
            </a:r>
            <a:r>
              <a:rPr lang="en-US" sz="25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ý:</a:t>
            </a:r>
            <a:r>
              <a:rPr lang="en-US" sz="2550" dirty="0" spc="-1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 slide</a:t>
            </a:r>
            <a:r>
              <a:rPr lang="en-US" sz="25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"Năm</a:t>
            </a:r>
            <a:r>
              <a:rPr lang="en-US" sz="25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mối</a:t>
            </a:r>
            <a:r>
              <a:rPr lang="en-US" sz="2550" dirty="0" spc="17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</a:t>
            </a:r>
            <a:r>
              <a:rPr lang="en-US" sz="2550" dirty="0" spc="-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dọa"</a:t>
            </a:r>
            <a:r>
              <a:rPr lang="en-US" sz="2550" dirty="0" spc="-2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"Cách</a:t>
            </a:r>
            <a:r>
              <a:rPr lang="en-US" sz="25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giảm"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c0e33cbc-6b8d-4810-a6d4-e6d57b6e72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7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09750"/>
          <a:ext cx="13716000" cy="914400"/>
        </p:xfrm>
        <a:graphic>
          <a:graphicData uri="http://schemas.openxmlformats.org/drawingml/2006/table">
            <a:tbl>
              <a:tblPr/>
              <a:tblGrid>
                <a:gridCol w="4608576"/>
                <a:gridCol w="11850624"/>
              </a:tblGrid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Thuật</a:t>
                      </a:r>
                      <a:r>
                        <a:rPr lang="en-US" sz="225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D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D1F5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System</a:t>
                      </a:r>
                      <a:r>
                        <a:rPr lang="en-US" sz="22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message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nền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đặt</a:t>
                      </a:r>
                      <a:r>
                        <a:rPr lang="en-US" sz="22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luật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chơi cho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Meta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prompt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Lời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nhắc</a:t>
                      </a:r>
                      <a:r>
                        <a:rPr lang="en-US" sz="2250" dirty="0" spc="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LLM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2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viết</a:t>
                      </a:r>
                      <a:r>
                        <a:rPr lang="en-US" sz="22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system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prompt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25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Docker</a:t>
                      </a:r>
                      <a:r>
                        <a:rPr lang="en-US" sz="22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container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Môi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trường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tách</a:t>
                      </a:r>
                      <a:r>
                        <a:rPr lang="en-US" sz="22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biệt,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bị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giới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Human-in-the-loop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25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đưa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phản hồi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đang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33fe73d6-7f98-4844-81cd-812eb91830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2026-10-20T10:51:38Z</dcterms:created>
  <dcterms:modified xsi:type="dcterms:W3CDTF">2026-10-20T10:51:38Z</dcterms:modified>
</cp:coreProperties>
</file>