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embeddedFontLst>
    <p:embeddedFont>
      <p:font typeface="Be Vietnam Pro"/>
      <p:regular r:id="rId23"/>
      <p:bold r:id="rId19"/>
    </p:embeddedFont>
    <p:embeddedFont>
      <p:font typeface="Bricolage Grotesque ExtraBold"/>
      <p:regular r:id="rId20"/>
    </p:embeddedFont>
    <p:embeddedFont>
      <p:font typeface="Be Vietnam Pro Medium"/>
      <p:regular r:id="rId21"/>
    </p:embeddedFont>
    <p:embeddedFont>
      <p:font typeface="Be Vietnam Pro SemiBold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133350" cy="13335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7429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950" b="1" spc="21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9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b="1" spc="22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619250"/>
            <a:ext cx="14287500" cy="285750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Agentic</a:t>
            </a:r>
            <a:r>
              <a:rPr lang="en-US" sz="75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RAG:</a:t>
            </a:r>
            <a:endParaRPr lang="en-US" sz="7500" dirty="0"/>
          </a:p>
          <a:p>
            <a:pPr algn="l" indent="0" marL="0">
              <a:lnSpc>
                <a:spcPts val="8100"/>
              </a:lnSpc>
              <a:buNone/>
            </a:pPr>
            <a:r>
              <a:rPr lang="en-US" sz="75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agent</a:t>
            </a:r>
            <a:r>
              <a:rPr lang="en-US" sz="75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7500" dirty="0" spc="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75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tìm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thông tin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914400" y="4476750"/>
            <a:ext cx="1238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36" kern="0">
                <a:solidFill>
                  <a:srgbClr val="FFB45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Làm</a:t>
            </a:r>
            <a:r>
              <a:rPr lang="en-US" sz="3300" dirty="0" spc="-8" kern="0">
                <a:solidFill>
                  <a:srgbClr val="FFB45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sao</a:t>
            </a:r>
            <a:r>
              <a:rPr lang="en-US" sz="3300" dirty="0" spc="13" kern="0">
                <a:solidFill>
                  <a:srgbClr val="FFB45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để</a:t>
            </a:r>
            <a:r>
              <a:rPr lang="en-US" sz="3300" dirty="0" spc="-19" kern="0">
                <a:solidFill>
                  <a:srgbClr val="FFB45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3300" dirty="0" spc="0" kern="0">
                <a:solidFill>
                  <a:srgbClr val="FFB45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tìm</a:t>
            </a:r>
            <a:r>
              <a:rPr lang="en-US" sz="3300" dirty="0" spc="-3" kern="0">
                <a:solidFill>
                  <a:srgbClr val="FFB45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3300" dirty="0" spc="-14" kern="0">
                <a:solidFill>
                  <a:srgbClr val="FFB45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tới</a:t>
            </a:r>
            <a:r>
              <a:rPr lang="en-US" sz="3300" dirty="0" spc="-1" kern="0">
                <a:solidFill>
                  <a:srgbClr val="FFB45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khi</a:t>
            </a:r>
            <a:r>
              <a:rPr lang="en-US" sz="3300" dirty="0" spc="-4" kern="0">
                <a:solidFill>
                  <a:srgbClr val="FFB45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đủ</a:t>
            </a:r>
            <a:r>
              <a:rPr lang="en-US" sz="3300" dirty="0" spc="1" kern="0">
                <a:solidFill>
                  <a:srgbClr val="FFB45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câu</a:t>
            </a:r>
            <a:r>
              <a:rPr lang="en-US" sz="3300" dirty="0" spc="-30" kern="0">
                <a:solidFill>
                  <a:srgbClr val="FFB45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trả</a:t>
            </a:r>
            <a:r>
              <a:rPr lang="en-US" sz="3300" dirty="0" spc="0" kern="0">
                <a:solidFill>
                  <a:srgbClr val="FFB45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lời?</a:t>
            </a:r>
            <a:endParaRPr lang="en-US" sz="3300" dirty="0"/>
          </a:p>
        </p:txBody>
      </p:sp>
      <p:pic>
        <p:nvPicPr>
          <p:cNvPr id="6" name="Moda flattened ellipse-1792492889731-415404384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8450" y="3124200"/>
            <a:ext cx="2705100" cy="27051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6667500"/>
            <a:ext cx="4476750" cy="8382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Agentic</a:t>
            </a:r>
            <a:r>
              <a:rPr lang="en-US" sz="240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RAG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gì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619750" y="6667500"/>
            <a:ext cx="2857500" cy="8382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Vòng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705850" y="6667500"/>
            <a:ext cx="3238500" cy="8382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8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400" b="1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2172950" y="6667500"/>
            <a:ext cx="2476500" cy="8382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9144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9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Dựa</a:t>
            </a:r>
            <a:r>
              <a:rPr lang="en-US" sz="1800" dirty="0" spc="-1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</a:t>
            </a:r>
            <a:r>
              <a:rPr lang="en-US" sz="1800" dirty="0" spc="-1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microsoft/ai-agents-for-beginners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(MIT)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3" name="Moda image moda-export-watermark-bf460ff1-8fbb-4a9a-9433-63c91704d437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giúp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2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914400" y="257175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E8E0CF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2762250"/>
            <a:ext cx="152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3143250" y="2762250"/>
            <a:ext cx="1371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Hiểu</a:t>
            </a:r>
            <a:r>
              <a:rPr lang="en-US" sz="31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Agentic</a:t>
            </a:r>
            <a:r>
              <a:rPr lang="en-US" sz="3150" dirty="0" spc="-3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RAG</a:t>
            </a:r>
            <a:r>
              <a:rPr lang="en-US" sz="31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1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</a:t>
            </a:r>
            <a:endParaRPr lang="en-US" sz="3150" dirty="0"/>
          </a:p>
        </p:txBody>
      </p:sp>
      <p:sp>
        <p:nvSpPr>
          <p:cNvPr id="6" name="Shape 4"/>
          <p:cNvSpPr/>
          <p:nvPr/>
        </p:nvSpPr>
        <p:spPr>
          <a:xfrm>
            <a:off x="914400" y="476250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E8E0CF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4953000"/>
            <a:ext cx="152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dirty="0" spc="-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3143250" y="4953000"/>
            <a:ext cx="1371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Nắm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kiểu</a:t>
            </a:r>
            <a:r>
              <a:rPr lang="en-US" sz="31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lặp</a:t>
            </a:r>
            <a:r>
              <a:rPr lang="en-US" sz="31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"người</a:t>
            </a:r>
            <a:r>
              <a:rPr lang="en-US" sz="31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làm,</a:t>
            </a:r>
            <a:r>
              <a:rPr lang="en-US" sz="31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31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kiểm"</a:t>
            </a:r>
            <a:endParaRPr lang="en-US" sz="3150" dirty="0"/>
          </a:p>
        </p:txBody>
      </p:sp>
      <p:sp>
        <p:nvSpPr>
          <p:cNvPr id="9" name="Shape 7"/>
          <p:cNvSpPr/>
          <p:nvPr/>
        </p:nvSpPr>
        <p:spPr>
          <a:xfrm>
            <a:off x="914400" y="695325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E8E0CF"/>
          </a:solidFill>
          <a:ln/>
        </p:spPr>
      </p:sp>
      <p:sp>
        <p:nvSpPr>
          <p:cNvPr id="10" name="Text 8"/>
          <p:cNvSpPr/>
          <p:nvPr/>
        </p:nvSpPr>
        <p:spPr>
          <a:xfrm>
            <a:off x="1333500" y="7143750"/>
            <a:ext cx="152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9000" dirty="0"/>
          </a:p>
        </p:txBody>
      </p:sp>
      <p:sp>
        <p:nvSpPr>
          <p:cNvPr id="11" name="Text 9"/>
          <p:cNvSpPr/>
          <p:nvPr/>
        </p:nvSpPr>
        <p:spPr>
          <a:xfrm>
            <a:off x="3143250" y="7143750"/>
            <a:ext cx="1371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Nhận</a:t>
            </a:r>
            <a:r>
              <a:rPr lang="en-US" sz="3150" dirty="0" spc="-2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tình</a:t>
            </a:r>
            <a:r>
              <a:rPr lang="en-US" sz="31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huống nó</a:t>
            </a:r>
            <a:r>
              <a:rPr lang="en-US" sz="31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phát</a:t>
            </a:r>
            <a:r>
              <a:rPr lang="en-US" sz="31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huy</a:t>
            </a:r>
            <a:r>
              <a:rPr lang="en-US" sz="31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r>
              <a:rPr lang="en-US" sz="31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914400" y="9191625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 ● ● ● ●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05</a:t>
            </a: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02/12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a2a283c2-5616-4f01-860c-d96fabcd459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Agentic</a:t>
            </a:r>
            <a:r>
              <a:rPr lang="en-US" sz="72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RAG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2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72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đặc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biệt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914400" y="2381250"/>
            <a:ext cx="3886200" cy="5905500"/>
          </a:xfrm>
          <a:prstGeom prst="roundRect">
            <a:avLst>
              <a:gd name="adj" fmla="val 6863"/>
            </a:avLst>
          </a:prstGeom>
          <a:solidFill>
            <a:srgbClr val="F3DFB8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381250"/>
            <a:ext cx="3886200" cy="190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2762250"/>
            <a:ext cx="333375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108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3150" b="1" dirty="0" spc="-1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3150" b="1" dirty="0" spc="-4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315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</a:t>
            </a:r>
            <a:endParaRPr lang="en-US" sz="3150" dirty="0"/>
          </a:p>
          <a:p>
            <a:pPr algn="l" indent="0" marL="0"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LLM tự</a:t>
            </a:r>
            <a:r>
              <a:rPr lang="en-US" sz="24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chọn</a:t>
            </a:r>
            <a:r>
              <a:rPr lang="en-US" sz="240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bước</a:t>
            </a:r>
            <a:r>
              <a:rPr lang="en-US" sz="2400" dirty="0" spc="-3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</a:t>
            </a:r>
            <a:r>
              <a:rPr lang="en-US" sz="24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tiếp</a:t>
            </a:r>
            <a:endParaRPr lang="en-US" sz="3150" dirty="0"/>
          </a:p>
        </p:txBody>
      </p:sp>
      <p:sp>
        <p:nvSpPr>
          <p:cNvPr id="6" name="Shape 4"/>
          <p:cNvSpPr/>
          <p:nvPr/>
        </p:nvSpPr>
        <p:spPr>
          <a:xfrm>
            <a:off x="5105400" y="2381250"/>
            <a:ext cx="3886200" cy="5905500"/>
          </a:xfrm>
          <a:prstGeom prst="roundRect">
            <a:avLst>
              <a:gd name="adj" fmla="val 6863"/>
            </a:avLst>
          </a:prstGeom>
          <a:solidFill>
            <a:srgbClr val="F3DFB8"/>
          </a:solidFill>
          <a:ln/>
        </p:spPr>
      </p:sp>
      <p:sp>
        <p:nvSpPr>
          <p:cNvPr id="7" name="Shape 5"/>
          <p:cNvSpPr/>
          <p:nvPr/>
        </p:nvSpPr>
        <p:spPr>
          <a:xfrm>
            <a:off x="5105400" y="2381250"/>
            <a:ext cx="3886200" cy="190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5391150" y="2762250"/>
            <a:ext cx="333375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2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Lặp</a:t>
            </a:r>
            <a:r>
              <a:rPr lang="en-US" sz="315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3150" b="1" dirty="0" spc="1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endParaRPr lang="en-US" sz="3150" dirty="0"/>
          </a:p>
          <a:p>
            <a:pPr algn="l" indent="0" marL="0">
              <a:buNone/>
            </a:pPr>
            <a:r>
              <a:rPr lang="en-US" sz="24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Gọi</a:t>
            </a:r>
            <a:r>
              <a:rPr lang="en-US" sz="24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LLM</a:t>
            </a:r>
            <a:r>
              <a:rPr lang="en-US" sz="2400" dirty="0" spc="-2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xen</a:t>
            </a:r>
            <a:r>
              <a:rPr lang="en-US" sz="2400" dirty="0" spc="-3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kẽ</a:t>
            </a:r>
            <a:r>
              <a:rPr lang="en-US" sz="24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gọi</a:t>
            </a:r>
            <a:r>
              <a:rPr lang="en-US" sz="24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công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cụ</a:t>
            </a:r>
            <a:endParaRPr lang="en-US" sz="3150" dirty="0"/>
          </a:p>
        </p:txBody>
      </p:sp>
      <p:sp>
        <p:nvSpPr>
          <p:cNvPr id="9" name="Shape 7"/>
          <p:cNvSpPr/>
          <p:nvPr/>
        </p:nvSpPr>
        <p:spPr>
          <a:xfrm>
            <a:off x="9296400" y="2381250"/>
            <a:ext cx="3886200" cy="5905500"/>
          </a:xfrm>
          <a:prstGeom prst="roundRect">
            <a:avLst>
              <a:gd name="adj" fmla="val 6863"/>
            </a:avLst>
          </a:prstGeom>
          <a:solidFill>
            <a:srgbClr val="F3DFB8"/>
          </a:solidFill>
          <a:ln/>
        </p:spPr>
      </p:sp>
      <p:sp>
        <p:nvSpPr>
          <p:cNvPr id="10" name="Shape 8"/>
          <p:cNvSpPr/>
          <p:nvPr/>
        </p:nvSpPr>
        <p:spPr>
          <a:xfrm>
            <a:off x="9296400" y="2381250"/>
            <a:ext cx="3886200" cy="190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9582150" y="2762250"/>
            <a:ext cx="333375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1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315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làm,</a:t>
            </a:r>
            <a:r>
              <a:rPr lang="en-US" sz="3150" b="1" dirty="0" spc="1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150" b="1" dirty="0" spc="-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endParaRPr lang="en-US" sz="3150" dirty="0"/>
          </a:p>
          <a:p>
            <a:pPr algn="l" indent="0" marL="0"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Đánh giá</a:t>
            </a:r>
            <a:r>
              <a:rPr lang="en-US" sz="2400" dirty="0" spc="-3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kết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quả, chỉnh lại</a:t>
            </a: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truy</a:t>
            </a:r>
            <a:r>
              <a:rPr lang="en-US" sz="240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vấn</a:t>
            </a:r>
            <a:endParaRPr lang="en-US" sz="3150" dirty="0"/>
          </a:p>
        </p:txBody>
      </p:sp>
      <p:sp>
        <p:nvSpPr>
          <p:cNvPr id="12" name="Shape 10"/>
          <p:cNvSpPr/>
          <p:nvPr/>
        </p:nvSpPr>
        <p:spPr>
          <a:xfrm>
            <a:off x="13487400" y="2381250"/>
            <a:ext cx="3886200" cy="5905500"/>
          </a:xfrm>
          <a:prstGeom prst="roundRect">
            <a:avLst>
              <a:gd name="adj" fmla="val 6863"/>
            </a:avLst>
          </a:prstGeom>
          <a:solidFill>
            <a:srgbClr val="F3DFB8"/>
          </a:solidFill>
          <a:ln/>
        </p:spPr>
      </p:sp>
      <p:sp>
        <p:nvSpPr>
          <p:cNvPr id="13" name="Shape 11"/>
          <p:cNvSpPr/>
          <p:nvPr/>
        </p:nvSpPr>
        <p:spPr>
          <a:xfrm>
            <a:off x="13487400" y="2381250"/>
            <a:ext cx="3886200" cy="190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13773150" y="2762250"/>
            <a:ext cx="333375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3150" b="1" dirty="0" spc="-1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15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endParaRPr lang="en-US" sz="3150" dirty="0"/>
          </a:p>
          <a:p>
            <a:pPr algn="l" indent="0" marL="0"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Tìm kiếm</a:t>
            </a:r>
            <a:r>
              <a:rPr lang="en-US" sz="240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vector,</a:t>
            </a:r>
            <a:r>
              <a:rPr lang="en-US" sz="240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SQL,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API tùy chỉnh</a:t>
            </a:r>
            <a:endParaRPr lang="en-US" sz="3150" dirty="0"/>
          </a:p>
        </p:txBody>
      </p:sp>
      <p:sp>
        <p:nvSpPr>
          <p:cNvPr id="15" name="Text 13"/>
          <p:cNvSpPr/>
          <p:nvPr/>
        </p:nvSpPr>
        <p:spPr>
          <a:xfrm>
            <a:off x="914400" y="9191625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 ● ● ●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05</a:t>
            </a: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03/12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519b6c3f-fce7-4278-9db2-530e1d8a8fb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71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Khác</a:t>
            </a:r>
            <a:r>
              <a:rPr lang="en-US" sz="72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RAG</a:t>
            </a:r>
            <a:r>
              <a:rPr lang="en-US" sz="72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truyền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72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914400" y="2190750"/>
            <a:ext cx="7886700" cy="6477000"/>
          </a:xfrm>
          <a:prstGeom prst="roundRect">
            <a:avLst>
              <a:gd name="adj" fmla="val 4118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190750"/>
            <a:ext cx="7886700" cy="190500"/>
          </a:xfrm>
          <a:prstGeom prst="roundRect">
            <a:avLst>
              <a:gd name="adj" fmla="val 50000"/>
            </a:avLst>
          </a:prstGeom>
          <a:solidFill>
            <a:srgbClr val="6B6A66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762250"/>
            <a:ext cx="7048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-40" kern="0">
                <a:solidFill>
                  <a:srgbClr val="B8B5A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RAG</a:t>
            </a:r>
            <a:r>
              <a:rPr lang="en-US" sz="3450" b="1" dirty="0" spc="-18" kern="0">
                <a:solidFill>
                  <a:srgbClr val="B8B5A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3450" b="1" dirty="0" spc="-11" kern="0">
                <a:solidFill>
                  <a:srgbClr val="B8B5A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endParaRPr lang="en-US" sz="3450" dirty="0"/>
          </a:p>
        </p:txBody>
      </p:sp>
      <p:sp>
        <p:nvSpPr>
          <p:cNvPr id="6" name="Text richtext-1792492964003-759680056"/>
          <p:cNvSpPr/>
          <p:nvPr/>
        </p:nvSpPr>
        <p:spPr>
          <a:xfrm>
            <a:off x="1333500" y="3905250"/>
            <a:ext cx="70485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244981">
              <a:spcAft>
                <a:spcPts val="2100"/>
              </a:spcAft>
              <a:buSzPct val="100000"/>
              <a:buFont typeface="Arial"/>
              <a:buChar char="•"/>
            </a:pPr>
            <a:r>
              <a:rPr lang="en-US" sz="2700" dirty="0" spc="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Đường</a:t>
            </a:r>
            <a:r>
              <a:rPr lang="en-US" sz="2700" dirty="0" spc="3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</a:t>
            </a:r>
            <a:r>
              <a:rPr lang="en-US" sz="270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do</a:t>
            </a:r>
            <a:r>
              <a:rPr lang="en-US" sz="2700" dirty="0" spc="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2700" dirty="0" spc="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định</a:t>
            </a:r>
            <a:r>
              <a:rPr lang="en-US" sz="270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sẵn</a:t>
            </a:r>
            <a:endParaRPr lang="en-US" sz="2700" dirty="0"/>
          </a:p>
          <a:p>
            <a:pPr algn="l" marL="342900" indent="-244981">
              <a:spcAft>
                <a:spcPts val="2100"/>
              </a:spcAft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Ghi</a:t>
            </a:r>
            <a:r>
              <a:rPr lang="en-US" sz="2700" dirty="0" spc="-2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rõ</a:t>
            </a:r>
            <a:r>
              <a:rPr lang="en-US" sz="270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lấy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gì,</a:t>
            </a:r>
            <a:r>
              <a:rPr lang="en-US" sz="270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lúc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nào</a:t>
            </a:r>
            <a:endParaRPr lang="en-US" sz="2700" dirty="0"/>
          </a:p>
          <a:p>
            <a:pPr algn="l" marL="342900" indent="-244981">
              <a:buSzPct val="100000"/>
              <a:buFont typeface="Arial"/>
              <a:buChar char="•"/>
            </a:pPr>
            <a:r>
              <a:rPr lang="en-US" sz="2700" dirty="0" spc="-3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Làm</a:t>
            </a:r>
            <a:r>
              <a:rPr lang="en-US" sz="270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theo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kịch</a:t>
            </a:r>
            <a:r>
              <a:rPr lang="en-US" sz="27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486900" y="2190750"/>
            <a:ext cx="7886700" cy="6477000"/>
          </a:xfrm>
          <a:prstGeom prst="roundRect">
            <a:avLst>
              <a:gd name="adj" fmla="val 4118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486900" y="2190750"/>
            <a:ext cx="7886700" cy="190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0" y="2762250"/>
            <a:ext cx="7048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-2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Agentic</a:t>
            </a:r>
            <a:r>
              <a:rPr lang="en-US" sz="3450" b="1" dirty="0" spc="-2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RAG</a:t>
            </a:r>
            <a:endParaRPr lang="en-US" sz="3450" dirty="0"/>
          </a:p>
        </p:txBody>
      </p:sp>
      <p:sp>
        <p:nvSpPr>
          <p:cNvPr id="10" name="Text richtext-1792492964028-320930222"/>
          <p:cNvSpPr/>
          <p:nvPr/>
        </p:nvSpPr>
        <p:spPr>
          <a:xfrm>
            <a:off x="9906000" y="3905250"/>
            <a:ext cx="70485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244981">
              <a:spcAft>
                <a:spcPts val="2100"/>
              </a:spcAft>
              <a:buSzPct val="100000"/>
              <a:buFont typeface="Arial"/>
              <a:buChar char="•"/>
            </a:pPr>
            <a:r>
              <a:rPr lang="en-US" sz="2700" dirty="0" spc="-1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Tự</a:t>
            </a:r>
            <a:r>
              <a:rPr lang="en-US" sz="27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quyết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 tự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27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bước</a:t>
            </a:r>
            <a:endParaRPr lang="en-US" sz="2700" dirty="0"/>
          </a:p>
          <a:p>
            <a:pPr algn="l" marL="342900" indent="-244981">
              <a:spcAft>
                <a:spcPts val="2100"/>
              </a:spcAft>
              <a:buSzPct val="100000"/>
              <a:buFont typeface="Arial"/>
              <a:buChar char="•"/>
            </a:pPr>
            <a:r>
              <a:rPr lang="en-US" sz="2700" dirty="0" spc="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Dựa</a:t>
            </a:r>
            <a:r>
              <a:rPr lang="en-US" sz="27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</a:t>
            </a:r>
            <a:r>
              <a:rPr lang="en-US" sz="27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lượng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thông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tìm</a:t>
            </a:r>
            <a:r>
              <a:rPr lang="en-US" sz="27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endParaRPr lang="en-US" sz="2700" dirty="0"/>
          </a:p>
          <a:p>
            <a:pPr algn="l" marL="342900" indent="-244981">
              <a:buSzPct val="100000"/>
              <a:buFont typeface="Arial"/>
              <a:buChar char="•"/>
            </a:pPr>
            <a:r>
              <a:rPr lang="en-US" sz="2700" dirty="0" spc="-4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Vòng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lặp</a:t>
            </a:r>
            <a:r>
              <a:rPr lang="en-US" sz="27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đơn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giản:</a:t>
            </a:r>
            <a:r>
              <a:rPr lang="en-US" sz="27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LLM,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cụ,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14400" y="9191625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 ● ●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05</a:t>
            </a:r>
            <a:r>
              <a:rPr lang="en-US" sz="180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04/12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39c3dd88-6ca7-4477-8e6b-7847829f73b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71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1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Vòng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lặp</a:t>
            </a:r>
            <a:r>
              <a:rPr lang="en-US" sz="75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tìm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thông tin</a:t>
            </a:r>
            <a:endParaRPr lang="en-US" sz="7500" dirty="0"/>
          </a:p>
        </p:txBody>
      </p:sp>
      <p:sp>
        <p:nvSpPr>
          <p:cNvPr id="3" name="Shape 1"/>
          <p:cNvSpPr/>
          <p:nvPr/>
        </p:nvSpPr>
        <p:spPr>
          <a:xfrm>
            <a:off x="914400" y="2381250"/>
            <a:ext cx="3619500" cy="3143250"/>
          </a:xfrm>
          <a:prstGeom prst="roundRect">
            <a:avLst>
              <a:gd name="adj" fmla="val 7273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1100" y="2571750"/>
            <a:ext cx="3086100" cy="276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 lần</a:t>
            </a:r>
            <a:r>
              <a:rPr lang="en-US" sz="3000" b="1" dirty="0" spc="1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3000" dirty="0"/>
          </a:p>
          <a:p>
            <a:pPr algn="l" indent="0" marL="0"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mục tiêu</a:t>
            </a:r>
            <a:r>
              <a:rPr lang="en-US" sz="22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</a:t>
            </a:r>
            <a:r>
              <a:rPr lang="en-US" sz="2250" dirty="0" spc="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đưa</a:t>
            </a:r>
            <a:r>
              <a:rPr lang="en-US" sz="22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 LLM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91125" y="2381250"/>
            <a:ext cx="3619500" cy="3143250"/>
          </a:xfrm>
          <a:prstGeom prst="roundRect">
            <a:avLst>
              <a:gd name="adj" fmla="val 7273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57825" y="2571750"/>
            <a:ext cx="3086100" cy="276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3000" b="1" dirty="0" spc="-1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00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endParaRPr lang="en-US" sz="3000" dirty="0"/>
          </a:p>
          <a:p>
            <a:pPr algn="l" indent="0" marL="0"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chọn công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cụ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hoặc</a:t>
            </a:r>
            <a:r>
              <a:rPr lang="en-US" sz="22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cách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truy</a:t>
            </a:r>
            <a:r>
              <a:rPr lang="en-US" sz="22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xuất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467850" y="2381250"/>
            <a:ext cx="3619500" cy="3143250"/>
          </a:xfrm>
          <a:prstGeom prst="roundRect">
            <a:avLst>
              <a:gd name="adj" fmla="val 7273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34550" y="2571750"/>
            <a:ext cx="3086100" cy="276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</a:t>
            </a:r>
            <a:r>
              <a:rPr lang="en-US" sz="300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giá,</a:t>
            </a:r>
            <a:r>
              <a:rPr lang="en-US" sz="300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r>
              <a:rPr lang="en-US" sz="30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3000" dirty="0"/>
          </a:p>
          <a:p>
            <a:pPr algn="l" indent="0" marL="0">
              <a:buNone/>
            </a:pP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đủ</a:t>
            </a:r>
            <a:r>
              <a:rPr lang="en-US" sz="2250" dirty="0" spc="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chưa?</a:t>
            </a:r>
            <a:r>
              <a:rPr lang="en-US" sz="225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chưa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thì</a:t>
            </a:r>
            <a:r>
              <a:rPr lang="en-US" sz="2250" dirty="0" spc="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đổi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truy</a:t>
            </a:r>
            <a:r>
              <a:rPr lang="en-US" sz="22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vấn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3744575" y="2381250"/>
            <a:ext cx="3629025" cy="3143250"/>
          </a:xfrm>
          <a:prstGeom prst="roundRect">
            <a:avLst>
              <a:gd name="adj" fmla="val 7273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14011275" y="2571750"/>
            <a:ext cx="3095625" cy="276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75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3000" b="1" dirty="0" spc="3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3000" b="1" dirty="0" spc="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endParaRPr lang="en-US" sz="3000" dirty="0"/>
          </a:p>
          <a:p>
            <a:pPr algn="l" indent="0" marL="0">
              <a:buNone/>
            </a:pPr>
            <a:r>
              <a:rPr lang="en-US" sz="2250" dirty="0" spc="2" kern="0">
                <a:solidFill>
                  <a:srgbClr val="FBF8F2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đủ</a:t>
            </a:r>
            <a:r>
              <a:rPr lang="en-US" sz="2250" dirty="0" spc="-26" kern="0">
                <a:solidFill>
                  <a:srgbClr val="FBF8F2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rõ</a:t>
            </a:r>
            <a:r>
              <a:rPr lang="en-US" sz="2250" dirty="0" spc="-16" kern="0">
                <a:solidFill>
                  <a:srgbClr val="FBF8F2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250" dirty="0" spc="3" kern="0">
                <a:solidFill>
                  <a:srgbClr val="FBF8F2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đủ</a:t>
            </a:r>
            <a:r>
              <a:rPr lang="en-US" sz="2250" dirty="0" spc="-2" kern="0">
                <a:solidFill>
                  <a:srgbClr val="FBF8F2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bằng</a:t>
            </a:r>
            <a:r>
              <a:rPr lang="en-US" sz="2250" dirty="0" spc="16" kern="0">
                <a:solidFill>
                  <a:srgbClr val="FBF8F2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chứng</a:t>
            </a:r>
            <a:endParaRPr lang="en-US" sz="3000" dirty="0"/>
          </a:p>
        </p:txBody>
      </p:sp>
      <p:sp>
        <p:nvSpPr>
          <p:cNvPr id="11" name="Connector line-1792492980991-9156260"/>
          <p:cNvSpPr/>
          <p:nvPr/>
        </p:nvSpPr>
        <p:spPr>
          <a:xfrm>
            <a:off x="4572000" y="3952875"/>
            <a:ext cx="581025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2" name="Connector line-1792492980991-938099495"/>
          <p:cNvSpPr/>
          <p:nvPr/>
        </p:nvSpPr>
        <p:spPr>
          <a:xfrm>
            <a:off x="8848725" y="3952875"/>
            <a:ext cx="581025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3" name="Connector line-1792492980991-116598598"/>
          <p:cNvSpPr/>
          <p:nvPr/>
        </p:nvSpPr>
        <p:spPr>
          <a:xfrm>
            <a:off x="13125450" y="3952875"/>
            <a:ext cx="581025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492980992-743845740"/>
          <p:cNvSpPr/>
          <p:nvPr/>
        </p:nvSpPr>
        <p:spPr>
          <a:xfrm>
            <a:off x="11277600" y="5581650"/>
            <a:ext cx="0" cy="609600"/>
          </a:xfrm>
          <a:prstGeom prst="line">
            <a:avLst/>
          </a:prstGeom>
          <a:noFill/>
          <a:ln w="47625">
            <a:solidFill>
              <a:srgbClr val="C2310F"/>
            </a:solidFill>
            <a:prstDash val="solid"/>
            <a:headEnd type="none"/>
            <a:tailEnd type="none"/>
          </a:ln>
        </p:spPr>
      </p:sp>
      <p:sp>
        <p:nvSpPr>
          <p:cNvPr id="15" name="Connector line-1792492980992-381769151"/>
          <p:cNvSpPr/>
          <p:nvPr/>
        </p:nvSpPr>
        <p:spPr>
          <a:xfrm flipH="1">
            <a:off x="7000875" y="6191250"/>
            <a:ext cx="4276725" cy="0"/>
          </a:xfrm>
          <a:prstGeom prst="line">
            <a:avLst/>
          </a:prstGeom>
          <a:noFill/>
          <a:ln w="47625">
            <a:solidFill>
              <a:srgbClr val="C2310F"/>
            </a:solidFill>
            <a:prstDash val="solid"/>
            <a:headEnd type="none"/>
            <a:tailEnd type="none"/>
          </a:ln>
        </p:spPr>
      </p:sp>
      <p:sp>
        <p:nvSpPr>
          <p:cNvPr id="16" name="Connector line-1792492980992-979468005"/>
          <p:cNvSpPr/>
          <p:nvPr/>
        </p:nvSpPr>
        <p:spPr>
          <a:xfrm flipV="1">
            <a:off x="7000875" y="5619750"/>
            <a:ext cx="0" cy="571500"/>
          </a:xfrm>
          <a:prstGeom prst="line">
            <a:avLst/>
          </a:prstGeom>
          <a:noFill/>
          <a:ln w="47625">
            <a:solidFill>
              <a:srgbClr val="C2310F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429500" y="6334125"/>
            <a:ext cx="342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14" kern="0">
                <a:solidFill>
                  <a:srgbClr val="C2310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250" b="1" dirty="0" spc="3" kern="0">
                <a:solidFill>
                  <a:srgbClr val="C2310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 thì</a:t>
            </a:r>
            <a:r>
              <a:rPr lang="en-US" sz="2250" b="1" dirty="0" spc="1" kern="0">
                <a:solidFill>
                  <a:srgbClr val="C2310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 lại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14400" y="733425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E8E0CF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7334250"/>
            <a:ext cx="228600" cy="1333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1524000" y="7334250"/>
            <a:ext cx="15430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70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700" b="1" dirty="0" spc="-2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-1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70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endParaRPr lang="en-US" sz="2700" dirty="0"/>
          </a:p>
          <a:p>
            <a:pPr algn="l" indent="0" marL="0"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nhớ</a:t>
            </a: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lần</a:t>
            </a:r>
            <a:r>
              <a:rPr lang="en-US" sz="24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thử</a:t>
            </a:r>
            <a:r>
              <a:rPr lang="en-US" sz="24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trước,</a:t>
            </a:r>
            <a:r>
              <a:rPr lang="en-US" sz="240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tránh</a:t>
            </a:r>
            <a:r>
              <a:rPr lang="en-US" sz="24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lặp</a:t>
            </a:r>
            <a:r>
              <a:rPr lang="en-US" sz="2400" dirty="0" spc="-2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vô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ích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914400" y="9191625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 ●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05</a:t>
            </a: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 05/12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bb945d31-85a1-47f9-9156-ee9fc51cb78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762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Thử</a:t>
            </a:r>
            <a:r>
              <a:rPr lang="en-US" sz="675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ngay:</a:t>
            </a:r>
            <a:r>
              <a:rPr lang="en-US" sz="675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chiến</a:t>
            </a:r>
            <a:r>
              <a:rPr lang="en-US" sz="6750" dirty="0" spc="-9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lược</a:t>
            </a:r>
            <a:r>
              <a:rPr lang="en-US" sz="6750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67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mắt</a:t>
            </a:r>
            <a:r>
              <a:rPr lang="en-US" sz="67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sản</a:t>
            </a:r>
            <a:r>
              <a:rPr lang="en-US" sz="675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phẩm</a:t>
            </a:r>
            <a:endParaRPr lang="en-US" sz="675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5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Agent</a:t>
            </a:r>
            <a:r>
              <a:rPr lang="en-US" sz="2550" dirty="0" spc="-1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tự</a:t>
            </a:r>
            <a:r>
              <a:rPr lang="en-US" sz="2550" dirty="0" spc="-19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quyết</a:t>
            </a:r>
            <a:r>
              <a:rPr lang="en-US" sz="2550" dirty="0" spc="20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từng</a:t>
            </a:r>
            <a:r>
              <a:rPr lang="en-US" sz="2550" dirty="0" spc="7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bước,</a:t>
            </a:r>
            <a:r>
              <a:rPr lang="en-US" sz="2550" dirty="0" spc="-3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50" dirty="0" spc="0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 kịch</a:t>
            </a:r>
            <a:r>
              <a:rPr lang="en-US" sz="2550" dirty="0" spc="-5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</a:t>
            </a:r>
            <a:r>
              <a:rPr lang="en-US" sz="2550" dirty="0" spc="-6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viết</a:t>
            </a:r>
            <a:r>
              <a:rPr lang="en-US" sz="2550" dirty="0" spc="-8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sẵn</a:t>
            </a:r>
            <a:endParaRPr lang="en-US" sz="2550" dirty="0"/>
          </a:p>
        </p:txBody>
      </p:sp>
      <p:sp>
        <p:nvSpPr>
          <p:cNvPr id="4" name="Connector line-1792492997030-590936845"/>
          <p:cNvSpPr/>
          <p:nvPr/>
        </p:nvSpPr>
        <p:spPr>
          <a:xfrm>
            <a:off x="2533650" y="3238500"/>
            <a:ext cx="13220700" cy="0"/>
          </a:xfrm>
          <a:prstGeom prst="line">
            <a:avLst/>
          </a:prstGeom>
          <a:noFill/>
          <a:ln w="7620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114550" y="2819400"/>
            <a:ext cx="838200" cy="8382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6" name="Shape 4"/>
          <p:cNvSpPr/>
          <p:nvPr/>
        </p:nvSpPr>
        <p:spPr>
          <a:xfrm>
            <a:off x="5419725" y="2819400"/>
            <a:ext cx="838200" cy="8382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7" name="Shape 5"/>
          <p:cNvSpPr/>
          <p:nvPr/>
        </p:nvSpPr>
        <p:spPr>
          <a:xfrm>
            <a:off x="8724900" y="2819400"/>
            <a:ext cx="838200" cy="8382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8" name="Shape 6"/>
          <p:cNvSpPr/>
          <p:nvPr/>
        </p:nvSpPr>
        <p:spPr>
          <a:xfrm>
            <a:off x="12030075" y="2819400"/>
            <a:ext cx="838200" cy="8382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9" name="Shape 7"/>
          <p:cNvSpPr/>
          <p:nvPr/>
        </p:nvSpPr>
        <p:spPr>
          <a:xfrm>
            <a:off x="15335250" y="2819400"/>
            <a:ext cx="838200" cy="8382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0" name="Text 8"/>
          <p:cNvSpPr/>
          <p:nvPr/>
        </p:nvSpPr>
        <p:spPr>
          <a:xfrm>
            <a:off x="2152650" y="2971800"/>
            <a:ext cx="76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5457825" y="2971800"/>
            <a:ext cx="76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8763000" y="2971800"/>
            <a:ext cx="76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2068175" y="2971800"/>
            <a:ext cx="76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5373350" y="2971800"/>
            <a:ext cx="76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962025" y="4000500"/>
            <a:ext cx="314325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 spc="-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</a:t>
            </a:r>
            <a:r>
              <a:rPr lang="en-US" sz="270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endParaRPr lang="en-US" sz="2700" dirty="0"/>
          </a:p>
          <a:p>
            <a:pPr algn="ctr" indent="0" marL="0">
              <a:buNone/>
            </a:pPr>
            <a:r>
              <a:rPr lang="en-US" sz="2100" dirty="0" spc="-1" kern="0">
                <a:solidFill>
                  <a:srgbClr val="3DD6A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Bing</a:t>
            </a:r>
            <a:r>
              <a:rPr lang="en-US" sz="2100" dirty="0" spc="-30" kern="0">
                <a:solidFill>
                  <a:srgbClr val="3DD6A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Web</a:t>
            </a:r>
            <a:r>
              <a:rPr lang="en-US" sz="2100" dirty="0" spc="-9" kern="0">
                <a:solidFill>
                  <a:srgbClr val="3DD6A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Grounding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4267200" y="4000500"/>
            <a:ext cx="314325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thủ</a:t>
            </a:r>
            <a:endParaRPr lang="en-US" sz="2700" dirty="0"/>
          </a:p>
          <a:p>
            <a:pPr algn="ctr" indent="0" marL="0">
              <a:buNone/>
            </a:pPr>
            <a:r>
              <a:rPr lang="en-US" sz="2100" dirty="0" spc="-13" kern="0">
                <a:solidFill>
                  <a:srgbClr val="3DD6A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Azure</a:t>
            </a:r>
            <a:r>
              <a:rPr lang="en-US" sz="2100" dirty="0" spc="2" kern="0">
                <a:solidFill>
                  <a:srgbClr val="3DD6A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2100" dirty="0" spc="-13" kern="0">
                <a:solidFill>
                  <a:srgbClr val="3DD6A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Search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7572375" y="4000500"/>
            <a:ext cx="314325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700" dirty="0"/>
          </a:p>
          <a:p>
            <a:pPr algn="ctr" indent="0" marL="0">
              <a:buNone/>
            </a:pPr>
            <a:r>
              <a:rPr lang="en-US" sz="2100" dirty="0" spc="-13" kern="0">
                <a:solidFill>
                  <a:srgbClr val="3DD6A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Azure</a:t>
            </a:r>
            <a:r>
              <a:rPr lang="en-US" sz="2100" dirty="0" spc="8" kern="0">
                <a:solidFill>
                  <a:srgbClr val="3DD6A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SQL</a:t>
            </a:r>
            <a:r>
              <a:rPr lang="en-US" sz="2100" dirty="0" spc="-12" kern="0">
                <a:solidFill>
                  <a:srgbClr val="3DD6A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Database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0877550" y="4000500"/>
            <a:ext cx="314325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 spc="-7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chiến</a:t>
            </a:r>
            <a:r>
              <a:rPr lang="en-US" sz="27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</a:t>
            </a:r>
            <a:endParaRPr lang="en-US" sz="2700" dirty="0"/>
          </a:p>
          <a:p>
            <a:pPr algn="ctr" indent="0" marL="0">
              <a:buNone/>
            </a:pPr>
            <a:r>
              <a:rPr lang="en-US" sz="2100" dirty="0" spc="-13" kern="0">
                <a:solidFill>
                  <a:srgbClr val="3DD6A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Azure</a:t>
            </a:r>
            <a:r>
              <a:rPr lang="en-US" sz="2100" dirty="0" spc="-2" kern="0">
                <a:solidFill>
                  <a:srgbClr val="3DD6A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OpenAI Service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4182725" y="4000500"/>
            <a:ext cx="314325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700" b="1" dirty="0" spc="-1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7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</a:t>
            </a:r>
            <a:r>
              <a:rPr lang="en-US" sz="270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hổng</a:t>
            </a:r>
            <a:endParaRPr lang="en-US" sz="2700" dirty="0"/>
          </a:p>
          <a:p>
            <a:pPr algn="ctr" indent="0" marL="0">
              <a:buNone/>
            </a:pPr>
            <a:r>
              <a:rPr lang="en-US" sz="21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cần</a:t>
            </a:r>
            <a:r>
              <a:rPr lang="en-US" sz="21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thì</a:t>
            </a:r>
            <a:r>
              <a:rPr lang="en-US" sz="21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truy</a:t>
            </a:r>
            <a:r>
              <a:rPr lang="en-US" sz="210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xuất</a:t>
            </a:r>
            <a:r>
              <a:rPr lang="en-US" sz="21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thêm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14400" y="9191625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05</a:t>
            </a:r>
            <a:r>
              <a:rPr lang="en-US" sz="180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 06/12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14400" y="68580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1E212B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" y="6858000"/>
            <a:ext cx="228600" cy="1333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4" name="Text 22"/>
          <p:cNvSpPr/>
          <p:nvPr/>
        </p:nvSpPr>
        <p:spPr>
          <a:xfrm>
            <a:off x="1524000" y="6858000"/>
            <a:ext cx="15430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Mô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285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quyết</a:t>
            </a:r>
            <a:r>
              <a:rPr lang="en-US" sz="2850" dirty="0" spc="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mọi</a:t>
            </a:r>
            <a:r>
              <a:rPr lang="en-US" sz="285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bước,</a:t>
            </a:r>
            <a:r>
              <a:rPr lang="en-US" sz="28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8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con</a:t>
            </a:r>
            <a:r>
              <a:rPr lang="en-US" sz="285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8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sẵn</a:t>
            </a:r>
            <a:endParaRPr lang="en-US" sz="28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61ad8578-8684-444d-8f22-f5e28ac41bf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6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Tự</a:t>
            </a:r>
            <a:r>
              <a:rPr lang="en-US" sz="75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sửa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75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gặp</a:t>
            </a:r>
            <a:r>
              <a:rPr lang="en-US" sz="75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ngõ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cụt</a:t>
            </a:r>
            <a:endParaRPr lang="en-US" sz="7500" dirty="0"/>
          </a:p>
        </p:txBody>
      </p:sp>
      <p:sp>
        <p:nvSpPr>
          <p:cNvPr id="3" name="Connector line-1792493013238-372381715"/>
          <p:cNvSpPr/>
          <p:nvPr/>
        </p:nvSpPr>
        <p:spPr>
          <a:xfrm>
            <a:off x="5867400" y="4000500"/>
            <a:ext cx="1847850" cy="1333500"/>
          </a:xfrm>
          <a:prstGeom prst="line">
            <a:avLst/>
          </a:prstGeom>
          <a:noFill/>
          <a:ln w="47625">
            <a:solidFill>
              <a:srgbClr val="C2310F"/>
            </a:solidFill>
            <a:prstDash val="solid"/>
            <a:headEnd type="none"/>
            <a:tailEnd type="none"/>
          </a:ln>
        </p:spPr>
      </p:sp>
      <p:sp>
        <p:nvSpPr>
          <p:cNvPr id="4" name="Connector line-1792493013239-531748647"/>
          <p:cNvSpPr/>
          <p:nvPr/>
        </p:nvSpPr>
        <p:spPr>
          <a:xfrm flipV="1">
            <a:off x="5867400" y="6191250"/>
            <a:ext cx="1847850" cy="1238250"/>
          </a:xfrm>
          <a:prstGeom prst="line">
            <a:avLst/>
          </a:prstGeom>
          <a:noFill/>
          <a:ln w="47625">
            <a:solidFill>
              <a:srgbClr val="C2310F"/>
            </a:solidFill>
            <a:prstDash val="solid"/>
            <a:headEnd type="none"/>
            <a:tailEnd type="none"/>
          </a:ln>
        </p:spPr>
      </p:sp>
      <p:sp>
        <p:nvSpPr>
          <p:cNvPr id="5" name="Connector line-1792493013239-692752766"/>
          <p:cNvSpPr/>
          <p:nvPr/>
        </p:nvSpPr>
        <p:spPr>
          <a:xfrm flipH="1">
            <a:off x="10572750" y="4000500"/>
            <a:ext cx="1847850" cy="1333500"/>
          </a:xfrm>
          <a:prstGeom prst="line">
            <a:avLst/>
          </a:prstGeom>
          <a:noFill/>
          <a:ln w="47625">
            <a:solidFill>
              <a:srgbClr val="C2310F"/>
            </a:solidFill>
            <a:prstDash val="solid"/>
            <a:headEnd type="none"/>
            <a:tailEnd type="none"/>
          </a:ln>
        </p:spPr>
      </p:sp>
      <p:sp>
        <p:nvSpPr>
          <p:cNvPr id="6" name="Connector line-1792493013239-390446466"/>
          <p:cNvSpPr/>
          <p:nvPr/>
        </p:nvSpPr>
        <p:spPr>
          <a:xfrm flipH="1" flipV="1">
            <a:off x="10572750" y="6191250"/>
            <a:ext cx="1847850" cy="1238250"/>
          </a:xfrm>
          <a:prstGeom prst="line">
            <a:avLst/>
          </a:prstGeom>
          <a:noFill/>
          <a:ln w="47625">
            <a:solidFill>
              <a:srgbClr val="C2310F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7524750" y="4143375"/>
            <a:ext cx="3238500" cy="3238500"/>
          </a:xfrm>
          <a:prstGeom prst="ellipse">
            <a:avLst/>
          </a:prstGeom>
          <a:solidFill>
            <a:srgbClr val="C2310F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0" y="5191125"/>
            <a:ext cx="304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39" dirty="0" spc="-29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Tự</a:t>
            </a:r>
            <a:r>
              <a:rPr lang="en-US" sz="3739" dirty="0" spc="-32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sửa</a:t>
            </a:r>
            <a:endParaRPr lang="en-US" sz="3739" dirty="0"/>
          </a:p>
          <a:p>
            <a:pPr algn="ctr" indent="0" marL="0">
              <a:buNone/>
            </a:pPr>
            <a:r>
              <a:rPr lang="en-US" sz="3739" dirty="0" spc="-2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lỗi</a:t>
            </a:r>
            <a:endParaRPr lang="en-US" sz="3739" dirty="0"/>
          </a:p>
        </p:txBody>
      </p:sp>
      <p:sp>
        <p:nvSpPr>
          <p:cNvPr id="9" name="Text 7"/>
          <p:cNvSpPr/>
          <p:nvPr/>
        </p:nvSpPr>
        <p:spPr>
          <a:xfrm>
            <a:off x="914400" y="3143250"/>
            <a:ext cx="4953000" cy="171450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Lặp</a:t>
            </a:r>
            <a:r>
              <a:rPr lang="en-US" sz="28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8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14400" y="6572250"/>
            <a:ext cx="4953000" cy="171450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chẩn</a:t>
            </a: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2420600" y="3143250"/>
            <a:ext cx="4953000" cy="171450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Nhờ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85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2420600" y="6572250"/>
            <a:ext cx="4953000" cy="171450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sót</a:t>
            </a: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9191625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05</a:t>
            </a: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-1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07/12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4f87ba44-62ad-45f0-abf6-621dfc86502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</a:t>
            </a:r>
            <a:r>
              <a:rPr lang="en-US" sz="75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endParaRPr lang="en-US" sz="7500" dirty="0"/>
          </a:p>
        </p:txBody>
      </p:sp>
      <p:sp>
        <p:nvSpPr>
          <p:cNvPr id="3" name="Text 1"/>
          <p:cNvSpPr/>
          <p:nvPr/>
        </p:nvSpPr>
        <p:spPr>
          <a:xfrm>
            <a:off x="914400" y="1857375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8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Agentic</a:t>
            </a:r>
            <a:r>
              <a:rPr lang="en-US" sz="2550" dirty="0" spc="-22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RAG</a:t>
            </a:r>
            <a:r>
              <a:rPr lang="en-US" sz="2550" dirty="0" spc="-2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50" dirty="0" spc="-3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phải</a:t>
            </a:r>
            <a:r>
              <a:rPr lang="en-US" sz="2550" dirty="0" spc="-24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AGI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762250"/>
            <a:ext cx="228600" cy="19050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2762250"/>
            <a:ext cx="15430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11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33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3300" b="1" dirty="0" spc="-2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300" b="1" dirty="0" spc="-1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3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lĩnh</a:t>
            </a:r>
            <a:r>
              <a:rPr lang="en-US" sz="3300" b="1" dirty="0" spc="1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vực</a:t>
            </a:r>
            <a:endParaRPr lang="en-US" sz="3300" dirty="0"/>
          </a:p>
          <a:p>
            <a:pPr algn="l" indent="0" marL="0">
              <a:buNone/>
            </a:pPr>
            <a:r>
              <a:rPr lang="en-US" sz="2550" dirty="0" spc="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hướng</a:t>
            </a:r>
            <a:r>
              <a:rPr lang="en-US" sz="255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tới</a:t>
            </a: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mục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tiêu</a:t>
            </a:r>
            <a:r>
              <a:rPr lang="en-US" sz="25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đặt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2057400" y="4953000"/>
            <a:ext cx="153162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2057400" y="4953000"/>
            <a:ext cx="228600" cy="19050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2667000" y="4953000"/>
            <a:ext cx="14287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Phụ</a:t>
            </a:r>
            <a:r>
              <a:rPr lang="en-US" sz="330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3300" b="1" dirty="0" spc="-1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</a:t>
            </a:r>
            <a:r>
              <a:rPr lang="en-US" sz="3300" b="1" dirty="0" spc="-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endParaRPr lang="en-US" sz="3300" dirty="0"/>
          </a:p>
          <a:p>
            <a:pPr algn="l" indent="0" marL="0"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chỉ dùng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công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cụ</a:t>
            </a:r>
            <a:r>
              <a:rPr lang="en-US" sz="2550" dirty="0" spc="-2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 liệu</a:t>
            </a:r>
            <a:r>
              <a:rPr lang="en-US" sz="255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tích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hợp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3200400" y="7143750"/>
            <a:ext cx="141732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0" y="7143750"/>
            <a:ext cx="228600" cy="19050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2" name="Text 10"/>
          <p:cNvSpPr/>
          <p:nvPr/>
        </p:nvSpPr>
        <p:spPr>
          <a:xfrm>
            <a:off x="3810000" y="7143750"/>
            <a:ext cx="13144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12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Tôn</a:t>
            </a:r>
            <a:r>
              <a:rPr lang="en-US" sz="3300" b="1" dirty="0" spc="-2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3300" b="1" dirty="0" spc="-1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rào</a:t>
            </a:r>
            <a:r>
              <a:rPr lang="en-US" sz="33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chắn</a:t>
            </a:r>
            <a:endParaRPr lang="en-US" sz="3300" dirty="0"/>
          </a:p>
          <a:p>
            <a:pPr algn="l" indent="0" marL="0">
              <a:buNone/>
            </a:pPr>
            <a:r>
              <a:rPr lang="en-US" sz="2550" dirty="0" spc="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đạo</a:t>
            </a:r>
            <a:r>
              <a:rPr lang="en-US" sz="255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đức,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tuân thủ, chính</a:t>
            </a:r>
            <a:r>
              <a:rPr lang="en-US" sz="25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sách</a:t>
            </a:r>
            <a:r>
              <a:rPr lang="en-US" sz="25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vẫn</a:t>
            </a:r>
            <a:r>
              <a:rPr lang="en-US" sz="2550" dirty="0" spc="-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ràng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buộc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914400" y="9191625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05</a:t>
            </a:r>
            <a:r>
              <a:rPr lang="en-US" sz="180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 08/12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e389e309-5e83-4a33-91ef-4ccf517e766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71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Dùng</a:t>
            </a:r>
            <a:r>
              <a:rPr lang="en-US" sz="72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72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những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endParaRPr lang="en-US" sz="7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190750"/>
          <a:ext cx="13716000" cy="914400"/>
        </p:xfrm>
        <a:graphic>
          <a:graphicData uri="http://schemas.openxmlformats.org/drawingml/2006/table">
            <a:tbl>
              <a:tblPr/>
              <a:tblGrid>
                <a:gridCol w="6912864"/>
                <a:gridCol w="9546336"/>
              </a:tblGrid>
              <a:tr h="1428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Tình</a:t>
                      </a:r>
                      <a:r>
                        <a:rPr lang="en-US" sz="2550" b="1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huống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7D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Agentic</a:t>
                      </a:r>
                      <a:r>
                        <a:rPr lang="en-US" sz="2550" b="1" dirty="0" spc="-2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RAG</a:t>
                      </a:r>
                      <a:r>
                        <a:rPr lang="en-US" sz="2550" b="1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làm</a:t>
                      </a:r>
                      <a:r>
                        <a:rPr lang="en-US" sz="2550" b="1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gì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7D1F5"/>
                    </a:solidFill>
                  </a:tcPr>
                </a:tc>
              </a:tr>
              <a:tr h="1428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Độ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chính</a:t>
                      </a:r>
                      <a:r>
                        <a:rPr lang="en-US" sz="2550" dirty="0" spc="-1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xác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là</a:t>
                      </a:r>
                      <a:r>
                        <a:rPr lang="en-US" sz="2550" dirty="0" spc="-2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trên</a:t>
                      </a:r>
                      <a:r>
                        <a:rPr lang="en-US" sz="2550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hết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(tuân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thủ,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pháp</a:t>
                      </a:r>
                      <a:r>
                        <a:rPr lang="en-US" sz="25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lý)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Kiểm</a:t>
                      </a:r>
                      <a:r>
                        <a:rPr lang="en-US" sz="2550" dirty="0" spc="1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chứng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nhiều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lần,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hỏi nhiều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nguồn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428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Cơ</a:t>
                      </a:r>
                      <a:r>
                        <a:rPr lang="en-US" sz="2550" dirty="0" spc="-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sở</a:t>
                      </a:r>
                      <a:r>
                        <a:rPr lang="en-US" sz="25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dữ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</a:t>
                      </a:r>
                      <a:r>
                        <a:rPr lang="en-US" sz="2550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phức</a:t>
                      </a:r>
                      <a:r>
                        <a:rPr lang="en-US" sz="2550" dirty="0" spc="-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tạp,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truy</a:t>
                      </a:r>
                      <a:r>
                        <a:rPr lang="en-US" sz="2550" dirty="0" spc="-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vấn</a:t>
                      </a:r>
                      <a:r>
                        <a:rPr lang="en-US" sz="2550" dirty="0" spc="-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hay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hỏng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3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Tự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chỉnh</a:t>
                      </a:r>
                      <a:r>
                        <a:rPr lang="en-US" sz="25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truy</a:t>
                      </a:r>
                      <a:r>
                        <a:rPr lang="en-US" sz="2550" dirty="0" spc="-1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vấn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cho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đúng ý</a:t>
                      </a:r>
                      <a:r>
                        <a:rPr lang="en-US" sz="2550" dirty="0" spc="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người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dùng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428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Quy</a:t>
                      </a:r>
                      <a:r>
                        <a:rPr lang="en-US" sz="2550" dirty="0" spc="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trình</a:t>
                      </a:r>
                      <a:r>
                        <a:rPr lang="en-US" sz="2550" dirty="0" spc="-3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kéo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dài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Đưa</a:t>
                      </a:r>
                      <a:r>
                        <a:rPr lang="en-US" sz="25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dữ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mới</a:t>
                      </a:r>
                      <a:r>
                        <a:rPr lang="en-US" sz="255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vào,</a:t>
                      </a:r>
                      <a:r>
                        <a:rPr lang="en-US" sz="2550" dirty="0" spc="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đổi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chiến</a:t>
                      </a:r>
                      <a:r>
                        <a:rPr lang="en-US" sz="2550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lược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914400" y="9191625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05</a:t>
            </a: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 09/12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" name="Moda image moda-export-watermark-c60d6fff-028d-4fd4-ae85-4e830eafc92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Quản</a:t>
            </a:r>
            <a:r>
              <a:rPr lang="en-US" sz="6900" dirty="0" spc="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trị,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minh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bạch,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niềm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2667000"/>
            <a:ext cx="152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0" dirty="0" spc="-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250" dirty="0"/>
          </a:p>
        </p:txBody>
      </p:sp>
      <p:sp>
        <p:nvSpPr>
          <p:cNvPr id="5" name="Text 3"/>
          <p:cNvSpPr/>
          <p:nvPr/>
        </p:nvSpPr>
        <p:spPr>
          <a:xfrm>
            <a:off x="3143250" y="2476500"/>
            <a:ext cx="13716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Suy</a:t>
            </a:r>
            <a:r>
              <a:rPr lang="en-US" sz="31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31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 thích</a:t>
            </a:r>
            <a:r>
              <a:rPr lang="en-US" sz="315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3150" dirty="0"/>
          </a:p>
          <a:p>
            <a:pPr algn="l" indent="0" marL="0">
              <a:buNone/>
            </a:pPr>
            <a:r>
              <a:rPr lang="en-US" sz="2400" dirty="0" spc="0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dấu</a:t>
            </a:r>
            <a:r>
              <a:rPr lang="en-US" sz="2400" dirty="0" spc="-21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vết</a:t>
            </a:r>
            <a:r>
              <a:rPr lang="en-US" sz="2400" dirty="0" spc="-2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truy</a:t>
            </a:r>
            <a:r>
              <a:rPr lang="en-US" sz="2400" dirty="0" spc="-12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vấn,</a:t>
            </a:r>
            <a:r>
              <a:rPr lang="en-US" sz="2400" dirty="0" spc="-3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nguồn,</a:t>
            </a:r>
            <a:r>
              <a:rPr lang="en-US" sz="2400" dirty="0" spc="-1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</a:t>
            </a:r>
            <a:r>
              <a:rPr lang="en-US" sz="2400" dirty="0" spc="6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bước</a:t>
            </a:r>
            <a:r>
              <a:rPr lang="en-US" sz="2400" dirty="0" spc="1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suy</a:t>
            </a:r>
            <a:r>
              <a:rPr lang="en-US" sz="2400" dirty="0" spc="0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luận</a:t>
            </a:r>
            <a:endParaRPr lang="en-US" sz="3150" dirty="0"/>
          </a:p>
        </p:txBody>
      </p:sp>
      <p:sp>
        <p:nvSpPr>
          <p:cNvPr id="6" name="Shape 4"/>
          <p:cNvSpPr/>
          <p:nvPr/>
        </p:nvSpPr>
        <p:spPr>
          <a:xfrm>
            <a:off x="914400" y="466725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4857750"/>
            <a:ext cx="152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0" dirty="0" spc="-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250" dirty="0"/>
          </a:p>
        </p:txBody>
      </p:sp>
      <p:sp>
        <p:nvSpPr>
          <p:cNvPr id="8" name="Text 6"/>
          <p:cNvSpPr/>
          <p:nvPr/>
        </p:nvSpPr>
        <p:spPr>
          <a:xfrm>
            <a:off x="3143250" y="4667250"/>
            <a:ext cx="13716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31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</a:t>
            </a:r>
            <a:r>
              <a:rPr lang="en-US" sz="31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thiên</a:t>
            </a:r>
            <a:r>
              <a:rPr lang="en-US" sz="31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endParaRPr lang="en-US" sz="3150" dirty="0"/>
          </a:p>
          <a:p>
            <a:pPr algn="l" indent="0" marL="0">
              <a:buNone/>
            </a:pPr>
            <a:r>
              <a:rPr lang="en-US" sz="2400" dirty="0" spc="-4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nguồn</a:t>
            </a:r>
            <a:r>
              <a:rPr lang="en-US" sz="2400" dirty="0" spc="-3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cân</a:t>
            </a:r>
            <a:r>
              <a:rPr lang="en-US" sz="2400" dirty="0" spc="-2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bằng, kiểm</a:t>
            </a:r>
            <a:r>
              <a:rPr lang="en-US" sz="2400" dirty="0" spc="-22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tra</a:t>
            </a:r>
            <a:r>
              <a:rPr lang="en-US" sz="2400" dirty="0" spc="-32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kết</a:t>
            </a:r>
            <a:r>
              <a:rPr lang="en-US" sz="2400" dirty="0" spc="1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quả</a:t>
            </a:r>
            <a:r>
              <a:rPr lang="en-US" sz="2400" dirty="0" spc="18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định</a:t>
            </a:r>
            <a:r>
              <a:rPr lang="en-US" sz="2400" dirty="0" spc="2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kỳ</a:t>
            </a:r>
            <a:endParaRPr lang="en-US" sz="3150" dirty="0"/>
          </a:p>
        </p:txBody>
      </p:sp>
      <p:sp>
        <p:nvSpPr>
          <p:cNvPr id="9" name="Shape 7"/>
          <p:cNvSpPr/>
          <p:nvPr/>
        </p:nvSpPr>
        <p:spPr>
          <a:xfrm>
            <a:off x="914400" y="685800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333500" y="7048500"/>
            <a:ext cx="152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250" dirty="0"/>
          </a:p>
        </p:txBody>
      </p:sp>
      <p:sp>
        <p:nvSpPr>
          <p:cNvPr id="11" name="Text 9"/>
          <p:cNvSpPr/>
          <p:nvPr/>
        </p:nvSpPr>
        <p:spPr>
          <a:xfrm>
            <a:off x="3143250" y="6858000"/>
            <a:ext cx="13716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</a:t>
            </a:r>
            <a:r>
              <a:rPr lang="en-US" sz="31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1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giám</a:t>
            </a:r>
            <a:r>
              <a:rPr lang="en-US" sz="31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endParaRPr lang="en-US" sz="3150" dirty="0"/>
          </a:p>
          <a:p>
            <a:pPr algn="l" indent="0" marL="0">
              <a:buNone/>
            </a:pPr>
            <a:r>
              <a:rPr lang="en-US" sz="2400" dirty="0" spc="-8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bổ</a:t>
            </a:r>
            <a:r>
              <a:rPr lang="en-US" sz="2400" dirty="0" spc="-23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trợ</a:t>
            </a:r>
            <a:r>
              <a:rPr lang="en-US" sz="2400" dirty="0" spc="-1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phán</a:t>
            </a:r>
            <a:r>
              <a:rPr lang="en-US" sz="2400" dirty="0" spc="5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đoán,</a:t>
            </a:r>
            <a:r>
              <a:rPr lang="en-US" sz="2400" dirty="0" spc="-1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400" dirty="0" spc="-6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thay</a:t>
            </a:r>
            <a:r>
              <a:rPr lang="en-US" sz="2400" dirty="0" spc="-2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thế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914400" y="9191625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05</a:t>
            </a:r>
            <a:r>
              <a:rPr lang="en-US" sz="180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10/12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5430895f-c340-4ca4-9e72-2c56cd79a4f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33450"/>
            <a:ext cx="133350" cy="13335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8382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809750"/>
            <a:ext cx="16459200" cy="314325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Dữ</a:t>
            </a: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6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lấy</a:t>
            </a:r>
            <a:r>
              <a:rPr lang="en-US" sz="6300" dirty="0" spc="-6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63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63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đủ</a:t>
            </a:r>
            <a:r>
              <a:rPr lang="en-US" sz="63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63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63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3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30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vòng</a:t>
            </a:r>
            <a:r>
              <a:rPr lang="en-US" sz="63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lặp?</a:t>
            </a:r>
            <a:endParaRPr lang="en-US" sz="6300" dirty="0"/>
          </a:p>
        </p:txBody>
      </p:sp>
      <p:sp>
        <p:nvSpPr>
          <p:cNvPr id="5" name="Shape 3"/>
          <p:cNvSpPr/>
          <p:nvPr/>
        </p:nvSpPr>
        <p:spPr>
          <a:xfrm>
            <a:off x="914400" y="5715000"/>
            <a:ext cx="16459200" cy="2571750"/>
          </a:xfrm>
          <a:prstGeom prst="roundRect">
            <a:avLst>
              <a:gd name="adj" fmla="val 10370"/>
            </a:avLst>
          </a:prstGeom>
          <a:solidFill>
            <a:srgbClr val="F3DFB8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5715000"/>
            <a:ext cx="228600" cy="25717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715000"/>
            <a:ext cx="154305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 án</a:t>
            </a:r>
            <a:endParaRPr lang="en-US" sz="2550" dirty="0"/>
          </a:p>
          <a:p>
            <a:pPr algn="l" indent="0" marL="0">
              <a:buNone/>
            </a:pP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Chỉnh truy</a:t>
            </a:r>
            <a:r>
              <a:rPr lang="en-US" sz="31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vấn,</a:t>
            </a:r>
            <a:r>
              <a:rPr lang="en-US" sz="31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31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</a:t>
            </a:r>
            <a:r>
              <a:rPr lang="en-US" sz="31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31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31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làm,</a:t>
            </a:r>
            <a:r>
              <a:rPr lang="en-US" sz="315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</a:t>
            </a:r>
            <a:r>
              <a:rPr lang="en-US" sz="31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lặp</a:t>
            </a:r>
            <a:r>
              <a:rPr lang="en-US" sz="31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31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31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đủ</a:t>
            </a:r>
            <a:r>
              <a:rPr lang="en-US" sz="31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3150" dirty="0" spc="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chứng.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14400" y="9191625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05</a:t>
            </a: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11/12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" name="Moda image moda-export-watermark-c23603c9-0b8b-4716-9293-a2d0b761e88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810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67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6750" dirty="0" spc="-7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7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524000"/>
          <a:ext cx="13716000" cy="914400"/>
        </p:xfrm>
        <a:graphic>
          <a:graphicData uri="http://schemas.openxmlformats.org/drawingml/2006/table">
            <a:tbl>
              <a:tblPr/>
              <a:tblGrid>
                <a:gridCol w="6254496"/>
                <a:gridCol w="10204704"/>
              </a:tblGrid>
              <a:tr h="762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Viết</a:t>
                      </a:r>
                      <a:r>
                        <a:rPr lang="en-US" sz="2100" b="1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tắt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Nghĩa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B4530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3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RAG</a:t>
                      </a:r>
                      <a:r>
                        <a:rPr lang="en-US" sz="2100" dirty="0" spc="-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(Retrieval-Augmented</a:t>
                      </a:r>
                      <a:r>
                        <a:rPr lang="en-US" sz="210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Generation)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cho</a:t>
                      </a:r>
                      <a:r>
                        <a:rPr lang="en-US" sz="21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mô</a:t>
                      </a: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r>
                        <a:rPr lang="en-US" sz="2100" dirty="0" spc="-2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tra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thông</a:t>
                      </a: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tin</a:t>
                      </a:r>
                      <a:r>
                        <a:rPr lang="en-US" sz="210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ngoài</a:t>
                      </a:r>
                      <a:r>
                        <a:rPr lang="en-US" sz="2100" dirty="0" spc="-2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rồi</a:t>
                      </a:r>
                      <a:r>
                        <a:rPr lang="en-US" sz="2100" dirty="0" spc="-2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trả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lời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LLM</a:t>
                      </a:r>
                      <a:r>
                        <a:rPr lang="en-US" sz="2100" dirty="0" spc="-3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(Large</a:t>
                      </a:r>
                      <a:r>
                        <a:rPr lang="en-US" sz="2100" dirty="0" spc="-1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Language</a:t>
                      </a:r>
                      <a:r>
                        <a:rPr lang="en-US" sz="210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Model)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mô</a:t>
                      </a:r>
                      <a:r>
                        <a:rPr lang="en-US" sz="21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r>
                        <a:rPr lang="en-US" sz="210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ngôn</a:t>
                      </a:r>
                      <a:r>
                        <a:rPr lang="en-US" sz="21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lớn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SQL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ngôn</a:t>
                      </a: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truy</a:t>
                      </a:r>
                      <a:r>
                        <a:rPr lang="en-US" sz="2100" dirty="0" spc="-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vấn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cơ</a:t>
                      </a:r>
                      <a:r>
                        <a:rPr lang="en-US" sz="210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sở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dữ</a:t>
                      </a:r>
                      <a:r>
                        <a:rPr lang="en-US" sz="21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NL2SQL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biến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câu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hỏi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tự</a:t>
                      </a:r>
                      <a:r>
                        <a:rPr lang="en-US" sz="210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nhiên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thành</a:t>
                      </a:r>
                      <a:r>
                        <a:rPr lang="en-US" sz="2100" dirty="0" spc="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SQL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API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giao diện</a:t>
                      </a:r>
                      <a:r>
                        <a:rPr lang="en-US" sz="2100" dirty="0" spc="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để</a:t>
                      </a:r>
                      <a:r>
                        <a:rPr lang="en-US" sz="210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chương</a:t>
                      </a:r>
                      <a:r>
                        <a:rPr lang="en-US" sz="2100" dirty="0" spc="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trình</a:t>
                      </a:r>
                      <a:r>
                        <a:rPr lang="en-US" sz="210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gọi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nhau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3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AGI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1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trí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tuệ</a:t>
                      </a: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nhân</a:t>
                      </a:r>
                      <a:r>
                        <a:rPr lang="en-US" sz="2100" dirty="0" spc="-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tạo</a:t>
                      </a:r>
                      <a:r>
                        <a:rPr lang="en-US" sz="210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tổng</a:t>
                      </a:r>
                      <a:r>
                        <a:rPr lang="en-US" sz="210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quát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914400" y="7429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8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Dựa</a:t>
            </a:r>
            <a:r>
              <a:rPr lang="en-US" sz="2100" dirty="0" spc="-17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</a:t>
            </a:r>
            <a:r>
              <a:rPr lang="en-US" sz="2100" dirty="0" spc="0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2100" dirty="0" spc="-2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05</a:t>
            </a:r>
            <a:r>
              <a:rPr lang="en-US" sz="2100" dirty="0" spc="-3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100" dirty="0" spc="-11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microsoft/ai-agents-for-beginners</a:t>
            </a:r>
            <a:r>
              <a:rPr lang="en-US" sz="2100" dirty="0" spc="0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(MIT</a:t>
            </a:r>
            <a:r>
              <a:rPr lang="en-US" sz="2100" dirty="0" spc="-5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License,</a:t>
            </a:r>
            <a:r>
              <a:rPr lang="en-US" sz="2100" dirty="0" spc="1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©</a:t>
            </a:r>
            <a:r>
              <a:rPr lang="en-US" sz="2100" dirty="0" spc="-10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Microsoft</a:t>
            </a:r>
            <a:r>
              <a:rPr lang="en-US" sz="2100" dirty="0" spc="-11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Corporation).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914400" y="9191625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05</a:t>
            </a:r>
            <a:r>
              <a:rPr lang="en-US" sz="180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12/12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" name="Moda image moda-export-watermark-a851b8c6-755b-4041-a113-9107864db6b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2026-10-20T10:44:39Z</dcterms:created>
  <dcterms:modified xsi:type="dcterms:W3CDTF">2026-10-20T10:44:39Z</dcterms:modified>
</cp:coreProperties>
</file>