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embeddedFontLst>
    <p:embeddedFont>
      <p:font typeface="Be Vietnam Pro"/>
      <p:regular r:id="rId23"/>
      <p:bold r:id="rId19"/>
    </p:embeddedFont>
    <p:embeddedFont>
      <p:font typeface="Bricolage Grotesque ExtraBold"/>
      <p:regular r:id="rId20"/>
    </p:embeddedFont>
    <p:embeddedFont>
      <p:font typeface="Be Vietnam Pro Medium"/>
      <p:regular r:id="rId21"/>
    </p:embeddedFont>
    <p:embeddedFont>
      <p:font typeface="Be Vietnam Pro SemiBold"/>
      <p:regular r:id="rId22"/>
    </p:embeddedFont>
    <p:embeddedFont>
      <p:font typeface="JetBrains Mono Medium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83820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7429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950" b="1" spc="2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AGENT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573500" cy="2857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Mẫu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1238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6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Làm</a:t>
            </a:r>
            <a:r>
              <a:rPr lang="en-US" sz="3300" dirty="0" spc="-8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3300" dirty="0" spc="13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3300" dirty="0" spc="-19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3300" dirty="0" spc="0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3300" dirty="0" spc="10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300" dirty="0" spc="-1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3300" dirty="0" spc="-6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3300" dirty="0" spc="0" kern="0">
                <a:solidFill>
                  <a:srgbClr val="7C93FF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4287500" y="4953000"/>
            <a:ext cx="2857500" cy="1619250"/>
          </a:xfrm>
          <a:prstGeom prst="roundRect">
            <a:avLst>
              <a:gd name="adj" fmla="val 11765"/>
            </a:avLst>
          </a:prstGeom>
          <a:solidFill>
            <a:srgbClr val="FFB454"/>
          </a:solidFill>
          <a:ln/>
        </p:spPr>
      </p:sp>
      <p:sp>
        <p:nvSpPr>
          <p:cNvPr id="7" name="Shape 5"/>
          <p:cNvSpPr/>
          <p:nvPr/>
        </p:nvSpPr>
        <p:spPr>
          <a:xfrm>
            <a:off x="15049500" y="4191000"/>
            <a:ext cx="1333500" cy="952500"/>
          </a:xfrm>
          <a:prstGeom prst="roundRect">
            <a:avLst>
              <a:gd name="adj" fmla="val 20000"/>
            </a:avLst>
          </a:prstGeom>
          <a:noFill/>
          <a:ln w="152400">
            <a:solidFill>
              <a:srgbClr val="FFB4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87500" y="5619750"/>
            <a:ext cx="2857500" cy="13335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858000"/>
            <a:ext cx="41910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334000" y="6858000"/>
            <a:ext cx="28575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 hàm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420100" y="6858000"/>
            <a:ext cx="34290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077700" y="6858000"/>
            <a:ext cx="28575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180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1800" dirty="0" spc="-1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c5aa2dc0-62a9-4793-97fd-4ba5a5bef9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19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190750"/>
            <a:ext cx="152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750" dirty="0"/>
          </a:p>
        </p:txBody>
      </p:sp>
      <p:sp>
        <p:nvSpPr>
          <p:cNvPr id="5" name="Text 3"/>
          <p:cNvSpPr/>
          <p:nvPr/>
        </p:nvSpPr>
        <p:spPr>
          <a:xfrm>
            <a:off x="3143250" y="2190750"/>
            <a:ext cx="1371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Nêu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30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3810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810000"/>
            <a:ext cx="152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750" dirty="0"/>
          </a:p>
        </p:txBody>
      </p:sp>
      <p:sp>
        <p:nvSpPr>
          <p:cNvPr id="8" name="Text 6"/>
          <p:cNvSpPr/>
          <p:nvPr/>
        </p:nvSpPr>
        <p:spPr>
          <a:xfrm>
            <a:off x="3143250" y="3810000"/>
            <a:ext cx="1371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Nhận</a:t>
            </a:r>
            <a:r>
              <a:rPr lang="en-US" sz="30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tình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5429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5429250"/>
            <a:ext cx="152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750" dirty="0"/>
          </a:p>
        </p:txBody>
      </p:sp>
      <p:sp>
        <p:nvSpPr>
          <p:cNvPr id="11" name="Text 9"/>
          <p:cNvSpPr/>
          <p:nvPr/>
        </p:nvSpPr>
        <p:spPr>
          <a:xfrm>
            <a:off x="3143250" y="5429250"/>
            <a:ext cx="1371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Hiểu các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triển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048500"/>
            <a:ext cx="152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50" dirty="0" spc="-3" kern="0">
                <a:solidFill>
                  <a:srgbClr val="C2310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750" dirty="0"/>
          </a:p>
        </p:txBody>
      </p:sp>
      <p:sp>
        <p:nvSpPr>
          <p:cNvPr id="14" name="Text 12"/>
          <p:cNvSpPr/>
          <p:nvPr/>
        </p:nvSpPr>
        <p:spPr>
          <a:xfrm>
            <a:off x="3143250" y="7048500"/>
            <a:ext cx="1371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Biết</a:t>
            </a:r>
            <a:r>
              <a:rPr lang="en-US" sz="30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000" dirty="0" spc="3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agent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bc721cc8-e235-47b5-b608-d8803da798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r>
              <a:rPr lang="en-US" sz="7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7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00250"/>
          <a:ext cx="13716000" cy="914400"/>
        </p:xfrm>
        <a:graphic>
          <a:graphicData uri="http://schemas.openxmlformats.org/drawingml/2006/table">
            <a:tbl>
              <a:tblPr/>
              <a:tblGrid>
                <a:gridCol w="6254496"/>
                <a:gridCol w="10204704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Tình</a:t>
                      </a:r>
                      <a:r>
                        <a:rPr lang="en-US" sz="24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huống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Ví</a:t>
                      </a:r>
                      <a:r>
                        <a:rPr lang="en-US" sz="2400" b="1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7D1F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thông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tin</a:t>
                      </a:r>
                      <a:r>
                        <a:rPr lang="en-US" sz="240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Giá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cổ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phiếu,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thời</a:t>
                      </a:r>
                      <a:r>
                        <a:rPr lang="en-US" sz="24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tiết,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4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SQLite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Chạy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code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Giải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r>
                        <a:rPr lang="en-US" sz="240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toán,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lập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báo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cáo,</a:t>
                      </a:r>
                      <a:r>
                        <a:rPr lang="en-US" sz="24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phỏng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Tự</a:t>
                      </a:r>
                      <a:r>
                        <a:rPr lang="en-US" sz="240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động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hóa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quy</a:t>
                      </a:r>
                      <a:r>
                        <a:rPr lang="en-US" sz="24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hẹn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giờ,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 vụ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email,</a:t>
                      </a:r>
                      <a:r>
                        <a:rPr lang="en-US" sz="24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đường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ống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4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Hỗ</a:t>
                      </a:r>
                      <a:r>
                        <a:rPr lang="en-US" sz="2400" dirty="0" spc="-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khách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CRM, hệ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r>
                        <a:rPr lang="en-US" sz="24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phiếu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hỗ</a:t>
                      </a:r>
                      <a:r>
                        <a:rPr lang="en-US" sz="24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trợ,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</a:t>
                      </a:r>
                      <a:r>
                        <a:rPr lang="en-US" sz="2400" dirty="0" spc="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tri</a:t>
                      </a:r>
                      <a:r>
                        <a:rPr lang="en-US" sz="2400" dirty="0" spc="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7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Tạo</a:t>
                      </a:r>
                      <a:r>
                        <a:rPr lang="en-US" sz="240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sửa</a:t>
                      </a:r>
                      <a:r>
                        <a:rPr lang="en-US" sz="24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nội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Kiểm</a:t>
                      </a:r>
                      <a:r>
                        <a:rPr lang="en-US" sz="2400" dirty="0" spc="-2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tra</a:t>
                      </a:r>
                      <a:r>
                        <a:rPr lang="en-US" sz="24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4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pháp,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tóm</a:t>
                      </a:r>
                      <a:r>
                        <a:rPr lang="en-US" sz="24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tắt,</a:t>
                      </a:r>
                      <a:r>
                        <a:rPr lang="en-US" sz="240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đánh</a:t>
                      </a:r>
                      <a:r>
                        <a:rPr lang="en-US" sz="24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giá</a:t>
                      </a:r>
                      <a:r>
                        <a:rPr lang="en-US" sz="24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an</a:t>
                      </a:r>
                      <a:r>
                        <a:rPr lang="en-US" sz="2400" dirty="0" spc="-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toàn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 ●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03/12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" name="Moda image moda-export-watermark-14c31d32-934e-453a-9e7f-8698d9fef7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75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5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28575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00150" y="26670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200150" y="3810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5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schema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314825" y="2476500"/>
            <a:ext cx="28575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0575" y="26670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600575" y="3810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LLM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hàm,</a:t>
            </a: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715250" y="2476500"/>
            <a:ext cx="28575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1000" y="26670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001000" y="3810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Code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115675" y="2476500"/>
            <a:ext cx="28575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01425" y="26670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1401425" y="3810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5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4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 lại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4516100" y="2476500"/>
            <a:ext cx="2857500" cy="3810000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14801850" y="2667000"/>
            <a:ext cx="228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14801850" y="38100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400" dirty="0"/>
          </a:p>
        </p:txBody>
      </p:sp>
      <p:sp>
        <p:nvSpPr>
          <p:cNvPr id="18" name="Connector line-1792492694950-480515178"/>
          <p:cNvSpPr/>
          <p:nvPr/>
        </p:nvSpPr>
        <p:spPr>
          <a:xfrm>
            <a:off x="3810000" y="4381500"/>
            <a:ext cx="4667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492694950-721174386"/>
          <p:cNvSpPr/>
          <p:nvPr/>
        </p:nvSpPr>
        <p:spPr>
          <a:xfrm>
            <a:off x="7210425" y="4381500"/>
            <a:ext cx="4667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0" name="Connector line-1792492694950-976315763"/>
          <p:cNvSpPr/>
          <p:nvPr/>
        </p:nvSpPr>
        <p:spPr>
          <a:xfrm>
            <a:off x="10610850" y="4381500"/>
            <a:ext cx="4667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492694950-791313951"/>
          <p:cNvSpPr/>
          <p:nvPr/>
        </p:nvSpPr>
        <p:spPr>
          <a:xfrm>
            <a:off x="14011275" y="4381500"/>
            <a:ext cx="466725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7048500"/>
            <a:ext cx="228600" cy="1238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7048500"/>
            <a:ext cx="1543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Lần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cụ,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cuối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 ●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04/12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ca9eefa-876b-481d-ac5d-885e823dcb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xây</a:t>
            </a:r>
            <a:r>
              <a:rPr lang="en-US" sz="72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5143500" cy="3143250"/>
          </a:xfrm>
          <a:prstGeom prst="roundRect">
            <a:avLst>
              <a:gd name="adj" fmla="val 8485"/>
            </a:avLst>
          </a:prstGeom>
          <a:solidFill>
            <a:srgbClr val="CFE8E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00250"/>
            <a:ext cx="5143500" cy="171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24790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</a:t>
            </a:r>
            <a:r>
              <a:rPr lang="en-US" sz="315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4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tên,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mục</a:t>
            </a:r>
            <a:r>
              <a:rPr lang="en-US" sz="240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đích,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số,</a:t>
            </a:r>
            <a:r>
              <a:rPr lang="en-US" sz="2400" dirty="0" spc="-3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6572250" y="2000250"/>
            <a:ext cx="5143500" cy="3143250"/>
          </a:xfrm>
          <a:prstGeom prst="roundRect">
            <a:avLst>
              <a:gd name="adj" fmla="val 8485"/>
            </a:avLst>
          </a:prstGeom>
          <a:solidFill>
            <a:srgbClr val="CFE8E2"/>
          </a:solidFill>
          <a:ln/>
        </p:spPr>
      </p:sp>
      <p:sp>
        <p:nvSpPr>
          <p:cNvPr id="7" name="Shape 5"/>
          <p:cNvSpPr/>
          <p:nvPr/>
        </p:nvSpPr>
        <p:spPr>
          <a:xfrm>
            <a:off x="6572250" y="2000250"/>
            <a:ext cx="5143500" cy="171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6896100" y="224790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2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Logic</a:t>
            </a:r>
            <a:r>
              <a:rPr lang="en-US" sz="3150" b="1" dirty="0" spc="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1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quyết</a:t>
            </a:r>
            <a:r>
              <a:rPr lang="en-US" sz="240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endParaRPr lang="en-US" sz="3150" dirty="0"/>
          </a:p>
        </p:txBody>
      </p:sp>
      <p:sp>
        <p:nvSpPr>
          <p:cNvPr id="9" name="Shape 7"/>
          <p:cNvSpPr/>
          <p:nvPr/>
        </p:nvSpPr>
        <p:spPr>
          <a:xfrm>
            <a:off x="12230100" y="2000250"/>
            <a:ext cx="5143500" cy="3143250"/>
          </a:xfrm>
          <a:prstGeom prst="roundRect">
            <a:avLst>
              <a:gd name="adj" fmla="val 8485"/>
            </a:avLst>
          </a:prstGeom>
          <a:solidFill>
            <a:srgbClr val="CFE8E2"/>
          </a:solidFill>
          <a:ln/>
        </p:spPr>
      </p:sp>
      <p:sp>
        <p:nvSpPr>
          <p:cNvPr id="10" name="Shape 8"/>
          <p:cNvSpPr/>
          <p:nvPr/>
        </p:nvSpPr>
        <p:spPr>
          <a:xfrm>
            <a:off x="12230100" y="2000250"/>
            <a:ext cx="5143500" cy="171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553950" y="224790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5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31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31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quản lý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luồng</a:t>
            </a:r>
            <a:r>
              <a:rPr lang="en-US" sz="24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dùng, LLM,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14400" y="5524500"/>
            <a:ext cx="5143500" cy="3143250"/>
          </a:xfrm>
          <a:prstGeom prst="roundRect">
            <a:avLst>
              <a:gd name="adj" fmla="val 8485"/>
            </a:avLst>
          </a:prstGeom>
          <a:solidFill>
            <a:srgbClr val="CFE8E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524500"/>
            <a:ext cx="5143500" cy="171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577215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31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31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nối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24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4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đơn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giản</a:t>
            </a:r>
            <a:r>
              <a:rPr lang="en-US" sz="24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40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phức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tạp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6572250" y="5524500"/>
            <a:ext cx="5143500" cy="3143250"/>
          </a:xfrm>
          <a:prstGeom prst="roundRect">
            <a:avLst>
              <a:gd name="adj" fmla="val 8485"/>
            </a:avLst>
          </a:prstGeom>
          <a:solidFill>
            <a:srgbClr val="CFE8E2"/>
          </a:solidFill>
          <a:ln/>
        </p:spPr>
      </p:sp>
      <p:sp>
        <p:nvSpPr>
          <p:cNvPr id="16" name="Shape 14"/>
          <p:cNvSpPr/>
          <p:nvPr/>
        </p:nvSpPr>
        <p:spPr>
          <a:xfrm>
            <a:off x="6572250" y="5524500"/>
            <a:ext cx="5143500" cy="171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896100" y="577215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5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31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1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công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hỏng, kiểm</a:t>
            </a:r>
            <a:r>
              <a:rPr lang="en-US" sz="24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tra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số,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 hồi</a:t>
            </a:r>
            <a:r>
              <a:rPr lang="en-US" sz="24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bất</a:t>
            </a:r>
            <a:r>
              <a:rPr lang="en-US" sz="24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ngờ</a:t>
            </a:r>
            <a:endParaRPr lang="en-US" sz="3150" dirty="0"/>
          </a:p>
        </p:txBody>
      </p:sp>
      <p:sp>
        <p:nvSpPr>
          <p:cNvPr id="18" name="Shape 16"/>
          <p:cNvSpPr/>
          <p:nvPr/>
        </p:nvSpPr>
        <p:spPr>
          <a:xfrm>
            <a:off x="12230100" y="5524500"/>
            <a:ext cx="5143500" cy="3143250"/>
          </a:xfrm>
          <a:prstGeom prst="roundRect">
            <a:avLst>
              <a:gd name="adj" fmla="val 8485"/>
            </a:avLst>
          </a:prstGeom>
          <a:solidFill>
            <a:srgbClr val="CFE8E2"/>
          </a:solidFill>
          <a:ln/>
        </p:spPr>
      </p:sp>
      <p:sp>
        <p:nvSpPr>
          <p:cNvPr id="19" name="Shape 17"/>
          <p:cNvSpPr/>
          <p:nvPr/>
        </p:nvSpPr>
        <p:spPr>
          <a:xfrm>
            <a:off x="12230100" y="5524500"/>
            <a:ext cx="5143500" cy="171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12553950" y="5772150"/>
            <a:ext cx="447675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31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150" b="1" dirty="0" spc="-1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1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3150" dirty="0"/>
          </a:p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nhớ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 cảnh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lần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 ●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05/12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aa2c330d-c765-4853-a408-839492d6f3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5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67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dụ:</a:t>
            </a:r>
            <a:r>
              <a:rPr lang="en-US" sz="67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7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</a:t>
            </a:r>
            <a:r>
              <a:rPr lang="en-US" sz="67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7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</a:t>
            </a:r>
            <a:r>
              <a:rPr lang="en-US" sz="675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Francisco</a:t>
            </a:r>
            <a:endParaRPr lang="en-US" sz="6750" dirty="0"/>
          </a:p>
        </p:txBody>
      </p:sp>
      <p:sp>
        <p:nvSpPr>
          <p:cNvPr id="3" name="Text 1"/>
          <p:cNvSpPr/>
          <p:nvPr/>
        </p:nvSpPr>
        <p:spPr>
          <a:xfrm>
            <a:off x="1143000" y="18097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bạn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429500" y="18097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BF8F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716000" y="1809750"/>
            <a:ext cx="3429000" cy="7620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endParaRPr lang="en-US" sz="2550" dirty="0"/>
          </a:p>
        </p:txBody>
      </p:sp>
      <p:sp>
        <p:nvSpPr>
          <p:cNvPr id="6" name="Connector line-1792492724778-778363764"/>
          <p:cNvSpPr/>
          <p:nvPr/>
        </p:nvSpPr>
        <p:spPr>
          <a:xfrm>
            <a:off x="2857500" y="2667000"/>
            <a:ext cx="0" cy="62865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7" name="Connector line-1792492724778-566928390"/>
          <p:cNvSpPr/>
          <p:nvPr/>
        </p:nvSpPr>
        <p:spPr>
          <a:xfrm>
            <a:off x="9144000" y="2667000"/>
            <a:ext cx="0" cy="62865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8" name="Connector line-1792492724778-562783929"/>
          <p:cNvSpPr/>
          <p:nvPr/>
        </p:nvSpPr>
        <p:spPr>
          <a:xfrm>
            <a:off x="15430500" y="2667000"/>
            <a:ext cx="0" cy="6286500"/>
          </a:xfrm>
          <a:prstGeom prst="line">
            <a:avLst/>
          </a:prstGeom>
          <a:noFill/>
          <a:ln w="38100">
            <a:solidFill>
              <a:srgbClr val="C9C1AE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2952750" y="30670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giờ,</a:t>
            </a:r>
            <a:r>
              <a:rPr lang="en-US" sz="21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schema</a:t>
            </a:r>
            <a:endParaRPr lang="en-US" sz="2100" dirty="0"/>
          </a:p>
        </p:txBody>
      </p:sp>
      <p:sp>
        <p:nvSpPr>
          <p:cNvPr id="10" name="Connector line-1792492724781-183968460"/>
          <p:cNvSpPr/>
          <p:nvPr/>
        </p:nvSpPr>
        <p:spPr>
          <a:xfrm>
            <a:off x="2857500" y="3571875"/>
            <a:ext cx="6191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52750" y="406717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</a:t>
            </a:r>
            <a:r>
              <a:rPr lang="en-US" sz="21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get_current_time</a:t>
            </a:r>
            <a:endParaRPr lang="en-US" sz="2100" dirty="0"/>
          </a:p>
        </p:txBody>
      </p:sp>
      <p:sp>
        <p:nvSpPr>
          <p:cNvPr id="12" name="Connector line-1792492724784-798014750"/>
          <p:cNvSpPr/>
          <p:nvPr/>
        </p:nvSpPr>
        <p:spPr>
          <a:xfrm flipH="1">
            <a:off x="2952750" y="4572000"/>
            <a:ext cx="6191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952750" y="5067300"/>
            <a:ext cx="1238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endParaRPr lang="en-US" sz="2100" dirty="0"/>
          </a:p>
        </p:txBody>
      </p:sp>
      <p:sp>
        <p:nvSpPr>
          <p:cNvPr id="14" name="Connector line-1792492724788-815544160"/>
          <p:cNvSpPr/>
          <p:nvPr/>
        </p:nvSpPr>
        <p:spPr>
          <a:xfrm>
            <a:off x="2857500" y="5572125"/>
            <a:ext cx="1247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952750" y="6067425"/>
            <a:ext cx="1238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6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09:24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AM</a:t>
            </a:r>
            <a:endParaRPr lang="en-US" sz="2100" dirty="0"/>
          </a:p>
        </p:txBody>
      </p:sp>
      <p:sp>
        <p:nvSpPr>
          <p:cNvPr id="16" name="Connector line-1792492724792-988500380"/>
          <p:cNvSpPr/>
          <p:nvPr/>
        </p:nvSpPr>
        <p:spPr>
          <a:xfrm flipH="1">
            <a:off x="2952750" y="6572250"/>
            <a:ext cx="124777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952750" y="70675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5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1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</a:t>
            </a:r>
            <a:endParaRPr lang="en-US" sz="2100" dirty="0"/>
          </a:p>
        </p:txBody>
      </p:sp>
      <p:sp>
        <p:nvSpPr>
          <p:cNvPr id="18" name="Connector line-1792492724794-460736169"/>
          <p:cNvSpPr/>
          <p:nvPr/>
        </p:nvSpPr>
        <p:spPr>
          <a:xfrm>
            <a:off x="2857500" y="7572375"/>
            <a:ext cx="6191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952750" y="8067675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6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1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100" dirty="0"/>
          </a:p>
        </p:txBody>
      </p:sp>
      <p:sp>
        <p:nvSpPr>
          <p:cNvPr id="20" name="Connector line-1792492724796-122494957"/>
          <p:cNvSpPr/>
          <p:nvPr/>
        </p:nvSpPr>
        <p:spPr>
          <a:xfrm flipH="1">
            <a:off x="2952750" y="8572500"/>
            <a:ext cx="619125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 ●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06/12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3e60831-5734-4bb4-803c-b1f119cd3b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ngay: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 hàm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95500"/>
            <a:ext cx="5905500" cy="657225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095500"/>
            <a:ext cx="5905500" cy="171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57175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0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31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3150" dirty="0"/>
          </a:p>
        </p:txBody>
      </p:sp>
      <p:sp>
        <p:nvSpPr>
          <p:cNvPr id="6" name="Text richtext-1792492740331-840009584"/>
          <p:cNvSpPr/>
          <p:nvPr/>
        </p:nvSpPr>
        <p:spPr>
          <a:xfrm>
            <a:off x="1295400" y="3714750"/>
            <a:ext cx="51435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23850" indent="-231371"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Viết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schema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endParaRPr lang="en-US" sz="2550" dirty="0"/>
          </a:p>
          <a:p>
            <a:pPr algn="l" marL="323850" indent="-231371"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Đọc lệnh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gọi,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endParaRPr lang="en-US" sz="2550" dirty="0"/>
          </a:p>
          <a:p>
            <a:pPr algn="l" marL="323850" indent="-231371">
              <a:buSzPct val="100000"/>
              <a:buFont typeface="Arial"/>
              <a:buChar char="•"/>
            </a:pPr>
            <a:r>
              <a:rPr lang="en-US" sz="2550" dirty="0" spc="6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Gửi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 lại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7315200" y="2095500"/>
            <a:ext cx="10058400" cy="6572250"/>
          </a:xfrm>
          <a:prstGeom prst="roundRect">
            <a:avLst>
              <a:gd name="adj" fmla="val 4058"/>
            </a:avLst>
          </a:prstGeom>
          <a:solidFill>
            <a:srgbClr val="0B0D12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6200" y="2571750"/>
            <a:ext cx="933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150" b="1" dirty="0" spc="-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@tool:</a:t>
            </a:r>
            <a:r>
              <a:rPr lang="en-US" sz="3150" b="1" dirty="0" spc="-2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framework</a:t>
            </a:r>
            <a:r>
              <a:rPr lang="en-US" sz="31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1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150" b="1" dirty="0" spc="-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7696200" y="3810000"/>
            <a:ext cx="9334500" cy="4191000"/>
          </a:xfrm>
          <a:prstGeom prst="rect">
            <a:avLst/>
          </a:prstGeom>
          <a:noFill/>
          <a:ln/>
        </p:spPr>
        <p:txBody>
          <a:bodyPr wrap="square" lIns="0" tIns="-9906" rIns="0" bIns="9906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@tool(approval_mode="never_require")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def get_current_time(location: str) -&gt; str: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    """Get the current time"""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agent = provider.as_agent(</a:t>
            </a:r>
            <a:endParaRPr lang="en-US" sz="195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    name="TimeAgent", tools=get_current_time)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 ●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8df1fe84-05be-4e80-8f4a-d2f9cf5797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76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Foundry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6459200" cy="2762250"/>
          </a:xfrm>
          <a:prstGeom prst="roundRect">
            <a:avLst>
              <a:gd name="adj" fmla="val 9655"/>
            </a:avLst>
          </a:prstGeom>
          <a:solidFill>
            <a:srgbClr val="F8D9D0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19075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2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150" b="1" dirty="0" spc="-1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150" b="1" dirty="0" spc="12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</a:t>
            </a:r>
            <a:r>
              <a:rPr lang="en-US" sz="3150" b="1" dirty="0" spc="14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295400" y="3238500"/>
            <a:ext cx="4762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Bing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Search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381750" y="3238500"/>
            <a:ext cx="4762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File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Search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468100" y="3238500"/>
            <a:ext cx="5524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Azure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Search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048250"/>
            <a:ext cx="16459200" cy="2762250"/>
          </a:xfrm>
          <a:prstGeom prst="roundRect">
            <a:avLst>
              <a:gd name="adj" fmla="val 9655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238750"/>
            <a:ext cx="1524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2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150" b="1" dirty="0" spc="-1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hành</a:t>
            </a:r>
            <a:r>
              <a:rPr lang="en-US" sz="3150" b="1" dirty="0" spc="-3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1295400" y="6286500"/>
            <a:ext cx="3619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Function Calling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143500" y="6286500"/>
            <a:ext cx="3619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Code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Interpreter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991600" y="6286500"/>
            <a:ext cx="36195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Công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OpenAPI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839700" y="6286500"/>
            <a:ext cx="41529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Azure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Functions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809625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Gom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toolset,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 ●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08/12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aafded6-3458-40e1-afad-bee56e7d5d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66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MCP</a:t>
            </a:r>
            <a:endParaRPr lang="en-US" sz="7500" dirty="0"/>
          </a:p>
        </p:txBody>
      </p:sp>
      <p:sp>
        <p:nvSpPr>
          <p:cNvPr id="3" name="Connector line-1792492778210-5102855"/>
          <p:cNvSpPr/>
          <p:nvPr/>
        </p:nvSpPr>
        <p:spPr>
          <a:xfrm>
            <a:off x="5867400" y="4000500"/>
            <a:ext cx="1847850" cy="1333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2492778210-393863511"/>
          <p:cNvSpPr/>
          <p:nvPr/>
        </p:nvSpPr>
        <p:spPr>
          <a:xfrm flipV="1">
            <a:off x="5867400" y="6191250"/>
            <a:ext cx="1847850" cy="12382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5" name="Connector line-1792492778210-945858668"/>
          <p:cNvSpPr/>
          <p:nvPr/>
        </p:nvSpPr>
        <p:spPr>
          <a:xfrm flipH="1">
            <a:off x="10572750" y="4000500"/>
            <a:ext cx="1847850" cy="133350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Connector line-1792492778210-513835440"/>
          <p:cNvSpPr/>
          <p:nvPr/>
        </p:nvSpPr>
        <p:spPr>
          <a:xfrm flipH="1" flipV="1">
            <a:off x="10572750" y="6191250"/>
            <a:ext cx="1847850" cy="123825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524750" y="4143375"/>
            <a:ext cx="3238500" cy="3238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0" y="5191125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39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739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3739" dirty="0"/>
          </a:p>
          <a:p>
            <a:pPr algn="ctr" indent="0" marL="0">
              <a:buNone/>
            </a:pPr>
            <a:r>
              <a:rPr lang="en-US" sz="3739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MCP</a:t>
            </a:r>
            <a:endParaRPr lang="en-US" sz="3739" dirty="0"/>
          </a:p>
        </p:txBody>
      </p:sp>
      <p:sp>
        <p:nvSpPr>
          <p:cNvPr id="9" name="Text 7"/>
          <p:cNvSpPr/>
          <p:nvPr/>
        </p:nvSpPr>
        <p:spPr>
          <a:xfrm>
            <a:off x="9144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7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Framework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hàm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@tool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420600" y="3143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search_web_pages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420600" y="6572250"/>
            <a:ext cx="49530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fetch_page_content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 ●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87c88c84-2dac-42c2-8637-71468d80c9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 LLM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/>
        </p:spPr>
      </p:sp>
      <p:sp>
        <p:nvSpPr>
          <p:cNvPr id="4" name="Text 2"/>
          <p:cNvSpPr/>
          <p:nvPr/>
        </p:nvSpPr>
        <p:spPr>
          <a:xfrm>
            <a:off x="1333500" y="26670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C2310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143250" y="2667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Đặt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667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85775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C2310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143250" y="485775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Chạy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6858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7048500"/>
            <a:ext cx="15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C2310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3143250" y="70485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Doanh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nghiệp: dùng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 ●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10/12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6aebf573-f273-48ef-b762-55c4d2b2b2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33450"/>
            <a:ext cx="133350" cy="1333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8382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914400" y="1809750"/>
            <a:ext cx="16459200" cy="3143250"/>
          </a:xfrm>
          <a:prstGeom prst="rect">
            <a:avLst/>
          </a:prstGeom>
          <a:noFill/>
          <a:ln/>
        </p:spPr>
        <p:txBody>
          <a:bodyPr wrap="square" lIns="0" tIns="38100" rIns="0" bIns="-3810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SQL</a:t>
            </a:r>
            <a:r>
              <a:rPr lang="en-US" sz="60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bán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hàng.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60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rủi</a:t>
            </a:r>
            <a:r>
              <a:rPr lang="en-US" sz="60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r>
              <a:rPr lang="en-US" sz="6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60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0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0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590550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F8D9D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905500"/>
            <a:ext cx="228600" cy="2381250"/>
          </a:xfrm>
          <a:prstGeom prst="roundRect">
            <a:avLst>
              <a:gd name="adj" fmla="val 50000"/>
            </a:avLst>
          </a:prstGeom>
          <a:solidFill>
            <a:srgbClr val="C2310F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5905500"/>
            <a:ext cx="154305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C2310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 án</a:t>
            </a:r>
            <a:endParaRPr lang="en-US" sz="2550" dirty="0"/>
          </a:p>
          <a:p>
            <a:pPr algn="l" indent="0" marL="0"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1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(vai</a:t>
            </a:r>
            <a:r>
              <a:rPr lang="en-US" sz="31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SELECT),</a:t>
            </a: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31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an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pPr algn="l" indent="0" marL="0">
              <a:buNone/>
            </a:pPr>
            <a:r>
              <a:rPr lang="en-US" sz="1650" spc="300" kern="0" dirty="0">
                <a:solidFill>
                  <a:srgbClr val="C9C1A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●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3a013653-4eda-49e7-9039-e50a1fa969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85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75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7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28750"/>
          <a:ext cx="13716000" cy="914400"/>
        </p:xfrm>
        <a:graphic>
          <a:graphicData uri="http://schemas.openxmlformats.org/drawingml/2006/table">
            <a:tbl>
              <a:tblPr/>
              <a:tblGrid>
                <a:gridCol w="5925312"/>
                <a:gridCol w="10533888"/>
              </a:tblGrid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2100" b="1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FD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r>
                        <a:rPr lang="en-US" sz="210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(Large</a:t>
                      </a:r>
                      <a:r>
                        <a:rPr lang="en-US" sz="21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 diện</a:t>
                      </a:r>
                      <a:r>
                        <a:rPr lang="en-US" sz="2100" dirty="0" spc="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21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10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JSON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định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dạng</a:t>
                      </a:r>
                      <a:r>
                        <a:rPr lang="en-US" sz="21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văn</a:t>
                      </a:r>
                      <a:r>
                        <a:rPr lang="en-US" sz="2100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trúc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SQL,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SQLite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ngôn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truy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vấn;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cơ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sở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dữ</a:t>
                      </a:r>
                      <a:r>
                        <a:rPr lang="en-US" sz="21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nhỏ dạng</a:t>
                      </a:r>
                      <a:r>
                        <a:rPr lang="en-US" sz="21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tệp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CRM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hệ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thống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quản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lý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quan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khách hàng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MCP</a:t>
                      </a:r>
                      <a:r>
                        <a:rPr lang="en-US" sz="21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(Model</a:t>
                      </a:r>
                      <a:r>
                        <a:rPr lang="en-US" sz="210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Context</a:t>
                      </a: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Protocol)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giao</a:t>
                      </a:r>
                      <a:r>
                        <a:rPr lang="en-US" sz="2100" dirty="0" spc="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thức</a:t>
                      </a:r>
                      <a:r>
                        <a:rPr lang="en-US" sz="210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để</a:t>
                      </a:r>
                      <a:r>
                        <a:rPr lang="en-US" sz="21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máy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 công</a:t>
                      </a:r>
                      <a:r>
                        <a:rPr lang="en-US" sz="210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bố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Schema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bản</a:t>
                      </a:r>
                      <a:r>
                        <a:rPr lang="en-US" sz="21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100" dirty="0" spc="-1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</a:t>
                      </a:r>
                      <a:r>
                        <a:rPr lang="en-US" sz="210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công cụ: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tên,</a:t>
                      </a:r>
                      <a:r>
                        <a:rPr lang="en-US" sz="21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mục</a:t>
                      </a:r>
                      <a:r>
                        <a:rPr lang="en-US" sz="2100" dirty="0" spc="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đích,</a:t>
                      </a:r>
                      <a:r>
                        <a:rPr lang="en-US" sz="210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tham</a:t>
                      </a:r>
                      <a:r>
                        <a:rPr lang="en-US" sz="210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30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76200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3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 của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microsoft/ai-agents-for-beginners</a:t>
            </a:r>
            <a:r>
              <a:rPr lang="en-US" sz="2100" dirty="0" spc="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B8B5AB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9191625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spc="300" kern="0" dirty="0">
                <a:solidFill>
                  <a:srgbClr val="4A4E5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 ● ● ● ● ● ● ● ● ● ● </a:t>
            </a:r>
            <a:pPr algn="l" indent="0" marL="0">
              <a:buNone/>
            </a:pPr>
            <a:r>
              <a:rPr lang="en-US" sz="1650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●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AI</a:t>
            </a:r>
            <a:r>
              <a:rPr lang="en-US" sz="1800" dirty="0" spc="-16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Agent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80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80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80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04</a:t>
            </a:r>
            <a:r>
              <a:rPr lang="en-US" sz="180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12/12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" name="Moda image moda-export-watermark-131294b2-39ea-45ca-aabf-98e69fcb95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2026-10-20T10:42:22Z</dcterms:created>
  <dcterms:modified xsi:type="dcterms:W3CDTF">2026-10-20T10:42:22Z</dcterms:modified>
</cp:coreProperties>
</file>